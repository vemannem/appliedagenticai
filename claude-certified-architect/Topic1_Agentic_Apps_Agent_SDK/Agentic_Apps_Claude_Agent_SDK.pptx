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a working session for engineers who will build and review production agents, not just pass the exam. Frame: by the end you should be able to read an agent's architecture and say where it will break. Every content slide carries a source link (the ↗ tag, top-right) so anyone can go verify or go deeper afterward. We'll do five live-code walkthroughs. Ask questions as we go — the orchestration and hooks material rewards interruption. Time budget ~45–50 min +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blocks left to right. Emphasize block 1 (framing) and block 6 (production) — those are what separate a senior treatment from a tutorial. Tell the audience the deck is cumulative: each block assumes the previous one. Point out the ↗ source tags again here so people start noticing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signals 'senior'. Many teams over-build. Say: the exam and real life both reward choosing the simplest architecture that meets the requirement. Workflows = you write the control flow; agents = the model writes it at runtime. The cost/latency-for-flexibility trade is the whole decision. Anchor with examples: a fixed extract→validate pipeline is a workflow; 'investigate this incident' is an agent. We'll return to this when we discuss task decomposition (prompt chaining vs dynamic).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lecture all five — name them and let people map their own systems. The key senior point: real systems COMBINE these. The Agent SDK gives you orchestrator-workers (subagents) and evaluator-optimizer (coordinator re-delegates) as first-class primitives. Tie the last cell back to the two exam scenarios so the audience sees the patterns aren't academic.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'you don't need the CLI' — this is a real library you embed in a service. The fourth card (control plane) is the part people underestimate: permissions, budget, effort, hooks, and sessions are the difference between a demo and production. Mention the Sept 2025 rename so nobody is confused by old 'Claude Code SDK'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spine of everything. Walk the five boxes once, slowly. Then make the turn definition concrete with the auth.ts example — count the turns out loud. The thing people miss: the SDK runs the inner tool execution automatically; your code only sees the streamed messages. Contrast with the next slide where we hand-roll the loop on the raw API to show what the SDK is doing for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'how do I see what the agent is doing?' — a question every reviewer asks. Tell them: for a batch job, you only need ResultMessage. For a UI, stream AssistantMessage per turn. ResultMessage always carries cost and session_id even on errors — that's your hook for billing and resumption. We'll use session_id on the sessions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Live-code moment. Show the raw API so they see exactly what the SDK automates. Read the three numbered steps in order against the code. The single most important line is the end_turn check — emphasize: never decide completion by scanning the assistant's text, and the range() cap is a safety net only. The SDK gives you this loop for free, but you must understand it to debug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almost word-for-word to exam Task 1.1 'skills in' bullets. Tell the audience these are the exact distractors the exam uses. The deeper point: each anti-pattern is a real outage waiting to happen — a model that says 'done' but isn't, or a hard cap that truncates a legitimate long task. Pause on 'model-driven vs decision tree' — that's the philosophical core of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pure senior content not in a beginner tutorial. The headline: set a budget. Open-ended prompts ('improve this codebase') can run for a long time; max_budget_usd is your safety valve. effort is the cost/quality dial per turn — show you can run a cheap Haiku-effort agent for grep-style work and reserve high effort for debugging. permission_mode is the autonomy dial; bypassPermissions only in isolated CI/containers. Connect to the next slide: what happens when a cap is hit.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Reliability slide. The mistake juniors make is reading message.result without checking subtype — it's only present on success. Walk the error subtypes as an operational runbook: turn/budget limits are recoverable (resume), execution errors need retry/alerting, structured-output retries mean your schema or prompt needs work. Reinforce that cost and session_id survive errors — that's how you bill and recover.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numbered. The in-process bit matters for senior folks: the tool handler is just your async Python/TS — it can hit your DB with your existing connection pool and auth. No separate server to deploy. The scoping rule (4–5 tools) is an exam favorite and a real reliability lever; we'll see why on the ACI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live-code. Map the four numbered comments in the code to the four cards. Hammer the description point: it is the ONLY thing the model uses to choose between similar tools — 'NOT for customer lookups' is doing real work. is_error vs throwing: returning is_error lets you control the message the model sees and keeps the loop going; an uncaught throw also continues but you lose control of the wording.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ACI framing is the senior version of 'write good tool descriptions'. The SWE-bench anecdote lands well: Anthropic's team spent MORE time on tool design than on the prompt, and fixing relative→absolute paths alone removed a whole class of errors. Poka-yoke = mistake-proofing; design args so the wrong call is impossible. This directly answers exam Q2 (expand descriptions) and Q14.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the built-in toolbox (so they know what they get for free, including the orchestration tools we use next) and context economics. The senior insight: tool schemas cost tokens on every turn, so 'just add more MCP servers' has a real price. Tool search mitigates it. Parallel vs sequential execution is a latency lever — readOnlyHint on your custom tools unlocks concurrency.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eye to the center. The exam's mental model is hub-and-spoke: spokes never connect to each other. Why route everything through the hub? Observability (one place to log), consistent error handling, and controlled information flow. This is the orchestrator-workers pattern from slide 4, now concrete. Next we'll list what the coordinator must actually do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Coordinator quality determines system quality. The two failure modes to call out: (1) always running the full pipeline wastes latency and tokens — good coordinators route; (2) narrow decomposition is the #1 silent failure (next slide proves it). Iterative refinement is the evaluator-optimizer loop applied to research coverage. Write coordinator prompts as GOALS and quality criteria, not step-by-step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live-code. Three numbered points. #1 is the classic gotcha: forget Task/Agent in allowed_tools and the coordinator silently does the work itself instead of delegating. Note the per-subagent effort override — researchers can run cheaper than a deep synthesizer. AgentDefinition also takes skills and mcpServers. Next slide explains WHY context isolation forces you to pass everything in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most-tested orchestration fact AND a genuine design tool. Reframe isolation as a benefit, not a limitation: it's how you keep the main context lean while a subagent does heavy exploration — only the summary comes back. Practical consequence: you MUST pass paths/findings explicitly in the spawn prompt; nothing is inherited. And subagents can't recurse — don't give them Task/Agent.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practical things. The rename is a real-world trap when reading logs and writing detection code — match both 'Task' and 'Agent'. Parallelism: the coordinator must emit all spawn calls in a SINGLE response to get concurrency; spreading them across turns serializes the pipeline. This is exam Task 1.3 and a measurable latency win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of isolation, context passing is a first-class design concern. The provenance point is what makes research systems trustworthy: keep claim→source→date together as structured data so citations survive the synthesis step. 'Goals over procedures' echoes the building-agents guidance — tell subagents WHAT good looks like, not the exact steps. Structured handoffs matter for the support scenario's human escalation.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an interactive moment — ask the room 'who's at fault?' before revealing. The instinct is to blame a worker; the answer is the coordinator's decomposition. The transferable heuristic is the last line: green workers + wrong output = upstream decomposition problem. This is also a debugging mindset for any orchestrator-workers system, not just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sentence: hooks run in YOUR process and don't consume the model's context — so logging/auditing via hooks is 'free' context-wise. Frame the table as the deterministic control layer. PreToolUse and PostToolUse are the two you'll use most; the rest are lifecycle/observability. Next two slides are the live-code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live-code. This is the deterministic-control payoff. Three points: deny stops the call; the reason is fed to the model so it pivots (e.g., escalates) instead of retrying; deny always wins when multiple hooks run. Mention updatedInput as the 'modify' power — sandboxing paths, sanitizing args. This single pattern is how you make a business rule actually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Counterpart to PreToolUse. The use case is data normalization across heterogeneous backends — a real integration pain. additionalContext appends a note the model reads; updatedToolOutput replaces the payload entirely. Tie back to exam Task 1.5's 'PostToolUse to normalize Unix/ISO/numeric formats' bullet.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remember one thing from the hooks section, it's this. Deterministic vs probabilistic. The exam repeatedly offers 'strengthen the prompt' or 'add few-shot' as tempting distractors when the right answer is a hook/gate. In production the same logic: never gate money or identity on a probabilistic mechanism. Segue to the prereq-gate code that operationalizes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Fifth and final live-code, and the canonical exam answer. The trick: state (VERIFIED) lives OUTSIDE the model in plain Python; the hook reads it to enforce ordering. Walk the four answer options — B and C are probabilistic, D changes which tools exist rather than their order. This is the concrete version of the previous slide's rule of thumb.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Bridges Domain 1 and Domain 5. The senior insight: persistent rules belong in CLAUDE.md because it's re-injected every request and survives compaction; instructions in the opening prompt can get summarized away. Subagents double as a context-management tool, not just an orchestration one. Mention PreCompact for archiving full transcripts before they're summarized — useful for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1.7. Three verbs: continue (most recent), resume (specific ID), fork (branch). The exam's nuance: when prior tool results are stale, starting fresh with an injected summary beats resuming — call that out, it's the last bullet. fork is for exploring divergent approaches from a shared baseline (e.g., compare two refactors). Sessions persist conversation, not files — checkpointing is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Reliability across the hub. The coordinator can only make smart recovery decisions if subagents hand back structured failure context — type, attempt, partial results, alternatives, retryable. The two subtle anti-patterns: silent success (empty marked OK) hides real gaps; and conflating 'access failed' with 'valid empty result' leads the coordinator to wrong conclusions. Subagents should recover locally for transient errors and only propagate what they can't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'ship it' slide and the senior payoff — pull the threads together into four operational pillars: observe, bound cost, constrain, recover. Each maps to features we covered. If someone asks 'how do I run this safely at scale?', this slide is the answer. Note hooks giving you audit without context cost, and that every ResultMessage carries cost+session_id for billing and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Synthesis of everything into the two exam scenarios. Walk left then right, naming the technique behind each bullet (gate, hook, scoping, structured errors). Ask the room which slide each bullet came from — good recap. These two architectures cover most Domain 1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 round — read each truth, no elaboration. Tell people to photograph this slide. The last two rows (production, continuity) are the senior additions versus a basic study guide. This doubles as the night-before-exam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actual files shipped alongside this deck. Suggest the flow: read 01→05 in order, then run the Colab end to end, then take the MCQ set. If you're demoing live, run 04 (hooks) — the blocked-refund output is the most satisfying to watch. Encourage them to swap in their own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60 seconds — read the six. Note bullets 1 and 6 are the senior framing bookends (choose simplicity; operate it). Point to Reference_Links.md for the annotated source list so people can self-study. Then open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inviting real systems into the room: ask who is building an agent now and what's hardest. Common Q&amp;A: (1) 'How do I stop runaway cost?' → max_budget_usd + effort. (2) 'How do I guarantee a rule?' → hooks/gates. (3) 'Subagents vs one big agent?' → context isolation + scoped tools + parallelism. (4) 'When NOT to use an agent?' → slide 3. Point them to the lab and MCQ as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slideLayout" Target="../slideLayouts/slideLayout1.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slideLayout" Target="../slideLayouts/slideLayout1.xml"/><Relationship Id="rId8"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32E"/>
        </a:solidFill>
      </p:bgPr>
    </p:bg>
    <p:spTree>
      <p:nvGrpSpPr>
        <p:cNvPr id="1" name=""/>
        <p:cNvGrpSpPr/>
        <p:nvPr/>
      </p:nvGrpSpPr>
      <p:grpSpPr>
        <a:xfrm>
          <a:off x="0" y="0"/>
          <a:ext cx="0" cy="0"/>
          <a:chOff x="0" y="0"/>
          <a:chExt cx="0" cy="0"/>
        </a:xfrm>
      </p:grpSpPr>
      <p:sp>
        <p:nvSpPr>
          <p:cNvPr id="2" name="Shape 0"/>
          <p:cNvSpPr/>
          <p:nvPr/>
        </p:nvSpPr>
        <p:spPr>
          <a:xfrm>
            <a:off x="9326880" y="-1463040"/>
            <a:ext cx="4754880" cy="4754880"/>
          </a:xfrm>
          <a:prstGeom prst="ellipse">
            <a:avLst/>
          </a:prstGeom>
          <a:solidFill>
            <a:srgbClr val="1E2150"/>
          </a:solidFill>
          <a:ln/>
        </p:spPr>
      </p:sp>
      <p:sp>
        <p:nvSpPr>
          <p:cNvPr id="3" name="Shape 1"/>
          <p:cNvSpPr/>
          <p:nvPr/>
        </p:nvSpPr>
        <p:spPr>
          <a:xfrm>
            <a:off x="10424160" y="3840480"/>
            <a:ext cx="3840480" cy="3840480"/>
          </a:xfrm>
          <a:prstGeom prst="ellipse">
            <a:avLst/>
          </a:prstGeom>
          <a:solidFill>
            <a:srgbClr val="4F46E5">
              <a:alpha val="40000"/>
            </a:srgbClr>
          </a:solidFill>
          <a:ln/>
        </p:spPr>
      </p:sp>
      <p:sp>
        <p:nvSpPr>
          <p:cNvPr id="4" name="Shape 2"/>
          <p:cNvSpPr/>
          <p:nvPr/>
        </p:nvSpPr>
        <p:spPr>
          <a:xfrm>
            <a:off x="777240" y="1234440"/>
            <a:ext cx="1051560" cy="1051560"/>
          </a:xfrm>
          <a:prstGeom prst="ellipse">
            <a:avLst/>
          </a:prstGeom>
          <a:solidFill>
            <a:srgbClr val="4F46E5"/>
          </a:solidFill>
          <a:ln/>
          <a:effectLst>
            <a:outerShdw sx="100000" sy="100000" kx="0" ky="0" algn="bl" rotWithShape="0" blurRad="88900" dist="38100" dir="5400000">
              <a:srgbClr val="000000">
                <a:alpha val="16000"/>
              </a:srgbClr>
            </a:outerShdw>
          </a:effectLst>
        </p:spPr>
      </p:sp>
      <p:pic>
        <p:nvPicPr>
          <p:cNvPr id="5" name="Image 0" descr="preencoded.png">    </p:cNvPr>
          <p:cNvPicPr>
            <a:picLocks noChangeAspect="1"/>
          </p:cNvPicPr>
          <p:nvPr/>
        </p:nvPicPr>
        <p:blipFill>
          <a:blip r:embed="rId1"/>
          <a:stretch>
            <a:fillRect/>
          </a:stretch>
        </p:blipFill>
        <p:spPr>
          <a:xfrm>
            <a:off x="1050646" y="1507846"/>
            <a:ext cx="504749" cy="504749"/>
          </a:xfrm>
          <a:prstGeom prst="rect">
            <a:avLst/>
          </a:prstGeom>
        </p:spPr>
      </p:pic>
      <p:sp>
        <p:nvSpPr>
          <p:cNvPr id="6" name="Text 3"/>
          <p:cNvSpPr/>
          <p:nvPr/>
        </p:nvSpPr>
        <p:spPr>
          <a:xfrm>
            <a:off x="822960" y="2560320"/>
            <a:ext cx="10515600" cy="365760"/>
          </a:xfrm>
          <a:prstGeom prst="rect">
            <a:avLst/>
          </a:prstGeom>
          <a:noFill/>
          <a:ln/>
        </p:spPr>
        <p:txBody>
          <a:bodyPr wrap="square" lIns="0" tIns="0" rIns="0" bIns="0" rtlCol="0" anchor="ctr"/>
          <a:lstStyle/>
          <a:p>
            <a:pPr indent="0" marL="0">
              <a:buNone/>
            </a:pPr>
            <a:r>
              <a:rPr lang="en-US" sz="1400" b="1" spc="200" kern="0" dirty="0">
                <a:solidFill>
                  <a:srgbClr val="F59E0B"/>
                </a:solidFill>
                <a:latin typeface="Calibri" pitchFamily="34" charset="0"/>
                <a:ea typeface="Calibri" pitchFamily="34" charset="-122"/>
                <a:cs typeface="Calibri" pitchFamily="34" charset="-120"/>
              </a:rPr>
              <a:t>CLAUDE CERTIFIED ARCHITECT — FOUNDATIONS  ·  DOMAIN 1</a:t>
            </a:r>
            <a:endParaRPr lang="en-US" sz="1400" dirty="0"/>
          </a:p>
        </p:txBody>
      </p:sp>
      <p:sp>
        <p:nvSpPr>
          <p:cNvPr id="7" name="Text 4"/>
          <p:cNvSpPr/>
          <p:nvPr/>
        </p:nvSpPr>
        <p:spPr>
          <a:xfrm>
            <a:off x="777240" y="2926080"/>
            <a:ext cx="10424160" cy="1554480"/>
          </a:xfrm>
          <a:prstGeom prst="rect">
            <a:avLst/>
          </a:prstGeom>
          <a:noFill/>
          <a:ln/>
        </p:spPr>
        <p:txBody>
          <a:bodyPr wrap="square" lIns="0" tIns="0" rIns="0" bIns="0" rtlCol="0" anchor="ctr"/>
          <a:lstStyle/>
          <a:p>
            <a:pPr indent="0" marL="0">
              <a:lnSpc>
                <a:spcPct val="100000"/>
              </a:lnSpc>
              <a:buNone/>
            </a:pPr>
            <a:r>
              <a:rPr lang="en-US" sz="4400" b="1" dirty="0">
                <a:solidFill>
                  <a:srgbClr val="FFFFFF"/>
                </a:solidFill>
                <a:latin typeface="Cambria" pitchFamily="34" charset="0"/>
                <a:ea typeface="Cambria" pitchFamily="34" charset="-122"/>
                <a:cs typeface="Cambria" pitchFamily="34" charset="-120"/>
              </a:rPr>
              <a:t>Building Agentic Applications</a:t>
            </a:r>
            <a:endParaRPr lang="en-US" sz="4400" dirty="0"/>
          </a:p>
          <a:p>
            <a:pPr indent="0" marL="0">
              <a:lnSpc>
                <a:spcPct val="100000"/>
              </a:lnSpc>
              <a:buNone/>
            </a:pPr>
            <a:r>
              <a:rPr lang="en-US" sz="4400" b="1" dirty="0">
                <a:solidFill>
                  <a:srgbClr val="FFFFFF"/>
                </a:solidFill>
                <a:latin typeface="Cambria" pitchFamily="34" charset="0"/>
                <a:ea typeface="Cambria" pitchFamily="34" charset="-122"/>
                <a:cs typeface="Cambria" pitchFamily="34" charset="-120"/>
              </a:rPr>
              <a:t>with the Claude Agent SDK</a:t>
            </a:r>
            <a:endParaRPr lang="en-US" sz="4400" dirty="0"/>
          </a:p>
        </p:txBody>
      </p:sp>
      <p:sp>
        <p:nvSpPr>
          <p:cNvPr id="8" name="Text 5"/>
          <p:cNvSpPr/>
          <p:nvPr/>
        </p:nvSpPr>
        <p:spPr>
          <a:xfrm>
            <a:off x="822960" y="4526280"/>
            <a:ext cx="10607040" cy="731520"/>
          </a:xfrm>
          <a:prstGeom prst="rect">
            <a:avLst/>
          </a:prstGeom>
          <a:noFill/>
          <a:ln/>
        </p:spPr>
        <p:txBody>
          <a:bodyPr wrap="square" lIns="0" tIns="0" rIns="0" bIns="0" rtlCol="0" anchor="ctr"/>
          <a:lstStyle/>
          <a:p>
            <a:pPr indent="0" marL="0">
              <a:lnSpc>
                <a:spcPct val="105000"/>
              </a:lnSpc>
              <a:buNone/>
            </a:pPr>
            <a:r>
              <a:rPr lang="en-US" sz="1550" dirty="0">
                <a:solidFill>
                  <a:srgbClr val="E2E8F0"/>
                </a:solidFill>
                <a:latin typeface="Calibri" pitchFamily="34" charset="0"/>
                <a:ea typeface="Calibri" pitchFamily="34" charset="-122"/>
                <a:cs typeface="Calibri" pitchFamily="34" charset="-120"/>
              </a:rPr>
              <a:t>A step-by-step technical walkthrough: the agent loop · tool &amp; MCP integration · multi-agent orchestration · subagent delegation · lifecycle hooks · production controls</a:t>
            </a:r>
            <a:endParaRPr lang="en-US" sz="1550" dirty="0"/>
          </a:p>
        </p:txBody>
      </p:sp>
      <p:sp>
        <p:nvSpPr>
          <p:cNvPr id="9" name="Text 6"/>
          <p:cNvSpPr/>
          <p:nvPr/>
        </p:nvSpPr>
        <p:spPr>
          <a:xfrm>
            <a:off x="822960" y="5943600"/>
            <a:ext cx="10058400" cy="365760"/>
          </a:xfrm>
          <a:prstGeom prst="rect">
            <a:avLst/>
          </a:prstGeom>
          <a:noFill/>
          <a:ln/>
        </p:spPr>
        <p:txBody>
          <a:bodyPr wrap="square" lIns="0" tIns="0" rIns="0" bIns="0" rtlCol="0" anchor="ctr"/>
          <a:lstStyle/>
          <a:p>
            <a:pPr indent="0" marL="0">
              <a:buNone/>
            </a:pPr>
            <a:r>
              <a:rPr lang="en-US" sz="1250" i="1" dirty="0">
                <a:solidFill>
                  <a:srgbClr val="6366F1"/>
                </a:solidFill>
                <a:latin typeface="Calibri" pitchFamily="34" charset="0"/>
                <a:ea typeface="Calibri" pitchFamily="34" charset="-122"/>
                <a:cs typeface="Calibri" pitchFamily="34" charset="-120"/>
              </a:rPr>
              <a:t>AAA Learning Group · engineering deep-dive · sources cited inline (↗) throughout</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What we'll cover — and how to read this deck</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sources tagged ↗ per slide</a:t>
            </a:r>
            <a:endParaRPr lang="en-US" sz="1050" dirty="0"/>
          </a:p>
        </p:txBody>
      </p:sp>
      <p:sp>
        <p:nvSpPr>
          <p:cNvPr id="5" name="Shape 3"/>
          <p:cNvSpPr/>
          <p:nvPr/>
        </p:nvSpPr>
        <p:spPr>
          <a:xfrm>
            <a:off x="548640" y="1554480"/>
            <a:ext cx="3456432" cy="1627632"/>
          </a:xfrm>
          <a:prstGeom prst="roundRect">
            <a:avLst>
              <a:gd name="adj" fmla="val 3371"/>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6" name="Shape 4"/>
          <p:cNvSpPr/>
          <p:nvPr/>
        </p:nvSpPr>
        <p:spPr>
          <a:xfrm>
            <a:off x="786384" y="1810512"/>
            <a:ext cx="676656" cy="676656"/>
          </a:xfrm>
          <a:prstGeom prst="ellipse">
            <a:avLst/>
          </a:prstGeom>
          <a:solidFill>
            <a:srgbClr val="4F46E5"/>
          </a:solidFill>
          <a:ln/>
          <a:effectLst>
            <a:outerShdw sx="100000" sy="100000" kx="0" ky="0" algn="bl" rotWithShape="0" blurRad="88900" dist="38100" dir="5400000">
              <a:srgbClr val="000000">
                <a:alpha val="16000"/>
              </a:srgbClr>
            </a:outerShdw>
          </a:effectLst>
        </p:spPr>
      </p:sp>
      <p:pic>
        <p:nvPicPr>
          <p:cNvPr id="7" name="Image 0" descr="preencoded.png">    </p:cNvPr>
          <p:cNvPicPr>
            <a:picLocks noChangeAspect="1"/>
          </p:cNvPicPr>
          <p:nvPr/>
        </p:nvPicPr>
        <p:blipFill>
          <a:blip r:embed="rId1"/>
          <a:stretch>
            <a:fillRect/>
          </a:stretch>
        </p:blipFill>
        <p:spPr>
          <a:xfrm>
            <a:off x="962315" y="1986443"/>
            <a:ext cx="324795" cy="324795"/>
          </a:xfrm>
          <a:prstGeom prst="rect">
            <a:avLst/>
          </a:prstGeom>
        </p:spPr>
      </p:pic>
      <p:sp>
        <p:nvSpPr>
          <p:cNvPr id="8" name="Text 5"/>
          <p:cNvSpPr/>
          <p:nvPr/>
        </p:nvSpPr>
        <p:spPr>
          <a:xfrm>
            <a:off x="1600200" y="1828800"/>
            <a:ext cx="2267712" cy="457200"/>
          </a:xfrm>
          <a:prstGeom prst="rect">
            <a:avLst/>
          </a:prstGeom>
          <a:noFill/>
          <a:ln/>
        </p:spPr>
        <p:txBody>
          <a:bodyPr wrap="square" lIns="0" tIns="0" rIns="0" bIns="0" rtlCol="0" anchor="ctr"/>
          <a:lstStyle/>
          <a:p>
            <a:pPr indent="0" marL="0">
              <a:buNone/>
            </a:pPr>
            <a:r>
              <a:rPr lang="en-US" sz="1500" b="1" dirty="0">
                <a:solidFill>
                  <a:srgbClr val="12132E"/>
                </a:solidFill>
                <a:latin typeface="Calibri" pitchFamily="34" charset="0"/>
                <a:ea typeface="Calibri" pitchFamily="34" charset="-122"/>
                <a:cs typeface="Calibri" pitchFamily="34" charset="-120"/>
              </a:rPr>
              <a:t>Framing</a:t>
            </a:r>
            <a:endParaRPr lang="en-US" sz="1500" dirty="0"/>
          </a:p>
        </p:txBody>
      </p:sp>
      <p:sp>
        <p:nvSpPr>
          <p:cNvPr id="9" name="Text 6"/>
          <p:cNvSpPr/>
          <p:nvPr/>
        </p:nvSpPr>
        <p:spPr>
          <a:xfrm>
            <a:off x="1600200" y="2267712"/>
            <a:ext cx="2267712" cy="731520"/>
          </a:xfrm>
          <a:prstGeom prst="rect">
            <a:avLst/>
          </a:prstGeom>
          <a:noFill/>
          <a:ln/>
        </p:spPr>
        <p:txBody>
          <a:bodyPr wrap="square" lIns="0" tIns="0" rIns="0" bIns="0" rtlCol="0" anchor="ctr"/>
          <a:lstStyle/>
          <a:p>
            <a:pPr indent="0" marL="0">
              <a:lnSpc>
                <a:spcPct val="103000"/>
              </a:lnSpc>
              <a:buNone/>
            </a:pPr>
            <a:r>
              <a:rPr lang="en-US" sz="1150" dirty="0">
                <a:solidFill>
                  <a:srgbClr val="64748B"/>
                </a:solidFill>
                <a:latin typeface="Calibri" pitchFamily="34" charset="0"/>
                <a:ea typeface="Calibri" pitchFamily="34" charset="-122"/>
                <a:cs typeface="Calibri" pitchFamily="34" charset="-120"/>
              </a:rPr>
              <a:t>Workflows vs agents; when NOT to build one</a:t>
            </a:r>
            <a:endParaRPr lang="en-US" sz="1150" dirty="0"/>
          </a:p>
        </p:txBody>
      </p:sp>
      <p:sp>
        <p:nvSpPr>
          <p:cNvPr id="10" name="Text 7"/>
          <p:cNvSpPr/>
          <p:nvPr/>
        </p:nvSpPr>
        <p:spPr>
          <a:xfrm>
            <a:off x="731520" y="2633472"/>
            <a:ext cx="3090672" cy="411480"/>
          </a:xfrm>
          <a:prstGeom prst="rect">
            <a:avLst/>
          </a:prstGeom>
          <a:noFill/>
          <a:ln/>
        </p:spPr>
        <p:txBody>
          <a:bodyPr wrap="square" lIns="0" tIns="0" rIns="0" bIns="0" rtlCol="0" anchor="ctr"/>
          <a:lstStyle/>
          <a:p>
            <a:pPr algn="r" indent="0" marL="0">
              <a:buNone/>
            </a:pPr>
            <a:r>
              <a:rPr lang="en-US" sz="2400" b="1" dirty="0">
                <a:solidFill>
                  <a:srgbClr val="4F46E5"/>
                </a:solidFill>
                <a:latin typeface="Cambria" pitchFamily="34" charset="0"/>
                <a:ea typeface="Cambria" pitchFamily="34" charset="-122"/>
                <a:cs typeface="Cambria" pitchFamily="34" charset="-120"/>
              </a:rPr>
              <a:t>01</a:t>
            </a:r>
            <a:endParaRPr lang="en-US" sz="2400" dirty="0"/>
          </a:p>
        </p:txBody>
      </p:sp>
      <p:sp>
        <p:nvSpPr>
          <p:cNvPr id="11" name="Shape 8"/>
          <p:cNvSpPr/>
          <p:nvPr/>
        </p:nvSpPr>
        <p:spPr>
          <a:xfrm>
            <a:off x="4389120" y="1554480"/>
            <a:ext cx="3456432" cy="1627632"/>
          </a:xfrm>
          <a:prstGeom prst="roundRect">
            <a:avLst>
              <a:gd name="adj" fmla="val 3371"/>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2" name="Shape 9"/>
          <p:cNvSpPr/>
          <p:nvPr/>
        </p:nvSpPr>
        <p:spPr>
          <a:xfrm>
            <a:off x="4626864" y="1810512"/>
            <a:ext cx="676656" cy="676656"/>
          </a:xfrm>
          <a:prstGeom prst="ellipse">
            <a:avLst/>
          </a:prstGeom>
          <a:solidFill>
            <a:srgbClr val="6366F1"/>
          </a:solidFill>
          <a:ln/>
          <a:effectLst>
            <a:outerShdw sx="100000" sy="100000" kx="0" ky="0" algn="bl" rotWithShape="0" blurRad="88900" dist="38100" dir="5400000">
              <a:srgbClr val="000000">
                <a:alpha val="16000"/>
              </a:srgbClr>
            </a:outerShdw>
          </a:effectLst>
        </p:spPr>
      </p:sp>
      <p:pic>
        <p:nvPicPr>
          <p:cNvPr id="13" name="Image 1" descr="preencoded.png">    </p:cNvPr>
          <p:cNvPicPr>
            <a:picLocks noChangeAspect="1"/>
          </p:cNvPicPr>
          <p:nvPr/>
        </p:nvPicPr>
        <p:blipFill>
          <a:blip r:embed="rId2"/>
          <a:stretch>
            <a:fillRect/>
          </a:stretch>
        </p:blipFill>
        <p:spPr>
          <a:xfrm>
            <a:off x="4802795" y="1986443"/>
            <a:ext cx="324795" cy="324795"/>
          </a:xfrm>
          <a:prstGeom prst="rect">
            <a:avLst/>
          </a:prstGeom>
        </p:spPr>
      </p:pic>
      <p:sp>
        <p:nvSpPr>
          <p:cNvPr id="14" name="Text 10"/>
          <p:cNvSpPr/>
          <p:nvPr/>
        </p:nvSpPr>
        <p:spPr>
          <a:xfrm>
            <a:off x="5440680" y="1828800"/>
            <a:ext cx="2267712" cy="457200"/>
          </a:xfrm>
          <a:prstGeom prst="rect">
            <a:avLst/>
          </a:prstGeom>
          <a:noFill/>
          <a:ln/>
        </p:spPr>
        <p:txBody>
          <a:bodyPr wrap="square" lIns="0" tIns="0" rIns="0" bIns="0" rtlCol="0" anchor="ctr"/>
          <a:lstStyle/>
          <a:p>
            <a:pPr indent="0" marL="0">
              <a:buNone/>
            </a:pPr>
            <a:r>
              <a:rPr lang="en-US" sz="1500" b="1" dirty="0">
                <a:solidFill>
                  <a:srgbClr val="12132E"/>
                </a:solidFill>
                <a:latin typeface="Calibri" pitchFamily="34" charset="0"/>
                <a:ea typeface="Calibri" pitchFamily="34" charset="-122"/>
                <a:cs typeface="Calibri" pitchFamily="34" charset="-120"/>
              </a:rPr>
              <a:t>The agent loop</a:t>
            </a:r>
            <a:endParaRPr lang="en-US" sz="1500" dirty="0"/>
          </a:p>
        </p:txBody>
      </p:sp>
      <p:sp>
        <p:nvSpPr>
          <p:cNvPr id="15" name="Text 11"/>
          <p:cNvSpPr/>
          <p:nvPr/>
        </p:nvSpPr>
        <p:spPr>
          <a:xfrm>
            <a:off x="5440680" y="2267712"/>
            <a:ext cx="2267712" cy="731520"/>
          </a:xfrm>
          <a:prstGeom prst="rect">
            <a:avLst/>
          </a:prstGeom>
          <a:noFill/>
          <a:ln/>
        </p:spPr>
        <p:txBody>
          <a:bodyPr wrap="square" lIns="0" tIns="0" rIns="0" bIns="0" rtlCol="0" anchor="ctr"/>
          <a:lstStyle/>
          <a:p>
            <a:pPr indent="0" marL="0">
              <a:lnSpc>
                <a:spcPct val="103000"/>
              </a:lnSpc>
              <a:buNone/>
            </a:pPr>
            <a:r>
              <a:rPr lang="en-US" sz="1150" dirty="0">
                <a:solidFill>
                  <a:srgbClr val="64748B"/>
                </a:solidFill>
                <a:latin typeface="Calibri" pitchFamily="34" charset="0"/>
                <a:ea typeface="Calibri" pitchFamily="34" charset="-122"/>
                <a:cs typeface="Calibri" pitchFamily="34" charset="-120"/>
              </a:rPr>
              <a:t>stop_reason, turns, message types, controls</a:t>
            </a:r>
            <a:endParaRPr lang="en-US" sz="1150" dirty="0"/>
          </a:p>
        </p:txBody>
      </p:sp>
      <p:sp>
        <p:nvSpPr>
          <p:cNvPr id="16" name="Text 12"/>
          <p:cNvSpPr/>
          <p:nvPr/>
        </p:nvSpPr>
        <p:spPr>
          <a:xfrm>
            <a:off x="4572000" y="2633472"/>
            <a:ext cx="3090672" cy="411480"/>
          </a:xfrm>
          <a:prstGeom prst="rect">
            <a:avLst/>
          </a:prstGeom>
          <a:noFill/>
          <a:ln/>
        </p:spPr>
        <p:txBody>
          <a:bodyPr wrap="square" lIns="0" tIns="0" rIns="0" bIns="0" rtlCol="0" anchor="ctr"/>
          <a:lstStyle/>
          <a:p>
            <a:pPr algn="r" indent="0" marL="0">
              <a:buNone/>
            </a:pPr>
            <a:r>
              <a:rPr lang="en-US" sz="2400" b="1" dirty="0">
                <a:solidFill>
                  <a:srgbClr val="6366F1"/>
                </a:solidFill>
                <a:latin typeface="Cambria" pitchFamily="34" charset="0"/>
                <a:ea typeface="Cambria" pitchFamily="34" charset="-122"/>
                <a:cs typeface="Cambria" pitchFamily="34" charset="-120"/>
              </a:rPr>
              <a:t>02</a:t>
            </a:r>
            <a:endParaRPr lang="en-US" sz="2400" dirty="0"/>
          </a:p>
        </p:txBody>
      </p:sp>
      <p:sp>
        <p:nvSpPr>
          <p:cNvPr id="17" name="Shape 13"/>
          <p:cNvSpPr/>
          <p:nvPr/>
        </p:nvSpPr>
        <p:spPr>
          <a:xfrm>
            <a:off x="8229600" y="1554480"/>
            <a:ext cx="3456432" cy="1627632"/>
          </a:xfrm>
          <a:prstGeom prst="roundRect">
            <a:avLst>
              <a:gd name="adj" fmla="val 3371"/>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8" name="Shape 14"/>
          <p:cNvSpPr/>
          <p:nvPr/>
        </p:nvSpPr>
        <p:spPr>
          <a:xfrm>
            <a:off x="8467344" y="1810512"/>
            <a:ext cx="676656" cy="676656"/>
          </a:xfrm>
          <a:prstGeom prst="ellipse">
            <a:avLst/>
          </a:prstGeom>
          <a:solidFill>
            <a:srgbClr val="14B8A6"/>
          </a:solidFill>
          <a:ln/>
          <a:effectLst>
            <a:outerShdw sx="100000" sy="100000" kx="0" ky="0" algn="bl" rotWithShape="0" blurRad="88900" dist="38100" dir="5400000">
              <a:srgbClr val="000000">
                <a:alpha val="16000"/>
              </a:srgbClr>
            </a:outerShdw>
          </a:effectLst>
        </p:spPr>
      </p:sp>
      <p:pic>
        <p:nvPicPr>
          <p:cNvPr id="19" name="Image 2" descr="preencoded.png">    </p:cNvPr>
          <p:cNvPicPr>
            <a:picLocks noChangeAspect="1"/>
          </p:cNvPicPr>
          <p:nvPr/>
        </p:nvPicPr>
        <p:blipFill>
          <a:blip r:embed="rId3"/>
          <a:stretch>
            <a:fillRect/>
          </a:stretch>
        </p:blipFill>
        <p:spPr>
          <a:xfrm>
            <a:off x="8643275" y="1986443"/>
            <a:ext cx="324795" cy="324795"/>
          </a:xfrm>
          <a:prstGeom prst="rect">
            <a:avLst/>
          </a:prstGeom>
        </p:spPr>
      </p:pic>
      <p:sp>
        <p:nvSpPr>
          <p:cNvPr id="20" name="Text 15"/>
          <p:cNvSpPr/>
          <p:nvPr/>
        </p:nvSpPr>
        <p:spPr>
          <a:xfrm>
            <a:off x="9281160" y="1828800"/>
            <a:ext cx="2267712" cy="457200"/>
          </a:xfrm>
          <a:prstGeom prst="rect">
            <a:avLst/>
          </a:prstGeom>
          <a:noFill/>
          <a:ln/>
        </p:spPr>
        <p:txBody>
          <a:bodyPr wrap="square" lIns="0" tIns="0" rIns="0" bIns="0" rtlCol="0" anchor="ctr"/>
          <a:lstStyle/>
          <a:p>
            <a:pPr indent="0" marL="0">
              <a:buNone/>
            </a:pPr>
            <a:r>
              <a:rPr lang="en-US" sz="1500" b="1" dirty="0">
                <a:solidFill>
                  <a:srgbClr val="12132E"/>
                </a:solidFill>
                <a:latin typeface="Calibri" pitchFamily="34" charset="0"/>
                <a:ea typeface="Calibri" pitchFamily="34" charset="-122"/>
                <a:cs typeface="Calibri" pitchFamily="34" charset="-120"/>
              </a:rPr>
              <a:t>Tools &amp; MCP</a:t>
            </a:r>
            <a:endParaRPr lang="en-US" sz="1500" dirty="0"/>
          </a:p>
        </p:txBody>
      </p:sp>
      <p:sp>
        <p:nvSpPr>
          <p:cNvPr id="21" name="Text 16"/>
          <p:cNvSpPr/>
          <p:nvPr/>
        </p:nvSpPr>
        <p:spPr>
          <a:xfrm>
            <a:off x="9281160" y="2267712"/>
            <a:ext cx="2267712" cy="731520"/>
          </a:xfrm>
          <a:prstGeom prst="rect">
            <a:avLst/>
          </a:prstGeom>
          <a:noFill/>
          <a:ln/>
        </p:spPr>
        <p:txBody>
          <a:bodyPr wrap="square" lIns="0" tIns="0" rIns="0" bIns="0" rtlCol="0" anchor="ctr"/>
          <a:lstStyle/>
          <a:p>
            <a:pPr indent="0" marL="0">
              <a:lnSpc>
                <a:spcPct val="103000"/>
              </a:lnSpc>
              <a:buNone/>
            </a:pPr>
            <a:r>
              <a:rPr lang="en-US" sz="1150" dirty="0">
                <a:solidFill>
                  <a:srgbClr val="64748B"/>
                </a:solidFill>
                <a:latin typeface="Calibri" pitchFamily="34" charset="0"/>
                <a:ea typeface="Calibri" pitchFamily="34" charset="-122"/>
                <a:cs typeface="Calibri" pitchFamily="34" charset="-120"/>
              </a:rPr>
              <a:t>custom tools, ACI design, scoping</a:t>
            </a:r>
            <a:endParaRPr lang="en-US" sz="1150" dirty="0"/>
          </a:p>
        </p:txBody>
      </p:sp>
      <p:sp>
        <p:nvSpPr>
          <p:cNvPr id="22" name="Text 17"/>
          <p:cNvSpPr/>
          <p:nvPr/>
        </p:nvSpPr>
        <p:spPr>
          <a:xfrm>
            <a:off x="8412480" y="2633472"/>
            <a:ext cx="3090672" cy="411480"/>
          </a:xfrm>
          <a:prstGeom prst="rect">
            <a:avLst/>
          </a:prstGeom>
          <a:noFill/>
          <a:ln/>
        </p:spPr>
        <p:txBody>
          <a:bodyPr wrap="square" lIns="0" tIns="0" rIns="0" bIns="0" rtlCol="0" anchor="ctr"/>
          <a:lstStyle/>
          <a:p>
            <a:pPr algn="r" indent="0" marL="0">
              <a:buNone/>
            </a:pPr>
            <a:r>
              <a:rPr lang="en-US" sz="2400" b="1" dirty="0">
                <a:solidFill>
                  <a:srgbClr val="14B8A6"/>
                </a:solidFill>
                <a:latin typeface="Cambria" pitchFamily="34" charset="0"/>
                <a:ea typeface="Cambria" pitchFamily="34" charset="-122"/>
                <a:cs typeface="Cambria" pitchFamily="34" charset="-120"/>
              </a:rPr>
              <a:t>03</a:t>
            </a:r>
            <a:endParaRPr lang="en-US" sz="2400" dirty="0"/>
          </a:p>
        </p:txBody>
      </p:sp>
      <p:sp>
        <p:nvSpPr>
          <p:cNvPr id="23" name="Shape 18"/>
          <p:cNvSpPr/>
          <p:nvPr/>
        </p:nvSpPr>
        <p:spPr>
          <a:xfrm>
            <a:off x="548640" y="3493008"/>
            <a:ext cx="3456432" cy="1627632"/>
          </a:xfrm>
          <a:prstGeom prst="roundRect">
            <a:avLst>
              <a:gd name="adj" fmla="val 3371"/>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24" name="Shape 19"/>
          <p:cNvSpPr/>
          <p:nvPr/>
        </p:nvSpPr>
        <p:spPr>
          <a:xfrm>
            <a:off x="786384" y="3749040"/>
            <a:ext cx="676656" cy="676656"/>
          </a:xfrm>
          <a:prstGeom prst="ellipse">
            <a:avLst/>
          </a:prstGeom>
          <a:solidFill>
            <a:srgbClr val="8B5CF6"/>
          </a:solidFill>
          <a:ln/>
          <a:effectLst>
            <a:outerShdw sx="100000" sy="100000" kx="0" ky="0" algn="bl" rotWithShape="0" blurRad="88900" dist="38100" dir="5400000">
              <a:srgbClr val="000000">
                <a:alpha val="16000"/>
              </a:srgbClr>
            </a:outerShdw>
          </a:effectLst>
        </p:spPr>
      </p:sp>
      <p:pic>
        <p:nvPicPr>
          <p:cNvPr id="25" name="Image 3" descr="preencoded.png">    </p:cNvPr>
          <p:cNvPicPr>
            <a:picLocks noChangeAspect="1"/>
          </p:cNvPicPr>
          <p:nvPr/>
        </p:nvPicPr>
        <p:blipFill>
          <a:blip r:embed="rId4"/>
          <a:stretch>
            <a:fillRect/>
          </a:stretch>
        </p:blipFill>
        <p:spPr>
          <a:xfrm>
            <a:off x="962315" y="3924971"/>
            <a:ext cx="324795" cy="324795"/>
          </a:xfrm>
          <a:prstGeom prst="rect">
            <a:avLst/>
          </a:prstGeom>
        </p:spPr>
      </p:pic>
      <p:sp>
        <p:nvSpPr>
          <p:cNvPr id="26" name="Text 20"/>
          <p:cNvSpPr/>
          <p:nvPr/>
        </p:nvSpPr>
        <p:spPr>
          <a:xfrm>
            <a:off x="1600200" y="3767328"/>
            <a:ext cx="2267712" cy="457200"/>
          </a:xfrm>
          <a:prstGeom prst="rect">
            <a:avLst/>
          </a:prstGeom>
          <a:noFill/>
          <a:ln/>
        </p:spPr>
        <p:txBody>
          <a:bodyPr wrap="square" lIns="0" tIns="0" rIns="0" bIns="0" rtlCol="0" anchor="ctr"/>
          <a:lstStyle/>
          <a:p>
            <a:pPr indent="0" marL="0">
              <a:buNone/>
            </a:pPr>
            <a:r>
              <a:rPr lang="en-US" sz="1500" b="1" dirty="0">
                <a:solidFill>
                  <a:srgbClr val="12132E"/>
                </a:solidFill>
                <a:latin typeface="Calibri" pitchFamily="34" charset="0"/>
                <a:ea typeface="Calibri" pitchFamily="34" charset="-122"/>
                <a:cs typeface="Calibri" pitchFamily="34" charset="-120"/>
              </a:rPr>
              <a:t>Orchestration</a:t>
            </a:r>
            <a:endParaRPr lang="en-US" sz="1500" dirty="0"/>
          </a:p>
        </p:txBody>
      </p:sp>
      <p:sp>
        <p:nvSpPr>
          <p:cNvPr id="27" name="Text 21"/>
          <p:cNvSpPr/>
          <p:nvPr/>
        </p:nvSpPr>
        <p:spPr>
          <a:xfrm>
            <a:off x="1600200" y="4206240"/>
            <a:ext cx="2267712" cy="731520"/>
          </a:xfrm>
          <a:prstGeom prst="rect">
            <a:avLst/>
          </a:prstGeom>
          <a:noFill/>
          <a:ln/>
        </p:spPr>
        <p:txBody>
          <a:bodyPr wrap="square" lIns="0" tIns="0" rIns="0" bIns="0" rtlCol="0" anchor="ctr"/>
          <a:lstStyle/>
          <a:p>
            <a:pPr indent="0" marL="0">
              <a:lnSpc>
                <a:spcPct val="103000"/>
              </a:lnSpc>
              <a:buNone/>
            </a:pPr>
            <a:r>
              <a:rPr lang="en-US" sz="1150" dirty="0">
                <a:solidFill>
                  <a:srgbClr val="64748B"/>
                </a:solidFill>
                <a:latin typeface="Calibri" pitchFamily="34" charset="0"/>
                <a:ea typeface="Calibri" pitchFamily="34" charset="-122"/>
                <a:cs typeface="Calibri" pitchFamily="34" charset="-120"/>
              </a:rPr>
              <a:t>coordinator + subagent delegation</a:t>
            </a:r>
            <a:endParaRPr lang="en-US" sz="1150" dirty="0"/>
          </a:p>
        </p:txBody>
      </p:sp>
      <p:sp>
        <p:nvSpPr>
          <p:cNvPr id="28" name="Text 22"/>
          <p:cNvSpPr/>
          <p:nvPr/>
        </p:nvSpPr>
        <p:spPr>
          <a:xfrm>
            <a:off x="731520" y="4572000"/>
            <a:ext cx="3090672" cy="411480"/>
          </a:xfrm>
          <a:prstGeom prst="rect">
            <a:avLst/>
          </a:prstGeom>
          <a:noFill/>
          <a:ln/>
        </p:spPr>
        <p:txBody>
          <a:bodyPr wrap="square" lIns="0" tIns="0" rIns="0" bIns="0" rtlCol="0" anchor="ctr"/>
          <a:lstStyle/>
          <a:p>
            <a:pPr algn="r" indent="0" marL="0">
              <a:buNone/>
            </a:pPr>
            <a:r>
              <a:rPr lang="en-US" sz="2400" b="1" dirty="0">
                <a:solidFill>
                  <a:srgbClr val="8B5CF6"/>
                </a:solidFill>
                <a:latin typeface="Cambria" pitchFamily="34" charset="0"/>
                <a:ea typeface="Cambria" pitchFamily="34" charset="-122"/>
                <a:cs typeface="Cambria" pitchFamily="34" charset="-120"/>
              </a:rPr>
              <a:t>04</a:t>
            </a:r>
            <a:endParaRPr lang="en-US" sz="2400" dirty="0"/>
          </a:p>
        </p:txBody>
      </p:sp>
      <p:sp>
        <p:nvSpPr>
          <p:cNvPr id="29" name="Shape 23"/>
          <p:cNvSpPr/>
          <p:nvPr/>
        </p:nvSpPr>
        <p:spPr>
          <a:xfrm>
            <a:off x="4389120" y="3493008"/>
            <a:ext cx="3456432" cy="1627632"/>
          </a:xfrm>
          <a:prstGeom prst="roundRect">
            <a:avLst>
              <a:gd name="adj" fmla="val 3371"/>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30" name="Shape 24"/>
          <p:cNvSpPr/>
          <p:nvPr/>
        </p:nvSpPr>
        <p:spPr>
          <a:xfrm>
            <a:off x="4626864" y="3749040"/>
            <a:ext cx="676656" cy="676656"/>
          </a:xfrm>
          <a:prstGeom prst="ellipse">
            <a:avLst/>
          </a:prstGeom>
          <a:solidFill>
            <a:srgbClr val="F43F5E"/>
          </a:solidFill>
          <a:ln/>
          <a:effectLst>
            <a:outerShdw sx="100000" sy="100000" kx="0" ky="0" algn="bl" rotWithShape="0" blurRad="88900" dist="38100" dir="5400000">
              <a:srgbClr val="000000">
                <a:alpha val="16000"/>
              </a:srgbClr>
            </a:outerShdw>
          </a:effectLst>
        </p:spPr>
      </p:sp>
      <p:pic>
        <p:nvPicPr>
          <p:cNvPr id="31" name="Image 4" descr="preencoded.png">    </p:cNvPr>
          <p:cNvPicPr>
            <a:picLocks noChangeAspect="1"/>
          </p:cNvPicPr>
          <p:nvPr/>
        </p:nvPicPr>
        <p:blipFill>
          <a:blip r:embed="rId5"/>
          <a:stretch>
            <a:fillRect/>
          </a:stretch>
        </p:blipFill>
        <p:spPr>
          <a:xfrm>
            <a:off x="4802795" y="3924971"/>
            <a:ext cx="324795" cy="324795"/>
          </a:xfrm>
          <a:prstGeom prst="rect">
            <a:avLst/>
          </a:prstGeom>
        </p:spPr>
      </p:pic>
      <p:sp>
        <p:nvSpPr>
          <p:cNvPr id="32" name="Text 25"/>
          <p:cNvSpPr/>
          <p:nvPr/>
        </p:nvSpPr>
        <p:spPr>
          <a:xfrm>
            <a:off x="5440680" y="3767328"/>
            <a:ext cx="2267712" cy="457200"/>
          </a:xfrm>
          <a:prstGeom prst="rect">
            <a:avLst/>
          </a:prstGeom>
          <a:noFill/>
          <a:ln/>
        </p:spPr>
        <p:txBody>
          <a:bodyPr wrap="square" lIns="0" tIns="0" rIns="0" bIns="0" rtlCol="0" anchor="ctr"/>
          <a:lstStyle/>
          <a:p>
            <a:pPr indent="0" marL="0">
              <a:buNone/>
            </a:pPr>
            <a:r>
              <a:rPr lang="en-US" sz="1500" b="1" dirty="0">
                <a:solidFill>
                  <a:srgbClr val="12132E"/>
                </a:solidFill>
                <a:latin typeface="Calibri" pitchFamily="34" charset="0"/>
                <a:ea typeface="Calibri" pitchFamily="34" charset="-122"/>
                <a:cs typeface="Calibri" pitchFamily="34" charset="-120"/>
              </a:rPr>
              <a:t>Lifecycle hooks</a:t>
            </a:r>
            <a:endParaRPr lang="en-US" sz="1500" dirty="0"/>
          </a:p>
        </p:txBody>
      </p:sp>
      <p:sp>
        <p:nvSpPr>
          <p:cNvPr id="33" name="Text 26"/>
          <p:cNvSpPr/>
          <p:nvPr/>
        </p:nvSpPr>
        <p:spPr>
          <a:xfrm>
            <a:off x="5440680" y="4206240"/>
            <a:ext cx="2267712" cy="731520"/>
          </a:xfrm>
          <a:prstGeom prst="rect">
            <a:avLst/>
          </a:prstGeom>
          <a:noFill/>
          <a:ln/>
        </p:spPr>
        <p:txBody>
          <a:bodyPr wrap="square" lIns="0" tIns="0" rIns="0" bIns="0" rtlCol="0" anchor="ctr"/>
          <a:lstStyle/>
          <a:p>
            <a:pPr indent="0" marL="0">
              <a:lnSpc>
                <a:spcPct val="103000"/>
              </a:lnSpc>
              <a:buNone/>
            </a:pPr>
            <a:r>
              <a:rPr lang="en-US" sz="1150" dirty="0">
                <a:solidFill>
                  <a:srgbClr val="64748B"/>
                </a:solidFill>
                <a:latin typeface="Calibri" pitchFamily="34" charset="0"/>
                <a:ea typeface="Calibri" pitchFamily="34" charset="-122"/>
                <a:cs typeface="Calibri" pitchFamily="34" charset="-120"/>
              </a:rPr>
              <a:t>deterministic control &amp; normalization</a:t>
            </a:r>
            <a:endParaRPr lang="en-US" sz="1150" dirty="0"/>
          </a:p>
        </p:txBody>
      </p:sp>
      <p:sp>
        <p:nvSpPr>
          <p:cNvPr id="34" name="Text 27"/>
          <p:cNvSpPr/>
          <p:nvPr/>
        </p:nvSpPr>
        <p:spPr>
          <a:xfrm>
            <a:off x="4572000" y="4572000"/>
            <a:ext cx="3090672" cy="411480"/>
          </a:xfrm>
          <a:prstGeom prst="rect">
            <a:avLst/>
          </a:prstGeom>
          <a:noFill/>
          <a:ln/>
        </p:spPr>
        <p:txBody>
          <a:bodyPr wrap="square" lIns="0" tIns="0" rIns="0" bIns="0" rtlCol="0" anchor="ctr"/>
          <a:lstStyle/>
          <a:p>
            <a:pPr algn="r" indent="0" marL="0">
              <a:buNone/>
            </a:pPr>
            <a:r>
              <a:rPr lang="en-US" sz="2400" b="1" dirty="0">
                <a:solidFill>
                  <a:srgbClr val="F43F5E"/>
                </a:solidFill>
                <a:latin typeface="Cambria" pitchFamily="34" charset="0"/>
                <a:ea typeface="Cambria" pitchFamily="34" charset="-122"/>
                <a:cs typeface="Cambria" pitchFamily="34" charset="-120"/>
              </a:rPr>
              <a:t>05</a:t>
            </a:r>
            <a:endParaRPr lang="en-US" sz="2400" dirty="0"/>
          </a:p>
        </p:txBody>
      </p:sp>
      <p:sp>
        <p:nvSpPr>
          <p:cNvPr id="35" name="Shape 28"/>
          <p:cNvSpPr/>
          <p:nvPr/>
        </p:nvSpPr>
        <p:spPr>
          <a:xfrm>
            <a:off x="8229600" y="3493008"/>
            <a:ext cx="3456432" cy="1627632"/>
          </a:xfrm>
          <a:prstGeom prst="roundRect">
            <a:avLst>
              <a:gd name="adj" fmla="val 3371"/>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36" name="Shape 29"/>
          <p:cNvSpPr/>
          <p:nvPr/>
        </p:nvSpPr>
        <p:spPr>
          <a:xfrm>
            <a:off x="8467344" y="3749040"/>
            <a:ext cx="676656" cy="676656"/>
          </a:xfrm>
          <a:prstGeom prst="ellipse">
            <a:avLst/>
          </a:prstGeom>
          <a:solidFill>
            <a:srgbClr val="F59E0B"/>
          </a:solidFill>
          <a:ln/>
          <a:effectLst>
            <a:outerShdw sx="100000" sy="100000" kx="0" ky="0" algn="bl" rotWithShape="0" blurRad="88900" dist="38100" dir="5400000">
              <a:srgbClr val="000000">
                <a:alpha val="16000"/>
              </a:srgbClr>
            </a:outerShdw>
          </a:effectLst>
        </p:spPr>
      </p:sp>
      <p:pic>
        <p:nvPicPr>
          <p:cNvPr id="37" name="Image 5" descr="preencoded.png">    </p:cNvPr>
          <p:cNvPicPr>
            <a:picLocks noChangeAspect="1"/>
          </p:cNvPicPr>
          <p:nvPr/>
        </p:nvPicPr>
        <p:blipFill>
          <a:blip r:embed="rId6"/>
          <a:stretch>
            <a:fillRect/>
          </a:stretch>
        </p:blipFill>
        <p:spPr>
          <a:xfrm>
            <a:off x="8643275" y="3924971"/>
            <a:ext cx="324795" cy="324795"/>
          </a:xfrm>
          <a:prstGeom prst="rect">
            <a:avLst/>
          </a:prstGeom>
        </p:spPr>
      </p:pic>
      <p:sp>
        <p:nvSpPr>
          <p:cNvPr id="38" name="Text 30"/>
          <p:cNvSpPr/>
          <p:nvPr/>
        </p:nvSpPr>
        <p:spPr>
          <a:xfrm>
            <a:off x="9281160" y="3767328"/>
            <a:ext cx="2267712" cy="457200"/>
          </a:xfrm>
          <a:prstGeom prst="rect">
            <a:avLst/>
          </a:prstGeom>
          <a:noFill/>
          <a:ln/>
        </p:spPr>
        <p:txBody>
          <a:bodyPr wrap="square" lIns="0" tIns="0" rIns="0" bIns="0" rtlCol="0" anchor="ctr"/>
          <a:lstStyle/>
          <a:p>
            <a:pPr indent="0" marL="0">
              <a:buNone/>
            </a:pPr>
            <a:r>
              <a:rPr lang="en-US" sz="1500" b="1" dirty="0">
                <a:solidFill>
                  <a:srgbClr val="12132E"/>
                </a:solidFill>
                <a:latin typeface="Calibri" pitchFamily="34" charset="0"/>
                <a:ea typeface="Calibri" pitchFamily="34" charset="-122"/>
                <a:cs typeface="Calibri" pitchFamily="34" charset="-120"/>
              </a:rPr>
              <a:t>Production</a:t>
            </a:r>
            <a:endParaRPr lang="en-US" sz="1500" dirty="0"/>
          </a:p>
        </p:txBody>
      </p:sp>
      <p:sp>
        <p:nvSpPr>
          <p:cNvPr id="39" name="Text 31"/>
          <p:cNvSpPr/>
          <p:nvPr/>
        </p:nvSpPr>
        <p:spPr>
          <a:xfrm>
            <a:off x="9281160" y="4206240"/>
            <a:ext cx="2267712" cy="731520"/>
          </a:xfrm>
          <a:prstGeom prst="rect">
            <a:avLst/>
          </a:prstGeom>
          <a:noFill/>
          <a:ln/>
        </p:spPr>
        <p:txBody>
          <a:bodyPr wrap="square" lIns="0" tIns="0" rIns="0" bIns="0" rtlCol="0" anchor="ctr"/>
          <a:lstStyle/>
          <a:p>
            <a:pPr indent="0" marL="0">
              <a:lnSpc>
                <a:spcPct val="103000"/>
              </a:lnSpc>
              <a:buNone/>
            </a:pPr>
            <a:r>
              <a:rPr lang="en-US" sz="1150" dirty="0">
                <a:solidFill>
                  <a:srgbClr val="64748B"/>
                </a:solidFill>
                <a:latin typeface="Calibri" pitchFamily="34" charset="0"/>
                <a:ea typeface="Calibri" pitchFamily="34" charset="-122"/>
                <a:cs typeface="Calibri" pitchFamily="34" charset="-120"/>
              </a:rPr>
              <a:t>budget, compaction, sessions, observability</a:t>
            </a:r>
            <a:endParaRPr lang="en-US" sz="1150" dirty="0"/>
          </a:p>
        </p:txBody>
      </p:sp>
      <p:sp>
        <p:nvSpPr>
          <p:cNvPr id="40" name="Text 32"/>
          <p:cNvSpPr/>
          <p:nvPr/>
        </p:nvSpPr>
        <p:spPr>
          <a:xfrm>
            <a:off x="8412480" y="4572000"/>
            <a:ext cx="3090672" cy="411480"/>
          </a:xfrm>
          <a:prstGeom prst="rect">
            <a:avLst/>
          </a:prstGeom>
          <a:noFill/>
          <a:ln/>
        </p:spPr>
        <p:txBody>
          <a:bodyPr wrap="square" lIns="0" tIns="0" rIns="0" bIns="0" rtlCol="0" anchor="ctr"/>
          <a:lstStyle/>
          <a:p>
            <a:pPr algn="r" indent="0" marL="0">
              <a:buNone/>
            </a:pPr>
            <a:r>
              <a:rPr lang="en-US" sz="2400" b="1" dirty="0">
                <a:solidFill>
                  <a:srgbClr val="F59E0B"/>
                </a:solidFill>
                <a:latin typeface="Cambria" pitchFamily="34" charset="0"/>
                <a:ea typeface="Cambria" pitchFamily="34" charset="-122"/>
                <a:cs typeface="Cambria" pitchFamily="34" charset="-120"/>
              </a:rPr>
              <a:t>06</a:t>
            </a:r>
            <a:endParaRPr lang="en-US" sz="2400" dirty="0"/>
          </a:p>
        </p:txBody>
      </p:sp>
      <p:sp>
        <p:nvSpPr>
          <p:cNvPr id="41" name="Text 33"/>
          <p:cNvSpPr/>
          <p:nvPr/>
        </p:nvSpPr>
        <p:spPr>
          <a:xfrm>
            <a:off x="548640" y="5532120"/>
            <a:ext cx="11064240" cy="457200"/>
          </a:xfrm>
          <a:prstGeom prst="rect">
            <a:avLst/>
          </a:prstGeom>
          <a:noFill/>
          <a:ln/>
        </p:spPr>
        <p:txBody>
          <a:bodyPr wrap="square" lIns="0" tIns="0" rIns="0" bIns="0" rtlCol="0" anchor="ctr"/>
          <a:lstStyle/>
          <a:p>
            <a:pPr indent="0" marL="0">
              <a:buNone/>
            </a:pPr>
            <a:r>
              <a:rPr lang="en-US" sz="1250" i="1" dirty="0">
                <a:solidFill>
                  <a:srgbClr val="4F46E5"/>
                </a:solidFill>
                <a:latin typeface="Calibri" pitchFamily="34" charset="0"/>
                <a:ea typeface="Calibri" pitchFamily="34" charset="-122"/>
                <a:cs typeface="Calibri" pitchFamily="34" charset="-120"/>
              </a:rPr>
              <a:t>These six blocks map directly to Domain 1 (Tasks 1.1–1.7) plus the Domain 2 / Domain 5 ideas the exam threads through agentic scenarios.</a:t>
            </a:r>
            <a:endParaRPr lang="en-US" sz="1250" dirty="0"/>
          </a:p>
        </p:txBody>
      </p:sp>
      <p:sp>
        <p:nvSpPr>
          <p:cNvPr id="42" name="Text 34"/>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43" name="Text 35"/>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44" name="Text 36"/>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FRAMING · WHEN (NOT) TO BUILD AN AGENT</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First principle: workflows vs agents</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anthropic.com/engineering/building-effective-agents</a:t>
            </a:r>
            <a:endParaRPr lang="en-US" sz="1050" dirty="0"/>
          </a:p>
        </p:txBody>
      </p:sp>
      <p:sp>
        <p:nvSpPr>
          <p:cNvPr id="5" name="Text 3"/>
          <p:cNvSpPr/>
          <p:nvPr/>
        </p:nvSpPr>
        <p:spPr>
          <a:xfrm>
            <a:off x="548640" y="1371600"/>
            <a:ext cx="11064240" cy="640080"/>
          </a:xfrm>
          <a:prstGeom prst="rect">
            <a:avLst/>
          </a:prstGeom>
          <a:noFill/>
          <a:ln/>
        </p:spPr>
        <p:txBody>
          <a:bodyPr wrap="square" lIns="0" tIns="0" rIns="0" bIns="0" rtlCol="0" anchor="ctr"/>
          <a:lstStyle/>
          <a:p>
            <a:pPr indent="0" marL="0">
              <a:lnSpc>
                <a:spcPct val="106000"/>
              </a:lnSpc>
              <a:buNone/>
            </a:pPr>
            <a:r>
              <a:rPr lang="en-US" sz="1500" dirty="0">
                <a:solidFill>
                  <a:srgbClr val="1E293B"/>
                </a:solidFill>
                <a:latin typeface="Calibri" pitchFamily="34" charset="0"/>
                <a:ea typeface="Calibri" pitchFamily="34" charset="-122"/>
                <a:cs typeface="Calibri" pitchFamily="34" charset="-120"/>
              </a:rPr>
              <a:t>Anthropic's guidance: start with the simplest thing that works; add agency only when it demonstrably improves outcomes. Agents trade latency and cost for flexibility.</a:t>
            </a:r>
            <a:endParaRPr lang="en-US" sz="1500" dirty="0"/>
          </a:p>
        </p:txBody>
      </p:sp>
      <p:sp>
        <p:nvSpPr>
          <p:cNvPr id="6" name="Shape 4"/>
          <p:cNvSpPr/>
          <p:nvPr/>
        </p:nvSpPr>
        <p:spPr>
          <a:xfrm>
            <a:off x="548640" y="2194560"/>
            <a:ext cx="5394960" cy="2834640"/>
          </a:xfrm>
          <a:prstGeom prst="roundRect">
            <a:avLst>
              <a:gd name="adj" fmla="val 1935"/>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7" name="Shape 5"/>
          <p:cNvSpPr/>
          <p:nvPr/>
        </p:nvSpPr>
        <p:spPr>
          <a:xfrm>
            <a:off x="777240" y="2450592"/>
            <a:ext cx="658368" cy="658368"/>
          </a:xfrm>
          <a:prstGeom prst="ellipse">
            <a:avLst/>
          </a:prstGeom>
          <a:solidFill>
            <a:srgbClr val="4F46E5"/>
          </a:solidFill>
          <a:ln/>
          <a:effectLst>
            <a:outerShdw sx="100000" sy="100000" kx="0" ky="0" algn="bl" rotWithShape="0" blurRad="88900" dist="38100" dir="5400000">
              <a:srgbClr val="000000">
                <a:alpha val="16000"/>
              </a:srgbClr>
            </a:outerShdw>
          </a:effectLst>
        </p:spPr>
      </p:sp>
      <p:pic>
        <p:nvPicPr>
          <p:cNvPr id="8" name="Image 0" descr="preencoded.png">    </p:cNvPr>
          <p:cNvPicPr>
            <a:picLocks noChangeAspect="1"/>
          </p:cNvPicPr>
          <p:nvPr/>
        </p:nvPicPr>
        <p:blipFill>
          <a:blip r:embed="rId1"/>
          <a:stretch>
            <a:fillRect/>
          </a:stretch>
        </p:blipFill>
        <p:spPr>
          <a:xfrm>
            <a:off x="948416" y="2621768"/>
            <a:ext cx="316017" cy="316017"/>
          </a:xfrm>
          <a:prstGeom prst="rect">
            <a:avLst/>
          </a:prstGeom>
        </p:spPr>
      </p:pic>
      <p:sp>
        <p:nvSpPr>
          <p:cNvPr id="9" name="Text 6"/>
          <p:cNvSpPr/>
          <p:nvPr/>
        </p:nvSpPr>
        <p:spPr>
          <a:xfrm>
            <a:off x="1600200" y="2487168"/>
            <a:ext cx="4114800" cy="411480"/>
          </a:xfrm>
          <a:prstGeom prst="rect">
            <a:avLst/>
          </a:prstGeom>
          <a:noFill/>
          <a:ln/>
        </p:spPr>
        <p:txBody>
          <a:bodyPr wrap="square" lIns="0" tIns="0" rIns="0" bIns="0" rtlCol="0" anchor="ctr"/>
          <a:lstStyle/>
          <a:p>
            <a:pPr indent="0" marL="0">
              <a:buNone/>
            </a:pPr>
            <a:r>
              <a:rPr lang="en-US" sz="1700" b="1" dirty="0">
                <a:solidFill>
                  <a:srgbClr val="12132E"/>
                </a:solidFill>
                <a:latin typeface="Calibri" pitchFamily="34" charset="0"/>
                <a:ea typeface="Calibri" pitchFamily="34" charset="-122"/>
                <a:cs typeface="Calibri" pitchFamily="34" charset="-120"/>
              </a:rPr>
              <a:t>Workflow</a:t>
            </a:r>
            <a:endParaRPr lang="en-US" sz="1700" dirty="0"/>
          </a:p>
        </p:txBody>
      </p:sp>
      <p:sp>
        <p:nvSpPr>
          <p:cNvPr id="10" name="Text 7"/>
          <p:cNvSpPr/>
          <p:nvPr/>
        </p:nvSpPr>
        <p:spPr>
          <a:xfrm>
            <a:off x="1600200" y="2889504"/>
            <a:ext cx="4206240" cy="45720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LLM + tools orchestrated through predefined code paths.</a:t>
            </a:r>
            <a:endParaRPr lang="en-US" sz="1150" dirty="0"/>
          </a:p>
        </p:txBody>
      </p:sp>
      <p:sp>
        <p:nvSpPr>
          <p:cNvPr id="11" name="Text 8"/>
          <p:cNvSpPr/>
          <p:nvPr/>
        </p:nvSpPr>
        <p:spPr>
          <a:xfrm>
            <a:off x="914400" y="3429000"/>
            <a:ext cx="4846320" cy="1463040"/>
          </a:xfrm>
          <a:prstGeom prst="rect">
            <a:avLst/>
          </a:prstGeom>
          <a:noFill/>
          <a:ln/>
        </p:spPr>
        <p:txBody>
          <a:bodyPr wrap="square" lIns="0" tIns="0" rIns="0" bIns="0" rtlCol="0" anchor="ctr"/>
          <a:lstStyle/>
          <a:p>
            <a:pPr marL="342900" indent="-342900">
              <a:spcAft>
                <a:spcPts val="900"/>
              </a:spcAft>
              <a:buSzPct val="100000"/>
              <a:buChar char="•"/>
            </a:pPr>
            <a:r>
              <a:rPr lang="en-US" sz="1300" dirty="0">
                <a:solidFill>
                  <a:srgbClr val="1E293B"/>
                </a:solidFill>
                <a:latin typeface="Calibri" pitchFamily="34" charset="0"/>
                <a:ea typeface="Calibri" pitchFamily="34" charset="-122"/>
                <a:cs typeface="Calibri" pitchFamily="34" charset="-120"/>
              </a:rPr>
              <a:t>Predictable, consistent, debuggable</a:t>
            </a:r>
            <a:endParaRPr lang="en-US" sz="1300" dirty="0"/>
          </a:p>
          <a:p>
            <a:pPr marL="342900" indent="-342900">
              <a:spcAft>
                <a:spcPts val="900"/>
              </a:spcAft>
              <a:buSzPct val="100000"/>
              <a:buChar char="•"/>
            </a:pPr>
            <a:r>
              <a:rPr lang="en-US" sz="1300" dirty="0">
                <a:solidFill>
                  <a:srgbClr val="1E293B"/>
                </a:solidFill>
                <a:latin typeface="Calibri" pitchFamily="34" charset="0"/>
                <a:ea typeface="Calibri" pitchFamily="34" charset="-122"/>
                <a:cs typeface="Calibri" pitchFamily="34" charset="-120"/>
              </a:rPr>
              <a:t>Best for well-defined tasks</a:t>
            </a:r>
            <a:endParaRPr lang="en-US" sz="1300" dirty="0"/>
          </a:p>
          <a:p>
            <a:pPr marL="342900" indent="-342900">
              <a:spcAft>
                <a:spcPts val="900"/>
              </a:spcAft>
              <a:buSzPct val="100000"/>
              <a:buChar char="•"/>
            </a:pPr>
            <a:r>
              <a:rPr lang="en-US" sz="1300" dirty="0">
                <a:solidFill>
                  <a:srgbClr val="1E293B"/>
                </a:solidFill>
                <a:latin typeface="Calibri" pitchFamily="34" charset="0"/>
                <a:ea typeface="Calibri" pitchFamily="34" charset="-122"/>
                <a:cs typeface="Calibri" pitchFamily="34" charset="-120"/>
              </a:rPr>
              <a:t>You own the control flow</a:t>
            </a:r>
            <a:endParaRPr lang="en-US" sz="1300" dirty="0"/>
          </a:p>
        </p:txBody>
      </p:sp>
      <p:sp>
        <p:nvSpPr>
          <p:cNvPr id="12" name="Shape 9"/>
          <p:cNvSpPr/>
          <p:nvPr/>
        </p:nvSpPr>
        <p:spPr>
          <a:xfrm>
            <a:off x="6217920" y="2194560"/>
            <a:ext cx="5394960" cy="2834640"/>
          </a:xfrm>
          <a:prstGeom prst="roundRect">
            <a:avLst>
              <a:gd name="adj" fmla="val 1935"/>
            </a:avLst>
          </a:prstGeom>
          <a:solidFill>
            <a:srgbClr val="12132E"/>
          </a:solidFill>
          <a:ln/>
          <a:effectLst>
            <a:outerShdw sx="100000" sy="100000" kx="0" ky="0" algn="bl" rotWithShape="0" blurRad="88900" dist="38100" dir="5400000">
              <a:srgbClr val="000000">
                <a:alpha val="16000"/>
              </a:srgbClr>
            </a:outerShdw>
          </a:effectLst>
        </p:spPr>
      </p:sp>
      <p:sp>
        <p:nvSpPr>
          <p:cNvPr id="13" name="Shape 10"/>
          <p:cNvSpPr/>
          <p:nvPr/>
        </p:nvSpPr>
        <p:spPr>
          <a:xfrm>
            <a:off x="6446520" y="2450592"/>
            <a:ext cx="658368" cy="658368"/>
          </a:xfrm>
          <a:prstGeom prst="ellipse">
            <a:avLst/>
          </a:prstGeom>
          <a:solidFill>
            <a:srgbClr val="14B8A6"/>
          </a:solidFill>
          <a:ln/>
          <a:effectLst>
            <a:outerShdw sx="100000" sy="100000" kx="0" ky="0" algn="bl" rotWithShape="0" blurRad="88900" dist="38100" dir="5400000">
              <a:srgbClr val="000000">
                <a:alpha val="16000"/>
              </a:srgbClr>
            </a:outerShdw>
          </a:effectLst>
        </p:spPr>
      </p:sp>
      <p:pic>
        <p:nvPicPr>
          <p:cNvPr id="14" name="Image 1" descr="preencoded.png">    </p:cNvPr>
          <p:cNvPicPr>
            <a:picLocks noChangeAspect="1"/>
          </p:cNvPicPr>
          <p:nvPr/>
        </p:nvPicPr>
        <p:blipFill>
          <a:blip r:embed="rId2"/>
          <a:stretch>
            <a:fillRect/>
          </a:stretch>
        </p:blipFill>
        <p:spPr>
          <a:xfrm>
            <a:off x="6617696" y="2621768"/>
            <a:ext cx="316017" cy="316017"/>
          </a:xfrm>
          <a:prstGeom prst="rect">
            <a:avLst/>
          </a:prstGeom>
        </p:spPr>
      </p:pic>
      <p:sp>
        <p:nvSpPr>
          <p:cNvPr id="15" name="Text 11"/>
          <p:cNvSpPr/>
          <p:nvPr/>
        </p:nvSpPr>
        <p:spPr>
          <a:xfrm>
            <a:off x="7269480" y="2487168"/>
            <a:ext cx="4114800" cy="4114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Agent</a:t>
            </a:r>
            <a:endParaRPr lang="en-US" sz="1700" dirty="0"/>
          </a:p>
        </p:txBody>
      </p:sp>
      <p:sp>
        <p:nvSpPr>
          <p:cNvPr id="16" name="Text 12"/>
          <p:cNvSpPr/>
          <p:nvPr/>
        </p:nvSpPr>
        <p:spPr>
          <a:xfrm>
            <a:off x="7269480" y="2889504"/>
            <a:ext cx="4206240" cy="457200"/>
          </a:xfrm>
          <a:prstGeom prst="rect">
            <a:avLst/>
          </a:prstGeom>
          <a:noFill/>
          <a:ln/>
        </p:spPr>
        <p:txBody>
          <a:bodyPr wrap="square" lIns="0" tIns="0" rIns="0" bIns="0" rtlCol="0" anchor="ctr"/>
          <a:lstStyle/>
          <a:p>
            <a:pPr indent="0" marL="0">
              <a:buNone/>
            </a:pPr>
            <a:r>
              <a:rPr lang="en-US" sz="1150" i="1" dirty="0">
                <a:solidFill>
                  <a:srgbClr val="E2E8F0"/>
                </a:solidFill>
                <a:latin typeface="Calibri" pitchFamily="34" charset="0"/>
                <a:ea typeface="Calibri" pitchFamily="34" charset="-122"/>
                <a:cs typeface="Calibri" pitchFamily="34" charset="-120"/>
              </a:rPr>
              <a:t>LLM dynamically directs its own process &amp; tool use in a loop.</a:t>
            </a:r>
            <a:endParaRPr lang="en-US" sz="1150" dirty="0"/>
          </a:p>
        </p:txBody>
      </p:sp>
      <p:sp>
        <p:nvSpPr>
          <p:cNvPr id="17" name="Text 13"/>
          <p:cNvSpPr/>
          <p:nvPr/>
        </p:nvSpPr>
        <p:spPr>
          <a:xfrm>
            <a:off x="6583680" y="3429000"/>
            <a:ext cx="4846320" cy="1463040"/>
          </a:xfrm>
          <a:prstGeom prst="rect">
            <a:avLst/>
          </a:prstGeom>
          <a:noFill/>
          <a:ln/>
        </p:spPr>
        <p:txBody>
          <a:bodyPr wrap="square" lIns="0" tIns="0" rIns="0" bIns="0" rtlCol="0" anchor="ctr"/>
          <a:lstStyle/>
          <a:p>
            <a:pPr marL="342900" indent="-342900">
              <a:spcAft>
                <a:spcPts val="900"/>
              </a:spcAft>
              <a:buSzPct val="100000"/>
              <a:buChar char="•"/>
            </a:pPr>
            <a:r>
              <a:rPr lang="en-US" sz="1300" dirty="0">
                <a:solidFill>
                  <a:srgbClr val="E2E8F0"/>
                </a:solidFill>
                <a:latin typeface="Calibri" pitchFamily="34" charset="0"/>
                <a:ea typeface="Calibri" pitchFamily="34" charset="-122"/>
                <a:cs typeface="Calibri" pitchFamily="34" charset="-120"/>
              </a:rPr>
              <a:t>Flexible, model-driven, scales to open-ended work</a:t>
            </a:r>
            <a:endParaRPr lang="en-US" sz="1300" dirty="0"/>
          </a:p>
          <a:p>
            <a:pPr marL="342900" indent="-342900">
              <a:spcAft>
                <a:spcPts val="900"/>
              </a:spcAft>
              <a:buSzPct val="100000"/>
              <a:buChar char="•"/>
            </a:pPr>
            <a:r>
              <a:rPr lang="en-US" sz="1300" dirty="0">
                <a:solidFill>
                  <a:srgbClr val="E2E8F0"/>
                </a:solidFill>
                <a:latin typeface="Calibri" pitchFamily="34" charset="0"/>
                <a:ea typeface="Calibri" pitchFamily="34" charset="-122"/>
                <a:cs typeface="Calibri" pitchFamily="34" charset="-120"/>
              </a:rPr>
              <a:t>Best when steps can't be predicted</a:t>
            </a:r>
            <a:endParaRPr lang="en-US" sz="1300" dirty="0"/>
          </a:p>
          <a:p>
            <a:pPr marL="342900" indent="-342900">
              <a:spcAft>
                <a:spcPts val="900"/>
              </a:spcAft>
              <a:buSzPct val="100000"/>
              <a:buChar char="•"/>
            </a:pPr>
            <a:r>
              <a:rPr lang="en-US" sz="1300" dirty="0">
                <a:solidFill>
                  <a:srgbClr val="E2E8F0"/>
                </a:solidFill>
                <a:latin typeface="Calibri" pitchFamily="34" charset="0"/>
                <a:ea typeface="Calibri" pitchFamily="34" charset="-122"/>
                <a:cs typeface="Calibri" pitchFamily="34" charset="-120"/>
              </a:rPr>
              <a:t>Higher cost; risk of compounding errors</a:t>
            </a:r>
            <a:endParaRPr lang="en-US" sz="1300" dirty="0"/>
          </a:p>
        </p:txBody>
      </p:sp>
      <p:sp>
        <p:nvSpPr>
          <p:cNvPr id="18" name="Shape 14"/>
          <p:cNvSpPr/>
          <p:nvPr/>
        </p:nvSpPr>
        <p:spPr>
          <a:xfrm>
            <a:off x="548640" y="5166360"/>
            <a:ext cx="11064240" cy="777240"/>
          </a:xfrm>
          <a:prstGeom prst="roundRect">
            <a:avLst>
              <a:gd name="adj" fmla="val 7059"/>
            </a:avLst>
          </a:prstGeom>
          <a:solidFill>
            <a:srgbClr val="FFFBEB"/>
          </a:solidFill>
          <a:ln/>
        </p:spPr>
      </p:sp>
      <p:sp>
        <p:nvSpPr>
          <p:cNvPr id="19" name="Text 15"/>
          <p:cNvSpPr/>
          <p:nvPr/>
        </p:nvSpPr>
        <p:spPr>
          <a:xfrm>
            <a:off x="822960" y="5230368"/>
            <a:ext cx="10515600" cy="640080"/>
          </a:xfrm>
          <a:prstGeom prst="rect">
            <a:avLst/>
          </a:prstGeom>
          <a:noFill/>
          <a:ln/>
        </p:spPr>
        <p:txBody>
          <a:bodyPr wrap="square" lIns="0" tIns="0" rIns="0" bIns="0" rtlCol="0" anchor="ctr"/>
          <a:lstStyle/>
          <a:p>
            <a:pPr indent="0" marL="0">
              <a:lnSpc>
                <a:spcPct val="103000"/>
              </a:lnSpc>
              <a:buNone/>
            </a:pPr>
            <a:r>
              <a:rPr lang="en-US" sz="1250" b="1" dirty="0">
                <a:solidFill>
                  <a:srgbClr val="92400E"/>
                </a:solidFill>
                <a:latin typeface="Calibri" pitchFamily="34" charset="0"/>
                <a:ea typeface="Calibri" pitchFamily="34" charset="-122"/>
                <a:cs typeface="Calibri" pitchFamily="34" charset="-120"/>
              </a:rPr>
              <a:t>Senior takeaway:  </a:t>
            </a:r>
            <a:pPr indent="0" marL="0">
              <a:lnSpc>
                <a:spcPct val="103000"/>
              </a:lnSpc>
              <a:buNone/>
            </a:pPr>
            <a:r>
              <a:rPr lang="en-US" sz="1250" dirty="0">
                <a:solidFill>
                  <a:srgbClr val="1E293B"/>
                </a:solidFill>
                <a:latin typeface="Calibri" pitchFamily="34" charset="0"/>
                <a:ea typeface="Calibri" pitchFamily="34" charset="-122"/>
                <a:cs typeface="Calibri" pitchFamily="34" charset="-120"/>
              </a:rPr>
              <a:t>“agentic” is a spectrum. Reach for full autonomy only for open-ended tasks in trusted environments with good feedback signals. Everything in this deck applies to both — the SDK runs the loop either way.</a:t>
            </a:r>
            <a:endParaRPr lang="en-US" sz="1250" dirty="0"/>
          </a:p>
        </p:txBody>
      </p:sp>
      <p:sp>
        <p:nvSpPr>
          <p:cNvPr id="20" name="Text 16"/>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21" name="Text 17"/>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22" name="Text 18"/>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FRAMING · BUILDING BLOCKS</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The composable patterns you'll combine</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anthropic.com/engineering/building-effective-agents</a:t>
            </a:r>
            <a:endParaRPr lang="en-US" sz="1050" dirty="0"/>
          </a:p>
        </p:txBody>
      </p:sp>
      <p:sp>
        <p:nvSpPr>
          <p:cNvPr id="5" name="Shape 3"/>
          <p:cNvSpPr/>
          <p:nvPr/>
        </p:nvSpPr>
        <p:spPr>
          <a:xfrm>
            <a:off x="548640" y="1417320"/>
            <a:ext cx="3456432" cy="2011680"/>
          </a:xfrm>
          <a:prstGeom prst="roundRect">
            <a:avLst>
              <a:gd name="adj" fmla="val 2727"/>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6" name="Shape 4"/>
          <p:cNvSpPr/>
          <p:nvPr/>
        </p:nvSpPr>
        <p:spPr>
          <a:xfrm>
            <a:off x="786384" y="1655064"/>
            <a:ext cx="640080" cy="640080"/>
          </a:xfrm>
          <a:prstGeom prst="ellipse">
            <a:avLst/>
          </a:prstGeom>
          <a:solidFill>
            <a:srgbClr val="4F46E5"/>
          </a:solidFill>
          <a:ln/>
          <a:effectLst>
            <a:outerShdw sx="100000" sy="100000" kx="0" ky="0" algn="bl" rotWithShape="0" blurRad="88900" dist="38100" dir="5400000">
              <a:srgbClr val="000000">
                <a:alpha val="16000"/>
              </a:srgbClr>
            </a:outerShdw>
          </a:effectLst>
        </p:spPr>
      </p:sp>
      <p:pic>
        <p:nvPicPr>
          <p:cNvPr id="7" name="Image 0" descr="preencoded.png">    </p:cNvPr>
          <p:cNvPicPr>
            <a:picLocks noChangeAspect="1"/>
          </p:cNvPicPr>
          <p:nvPr/>
        </p:nvPicPr>
        <p:blipFill>
          <a:blip r:embed="rId1"/>
          <a:stretch>
            <a:fillRect/>
          </a:stretch>
        </p:blipFill>
        <p:spPr>
          <a:xfrm>
            <a:off x="952805" y="1821485"/>
            <a:ext cx="307238" cy="307238"/>
          </a:xfrm>
          <a:prstGeom prst="rect">
            <a:avLst/>
          </a:prstGeom>
        </p:spPr>
      </p:pic>
      <p:sp>
        <p:nvSpPr>
          <p:cNvPr id="8" name="Text 5"/>
          <p:cNvSpPr/>
          <p:nvPr/>
        </p:nvSpPr>
        <p:spPr>
          <a:xfrm>
            <a:off x="1554480" y="1691640"/>
            <a:ext cx="2313432" cy="457200"/>
          </a:xfrm>
          <a:prstGeom prst="rect">
            <a:avLst/>
          </a:prstGeom>
          <a:noFill/>
          <a:ln/>
        </p:spPr>
        <p:txBody>
          <a:bodyPr wrap="square" lIns="0" tIns="0" rIns="0" bIns="0" rtlCol="0" anchor="ctr"/>
          <a:lstStyle/>
          <a:p>
            <a:pPr indent="0" marL="0">
              <a:buNone/>
            </a:pPr>
            <a:r>
              <a:rPr lang="en-US" sz="1450" b="1" dirty="0">
                <a:solidFill>
                  <a:srgbClr val="12132E"/>
                </a:solidFill>
                <a:latin typeface="Calibri" pitchFamily="34" charset="0"/>
                <a:ea typeface="Calibri" pitchFamily="34" charset="-122"/>
                <a:cs typeface="Calibri" pitchFamily="34" charset="-120"/>
              </a:rPr>
              <a:t>Prompt chaining</a:t>
            </a:r>
            <a:endParaRPr lang="en-US" sz="1450" dirty="0"/>
          </a:p>
        </p:txBody>
      </p:sp>
      <p:sp>
        <p:nvSpPr>
          <p:cNvPr id="9" name="Text 6"/>
          <p:cNvSpPr/>
          <p:nvPr/>
        </p:nvSpPr>
        <p:spPr>
          <a:xfrm>
            <a:off x="804672" y="2377440"/>
            <a:ext cx="2944368" cy="594360"/>
          </a:xfrm>
          <a:prstGeom prst="rect">
            <a:avLst/>
          </a:prstGeom>
          <a:noFill/>
          <a:ln/>
        </p:spPr>
        <p:txBody>
          <a:bodyPr wrap="square" lIns="0" tIns="0" rIns="0" bIns="0" rtlCol="0" anchor="ctr"/>
          <a:lstStyle/>
          <a:p>
            <a:pPr indent="0" marL="0">
              <a:lnSpc>
                <a:spcPct val="103000"/>
              </a:lnSpc>
              <a:buNone/>
            </a:pPr>
            <a:r>
              <a:rPr lang="en-US" sz="1150" dirty="0">
                <a:solidFill>
                  <a:srgbClr val="1E293B"/>
                </a:solidFill>
                <a:latin typeface="Calibri" pitchFamily="34" charset="0"/>
                <a:ea typeface="Calibri" pitchFamily="34" charset="-122"/>
                <a:cs typeface="Calibri" pitchFamily="34" charset="-120"/>
              </a:rPr>
              <a:t>Fixed sequential steps; gate between them.</a:t>
            </a:r>
            <a:endParaRPr lang="en-US" sz="1150" dirty="0"/>
          </a:p>
        </p:txBody>
      </p:sp>
      <p:sp>
        <p:nvSpPr>
          <p:cNvPr id="10" name="Text 7"/>
          <p:cNvSpPr/>
          <p:nvPr/>
        </p:nvSpPr>
        <p:spPr>
          <a:xfrm>
            <a:off x="804672" y="2935224"/>
            <a:ext cx="2944368" cy="411480"/>
          </a:xfrm>
          <a:prstGeom prst="rect">
            <a:avLst/>
          </a:prstGeom>
          <a:noFill/>
          <a:ln/>
        </p:spPr>
        <p:txBody>
          <a:bodyPr wrap="square" lIns="0" tIns="0" rIns="0" bIns="0" rtlCol="0" anchor="ctr"/>
          <a:lstStyle/>
          <a:p>
            <a:pPr indent="0" marL="0">
              <a:buNone/>
            </a:pPr>
            <a:r>
              <a:rPr lang="en-US" sz="1050" b="1" i="1" dirty="0">
                <a:solidFill>
                  <a:srgbClr val="4F46E5"/>
                </a:solidFill>
                <a:latin typeface="Calibri" pitchFamily="34" charset="0"/>
                <a:ea typeface="Calibri" pitchFamily="34" charset="-122"/>
                <a:cs typeface="Calibri" pitchFamily="34" charset="-120"/>
              </a:rPr>
              <a:t>Use for: </a:t>
            </a:r>
            <a:pPr indent="0" marL="0">
              <a:buNone/>
            </a:pPr>
            <a:r>
              <a:rPr lang="en-US" sz="1050" i="1" dirty="0">
                <a:solidFill>
                  <a:srgbClr val="64748B"/>
                </a:solidFill>
                <a:latin typeface="Calibri" pitchFamily="34" charset="0"/>
                <a:ea typeface="Calibri" pitchFamily="34" charset="-122"/>
                <a:cs typeface="Calibri" pitchFamily="34" charset="-120"/>
              </a:rPr>
              <a:t>Predictable multi-aspect work</a:t>
            </a:r>
            <a:endParaRPr lang="en-US" sz="1050" dirty="0"/>
          </a:p>
        </p:txBody>
      </p:sp>
      <p:sp>
        <p:nvSpPr>
          <p:cNvPr id="11" name="Shape 8"/>
          <p:cNvSpPr/>
          <p:nvPr/>
        </p:nvSpPr>
        <p:spPr>
          <a:xfrm>
            <a:off x="4389120" y="1417320"/>
            <a:ext cx="3456432" cy="2011680"/>
          </a:xfrm>
          <a:prstGeom prst="roundRect">
            <a:avLst>
              <a:gd name="adj" fmla="val 2727"/>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2" name="Shape 9"/>
          <p:cNvSpPr/>
          <p:nvPr/>
        </p:nvSpPr>
        <p:spPr>
          <a:xfrm>
            <a:off x="4626864" y="1655064"/>
            <a:ext cx="640080" cy="640080"/>
          </a:xfrm>
          <a:prstGeom prst="ellipse">
            <a:avLst/>
          </a:prstGeom>
          <a:solidFill>
            <a:srgbClr val="6366F1"/>
          </a:solidFill>
          <a:ln/>
          <a:effectLst>
            <a:outerShdw sx="100000" sy="100000" kx="0" ky="0" algn="bl" rotWithShape="0" blurRad="88900" dist="38100" dir="5400000">
              <a:srgbClr val="000000">
                <a:alpha val="16000"/>
              </a:srgbClr>
            </a:outerShdw>
          </a:effectLst>
        </p:spPr>
      </p:sp>
      <p:pic>
        <p:nvPicPr>
          <p:cNvPr id="13" name="Image 1" descr="preencoded.png">    </p:cNvPr>
          <p:cNvPicPr>
            <a:picLocks noChangeAspect="1"/>
          </p:cNvPicPr>
          <p:nvPr/>
        </p:nvPicPr>
        <p:blipFill>
          <a:blip r:embed="rId2"/>
          <a:stretch>
            <a:fillRect/>
          </a:stretch>
        </p:blipFill>
        <p:spPr>
          <a:xfrm>
            <a:off x="4793285" y="1821485"/>
            <a:ext cx="307238" cy="307238"/>
          </a:xfrm>
          <a:prstGeom prst="rect">
            <a:avLst/>
          </a:prstGeom>
        </p:spPr>
      </p:pic>
      <p:sp>
        <p:nvSpPr>
          <p:cNvPr id="14" name="Text 10"/>
          <p:cNvSpPr/>
          <p:nvPr/>
        </p:nvSpPr>
        <p:spPr>
          <a:xfrm>
            <a:off x="5394960" y="1691640"/>
            <a:ext cx="2313432" cy="457200"/>
          </a:xfrm>
          <a:prstGeom prst="rect">
            <a:avLst/>
          </a:prstGeom>
          <a:noFill/>
          <a:ln/>
        </p:spPr>
        <p:txBody>
          <a:bodyPr wrap="square" lIns="0" tIns="0" rIns="0" bIns="0" rtlCol="0" anchor="ctr"/>
          <a:lstStyle/>
          <a:p>
            <a:pPr indent="0" marL="0">
              <a:buNone/>
            </a:pPr>
            <a:r>
              <a:rPr lang="en-US" sz="1450" b="1" dirty="0">
                <a:solidFill>
                  <a:srgbClr val="12132E"/>
                </a:solidFill>
                <a:latin typeface="Calibri" pitchFamily="34" charset="0"/>
                <a:ea typeface="Calibri" pitchFamily="34" charset="-122"/>
                <a:cs typeface="Calibri" pitchFamily="34" charset="-120"/>
              </a:rPr>
              <a:t>Routing</a:t>
            </a:r>
            <a:endParaRPr lang="en-US" sz="1450" dirty="0"/>
          </a:p>
        </p:txBody>
      </p:sp>
      <p:sp>
        <p:nvSpPr>
          <p:cNvPr id="15" name="Text 11"/>
          <p:cNvSpPr/>
          <p:nvPr/>
        </p:nvSpPr>
        <p:spPr>
          <a:xfrm>
            <a:off x="4645152" y="2377440"/>
            <a:ext cx="2944368" cy="594360"/>
          </a:xfrm>
          <a:prstGeom prst="rect">
            <a:avLst/>
          </a:prstGeom>
          <a:noFill/>
          <a:ln/>
        </p:spPr>
        <p:txBody>
          <a:bodyPr wrap="square" lIns="0" tIns="0" rIns="0" bIns="0" rtlCol="0" anchor="ctr"/>
          <a:lstStyle/>
          <a:p>
            <a:pPr indent="0" marL="0">
              <a:lnSpc>
                <a:spcPct val="103000"/>
              </a:lnSpc>
              <a:buNone/>
            </a:pPr>
            <a:r>
              <a:rPr lang="en-US" sz="1150" dirty="0">
                <a:solidFill>
                  <a:srgbClr val="1E293B"/>
                </a:solidFill>
                <a:latin typeface="Calibri" pitchFamily="34" charset="0"/>
                <a:ea typeface="Calibri" pitchFamily="34" charset="-122"/>
                <a:cs typeface="Calibri" pitchFamily="34" charset="-120"/>
              </a:rPr>
              <a:t>Classify input → specialized handler.</a:t>
            </a:r>
            <a:endParaRPr lang="en-US" sz="1150" dirty="0"/>
          </a:p>
        </p:txBody>
      </p:sp>
      <p:sp>
        <p:nvSpPr>
          <p:cNvPr id="16" name="Text 12"/>
          <p:cNvSpPr/>
          <p:nvPr/>
        </p:nvSpPr>
        <p:spPr>
          <a:xfrm>
            <a:off x="4645152" y="2935224"/>
            <a:ext cx="2944368" cy="411480"/>
          </a:xfrm>
          <a:prstGeom prst="rect">
            <a:avLst/>
          </a:prstGeom>
          <a:noFill/>
          <a:ln/>
        </p:spPr>
        <p:txBody>
          <a:bodyPr wrap="square" lIns="0" tIns="0" rIns="0" bIns="0" rtlCol="0" anchor="ctr"/>
          <a:lstStyle/>
          <a:p>
            <a:pPr indent="0" marL="0">
              <a:buNone/>
            </a:pPr>
            <a:r>
              <a:rPr lang="en-US" sz="1050" b="1" i="1" dirty="0">
                <a:solidFill>
                  <a:srgbClr val="6366F1"/>
                </a:solidFill>
                <a:latin typeface="Calibri" pitchFamily="34" charset="0"/>
                <a:ea typeface="Calibri" pitchFamily="34" charset="-122"/>
                <a:cs typeface="Calibri" pitchFamily="34" charset="-120"/>
              </a:rPr>
              <a:t>Use for: </a:t>
            </a:r>
            <a:pPr indent="0" marL="0">
              <a:buNone/>
            </a:pPr>
            <a:r>
              <a:rPr lang="en-US" sz="1050" i="1" dirty="0">
                <a:solidFill>
                  <a:srgbClr val="64748B"/>
                </a:solidFill>
                <a:latin typeface="Calibri" pitchFamily="34" charset="0"/>
                <a:ea typeface="Calibri" pitchFamily="34" charset="-122"/>
                <a:cs typeface="Calibri" pitchFamily="34" charset="-120"/>
              </a:rPr>
              <a:t>Distinct categories, separate prompts</a:t>
            </a:r>
            <a:endParaRPr lang="en-US" sz="1050" dirty="0"/>
          </a:p>
        </p:txBody>
      </p:sp>
      <p:sp>
        <p:nvSpPr>
          <p:cNvPr id="17" name="Shape 13"/>
          <p:cNvSpPr/>
          <p:nvPr/>
        </p:nvSpPr>
        <p:spPr>
          <a:xfrm>
            <a:off x="8229600" y="1417320"/>
            <a:ext cx="3456432" cy="2011680"/>
          </a:xfrm>
          <a:prstGeom prst="roundRect">
            <a:avLst>
              <a:gd name="adj" fmla="val 2727"/>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8" name="Shape 14"/>
          <p:cNvSpPr/>
          <p:nvPr/>
        </p:nvSpPr>
        <p:spPr>
          <a:xfrm>
            <a:off x="8467344" y="1655064"/>
            <a:ext cx="640080" cy="640080"/>
          </a:xfrm>
          <a:prstGeom prst="ellipse">
            <a:avLst/>
          </a:prstGeom>
          <a:solidFill>
            <a:srgbClr val="14B8A6"/>
          </a:solidFill>
          <a:ln/>
          <a:effectLst>
            <a:outerShdw sx="100000" sy="100000" kx="0" ky="0" algn="bl" rotWithShape="0" blurRad="88900" dist="38100" dir="5400000">
              <a:srgbClr val="000000">
                <a:alpha val="16000"/>
              </a:srgbClr>
            </a:outerShdw>
          </a:effectLst>
        </p:spPr>
      </p:sp>
      <p:pic>
        <p:nvPicPr>
          <p:cNvPr id="19" name="Image 2" descr="preencoded.png">    </p:cNvPr>
          <p:cNvPicPr>
            <a:picLocks noChangeAspect="1"/>
          </p:cNvPicPr>
          <p:nvPr/>
        </p:nvPicPr>
        <p:blipFill>
          <a:blip r:embed="rId3"/>
          <a:stretch>
            <a:fillRect/>
          </a:stretch>
        </p:blipFill>
        <p:spPr>
          <a:xfrm>
            <a:off x="8633765" y="1821485"/>
            <a:ext cx="307238" cy="307238"/>
          </a:xfrm>
          <a:prstGeom prst="rect">
            <a:avLst/>
          </a:prstGeom>
        </p:spPr>
      </p:pic>
      <p:sp>
        <p:nvSpPr>
          <p:cNvPr id="20" name="Text 15"/>
          <p:cNvSpPr/>
          <p:nvPr/>
        </p:nvSpPr>
        <p:spPr>
          <a:xfrm>
            <a:off x="9235440" y="1691640"/>
            <a:ext cx="2313432" cy="457200"/>
          </a:xfrm>
          <a:prstGeom prst="rect">
            <a:avLst/>
          </a:prstGeom>
          <a:noFill/>
          <a:ln/>
        </p:spPr>
        <p:txBody>
          <a:bodyPr wrap="square" lIns="0" tIns="0" rIns="0" bIns="0" rtlCol="0" anchor="ctr"/>
          <a:lstStyle/>
          <a:p>
            <a:pPr indent="0" marL="0">
              <a:buNone/>
            </a:pPr>
            <a:r>
              <a:rPr lang="en-US" sz="1450" b="1" dirty="0">
                <a:solidFill>
                  <a:srgbClr val="12132E"/>
                </a:solidFill>
                <a:latin typeface="Calibri" pitchFamily="34" charset="0"/>
                <a:ea typeface="Calibri" pitchFamily="34" charset="-122"/>
                <a:cs typeface="Calibri" pitchFamily="34" charset="-120"/>
              </a:rPr>
              <a:t>Parallelization</a:t>
            </a:r>
            <a:endParaRPr lang="en-US" sz="1450" dirty="0"/>
          </a:p>
        </p:txBody>
      </p:sp>
      <p:sp>
        <p:nvSpPr>
          <p:cNvPr id="21" name="Text 16"/>
          <p:cNvSpPr/>
          <p:nvPr/>
        </p:nvSpPr>
        <p:spPr>
          <a:xfrm>
            <a:off x="8485632" y="2377440"/>
            <a:ext cx="2944368" cy="594360"/>
          </a:xfrm>
          <a:prstGeom prst="rect">
            <a:avLst/>
          </a:prstGeom>
          <a:noFill/>
          <a:ln/>
        </p:spPr>
        <p:txBody>
          <a:bodyPr wrap="square" lIns="0" tIns="0" rIns="0" bIns="0" rtlCol="0" anchor="ctr"/>
          <a:lstStyle/>
          <a:p>
            <a:pPr indent="0" marL="0">
              <a:lnSpc>
                <a:spcPct val="103000"/>
              </a:lnSpc>
              <a:buNone/>
            </a:pPr>
            <a:r>
              <a:rPr lang="en-US" sz="1150" dirty="0">
                <a:solidFill>
                  <a:srgbClr val="1E293B"/>
                </a:solidFill>
                <a:latin typeface="Calibri" pitchFamily="34" charset="0"/>
                <a:ea typeface="Calibri" pitchFamily="34" charset="-122"/>
                <a:cs typeface="Calibri" pitchFamily="34" charset="-120"/>
              </a:rPr>
              <a:t>Sectioning or voting, aggregated.</a:t>
            </a:r>
            <a:endParaRPr lang="en-US" sz="1150" dirty="0"/>
          </a:p>
        </p:txBody>
      </p:sp>
      <p:sp>
        <p:nvSpPr>
          <p:cNvPr id="22" name="Text 17"/>
          <p:cNvSpPr/>
          <p:nvPr/>
        </p:nvSpPr>
        <p:spPr>
          <a:xfrm>
            <a:off x="8485632" y="2935224"/>
            <a:ext cx="2944368" cy="411480"/>
          </a:xfrm>
          <a:prstGeom prst="rect">
            <a:avLst/>
          </a:prstGeom>
          <a:noFill/>
          <a:ln/>
        </p:spPr>
        <p:txBody>
          <a:bodyPr wrap="square" lIns="0" tIns="0" rIns="0" bIns="0" rtlCol="0" anchor="ctr"/>
          <a:lstStyle/>
          <a:p>
            <a:pPr indent="0" marL="0">
              <a:buNone/>
            </a:pPr>
            <a:r>
              <a:rPr lang="en-US" sz="1050" b="1" i="1" dirty="0">
                <a:solidFill>
                  <a:srgbClr val="14B8A6"/>
                </a:solidFill>
                <a:latin typeface="Calibri" pitchFamily="34" charset="0"/>
                <a:ea typeface="Calibri" pitchFamily="34" charset="-122"/>
                <a:cs typeface="Calibri" pitchFamily="34" charset="-120"/>
              </a:rPr>
              <a:t>Use for: </a:t>
            </a:r>
            <a:pPr indent="0" marL="0">
              <a:buNone/>
            </a:pPr>
            <a:r>
              <a:rPr lang="en-US" sz="1050" i="1" dirty="0">
                <a:solidFill>
                  <a:srgbClr val="64748B"/>
                </a:solidFill>
                <a:latin typeface="Calibri" pitchFamily="34" charset="0"/>
                <a:ea typeface="Calibri" pitchFamily="34" charset="-122"/>
                <a:cs typeface="Calibri" pitchFamily="34" charset="-120"/>
              </a:rPr>
              <a:t>Speed or multiple perspectives</a:t>
            </a:r>
            <a:endParaRPr lang="en-US" sz="1050" dirty="0"/>
          </a:p>
        </p:txBody>
      </p:sp>
      <p:sp>
        <p:nvSpPr>
          <p:cNvPr id="23" name="Shape 18"/>
          <p:cNvSpPr/>
          <p:nvPr/>
        </p:nvSpPr>
        <p:spPr>
          <a:xfrm>
            <a:off x="548640" y="3703320"/>
            <a:ext cx="3456432" cy="2011680"/>
          </a:xfrm>
          <a:prstGeom prst="roundRect">
            <a:avLst>
              <a:gd name="adj" fmla="val 2727"/>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24" name="Shape 19"/>
          <p:cNvSpPr/>
          <p:nvPr/>
        </p:nvSpPr>
        <p:spPr>
          <a:xfrm>
            <a:off x="786384" y="3941064"/>
            <a:ext cx="640080" cy="640080"/>
          </a:xfrm>
          <a:prstGeom prst="ellipse">
            <a:avLst/>
          </a:prstGeom>
          <a:solidFill>
            <a:srgbClr val="8B5CF6"/>
          </a:solidFill>
          <a:ln/>
          <a:effectLst>
            <a:outerShdw sx="100000" sy="100000" kx="0" ky="0" algn="bl" rotWithShape="0" blurRad="88900" dist="38100" dir="5400000">
              <a:srgbClr val="000000">
                <a:alpha val="16000"/>
              </a:srgbClr>
            </a:outerShdw>
          </a:effectLst>
        </p:spPr>
      </p:sp>
      <p:pic>
        <p:nvPicPr>
          <p:cNvPr id="25" name="Image 3" descr="preencoded.png">    </p:cNvPr>
          <p:cNvPicPr>
            <a:picLocks noChangeAspect="1"/>
          </p:cNvPicPr>
          <p:nvPr/>
        </p:nvPicPr>
        <p:blipFill>
          <a:blip r:embed="rId4"/>
          <a:stretch>
            <a:fillRect/>
          </a:stretch>
        </p:blipFill>
        <p:spPr>
          <a:xfrm>
            <a:off x="952805" y="4107485"/>
            <a:ext cx="307238" cy="307238"/>
          </a:xfrm>
          <a:prstGeom prst="rect">
            <a:avLst/>
          </a:prstGeom>
        </p:spPr>
      </p:pic>
      <p:sp>
        <p:nvSpPr>
          <p:cNvPr id="26" name="Text 20"/>
          <p:cNvSpPr/>
          <p:nvPr/>
        </p:nvSpPr>
        <p:spPr>
          <a:xfrm>
            <a:off x="1554480" y="3977640"/>
            <a:ext cx="2313432" cy="457200"/>
          </a:xfrm>
          <a:prstGeom prst="rect">
            <a:avLst/>
          </a:prstGeom>
          <a:noFill/>
          <a:ln/>
        </p:spPr>
        <p:txBody>
          <a:bodyPr wrap="square" lIns="0" tIns="0" rIns="0" bIns="0" rtlCol="0" anchor="ctr"/>
          <a:lstStyle/>
          <a:p>
            <a:pPr indent="0" marL="0">
              <a:buNone/>
            </a:pPr>
            <a:r>
              <a:rPr lang="en-US" sz="1450" b="1" dirty="0">
                <a:solidFill>
                  <a:srgbClr val="12132E"/>
                </a:solidFill>
                <a:latin typeface="Calibri" pitchFamily="34" charset="0"/>
                <a:ea typeface="Calibri" pitchFamily="34" charset="-122"/>
                <a:cs typeface="Calibri" pitchFamily="34" charset="-120"/>
              </a:rPr>
              <a:t>Orchestrator–workers</a:t>
            </a:r>
            <a:endParaRPr lang="en-US" sz="1450" dirty="0"/>
          </a:p>
        </p:txBody>
      </p:sp>
      <p:sp>
        <p:nvSpPr>
          <p:cNvPr id="27" name="Text 21"/>
          <p:cNvSpPr/>
          <p:nvPr/>
        </p:nvSpPr>
        <p:spPr>
          <a:xfrm>
            <a:off x="804672" y="4663440"/>
            <a:ext cx="2944368" cy="594360"/>
          </a:xfrm>
          <a:prstGeom prst="rect">
            <a:avLst/>
          </a:prstGeom>
          <a:noFill/>
          <a:ln/>
        </p:spPr>
        <p:txBody>
          <a:bodyPr wrap="square" lIns="0" tIns="0" rIns="0" bIns="0" rtlCol="0" anchor="ctr"/>
          <a:lstStyle/>
          <a:p>
            <a:pPr indent="0" marL="0">
              <a:lnSpc>
                <a:spcPct val="103000"/>
              </a:lnSpc>
              <a:buNone/>
            </a:pPr>
            <a:r>
              <a:rPr lang="en-US" sz="1150" dirty="0">
                <a:solidFill>
                  <a:srgbClr val="1E293B"/>
                </a:solidFill>
                <a:latin typeface="Calibri" pitchFamily="34" charset="0"/>
                <a:ea typeface="Calibri" pitchFamily="34" charset="-122"/>
                <a:cs typeface="Calibri" pitchFamily="34" charset="-120"/>
              </a:rPr>
              <a:t>Coordinator splits &amp; synthesizes dynamically.</a:t>
            </a:r>
            <a:endParaRPr lang="en-US" sz="1150" dirty="0"/>
          </a:p>
        </p:txBody>
      </p:sp>
      <p:sp>
        <p:nvSpPr>
          <p:cNvPr id="28" name="Text 22"/>
          <p:cNvSpPr/>
          <p:nvPr/>
        </p:nvSpPr>
        <p:spPr>
          <a:xfrm>
            <a:off x="804672" y="5221224"/>
            <a:ext cx="2944368" cy="411480"/>
          </a:xfrm>
          <a:prstGeom prst="rect">
            <a:avLst/>
          </a:prstGeom>
          <a:noFill/>
          <a:ln/>
        </p:spPr>
        <p:txBody>
          <a:bodyPr wrap="square" lIns="0" tIns="0" rIns="0" bIns="0" rtlCol="0" anchor="ctr"/>
          <a:lstStyle/>
          <a:p>
            <a:pPr indent="0" marL="0">
              <a:buNone/>
            </a:pPr>
            <a:r>
              <a:rPr lang="en-US" sz="1050" b="1" i="1" dirty="0">
                <a:solidFill>
                  <a:srgbClr val="8B5CF6"/>
                </a:solidFill>
                <a:latin typeface="Calibri" pitchFamily="34" charset="0"/>
                <a:ea typeface="Calibri" pitchFamily="34" charset="-122"/>
                <a:cs typeface="Calibri" pitchFamily="34" charset="-120"/>
              </a:rPr>
              <a:t>Use for: </a:t>
            </a:r>
            <a:pPr indent="0" marL="0">
              <a:buNone/>
            </a:pPr>
            <a:r>
              <a:rPr lang="en-US" sz="1050" i="1" dirty="0">
                <a:solidFill>
                  <a:srgbClr val="64748B"/>
                </a:solidFill>
                <a:latin typeface="Calibri" pitchFamily="34" charset="0"/>
                <a:ea typeface="Calibri" pitchFamily="34" charset="-122"/>
                <a:cs typeface="Calibri" pitchFamily="34" charset="-120"/>
              </a:rPr>
              <a:t>Subtasks can't be predicted</a:t>
            </a:r>
            <a:endParaRPr lang="en-US" sz="1050" dirty="0"/>
          </a:p>
        </p:txBody>
      </p:sp>
      <p:sp>
        <p:nvSpPr>
          <p:cNvPr id="29" name="Shape 23"/>
          <p:cNvSpPr/>
          <p:nvPr/>
        </p:nvSpPr>
        <p:spPr>
          <a:xfrm>
            <a:off x="4389120" y="3703320"/>
            <a:ext cx="3456432" cy="2011680"/>
          </a:xfrm>
          <a:prstGeom prst="roundRect">
            <a:avLst>
              <a:gd name="adj" fmla="val 2727"/>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30" name="Shape 24"/>
          <p:cNvSpPr/>
          <p:nvPr/>
        </p:nvSpPr>
        <p:spPr>
          <a:xfrm>
            <a:off x="4626864" y="3941064"/>
            <a:ext cx="640080" cy="640080"/>
          </a:xfrm>
          <a:prstGeom prst="ellipse">
            <a:avLst/>
          </a:prstGeom>
          <a:solidFill>
            <a:srgbClr val="F59E0B"/>
          </a:solidFill>
          <a:ln/>
          <a:effectLst>
            <a:outerShdw sx="100000" sy="100000" kx="0" ky="0" algn="bl" rotWithShape="0" blurRad="88900" dist="38100" dir="5400000">
              <a:srgbClr val="000000">
                <a:alpha val="16000"/>
              </a:srgbClr>
            </a:outerShdw>
          </a:effectLst>
        </p:spPr>
      </p:sp>
      <p:pic>
        <p:nvPicPr>
          <p:cNvPr id="31" name="Image 4" descr="preencoded.png">    </p:cNvPr>
          <p:cNvPicPr>
            <a:picLocks noChangeAspect="1"/>
          </p:cNvPicPr>
          <p:nvPr/>
        </p:nvPicPr>
        <p:blipFill>
          <a:blip r:embed="rId5"/>
          <a:stretch>
            <a:fillRect/>
          </a:stretch>
        </p:blipFill>
        <p:spPr>
          <a:xfrm>
            <a:off x="4793285" y="4107485"/>
            <a:ext cx="307238" cy="307238"/>
          </a:xfrm>
          <a:prstGeom prst="rect">
            <a:avLst/>
          </a:prstGeom>
        </p:spPr>
      </p:pic>
      <p:sp>
        <p:nvSpPr>
          <p:cNvPr id="32" name="Text 25"/>
          <p:cNvSpPr/>
          <p:nvPr/>
        </p:nvSpPr>
        <p:spPr>
          <a:xfrm>
            <a:off x="5394960" y="3977640"/>
            <a:ext cx="2313432" cy="457200"/>
          </a:xfrm>
          <a:prstGeom prst="rect">
            <a:avLst/>
          </a:prstGeom>
          <a:noFill/>
          <a:ln/>
        </p:spPr>
        <p:txBody>
          <a:bodyPr wrap="square" lIns="0" tIns="0" rIns="0" bIns="0" rtlCol="0" anchor="ctr"/>
          <a:lstStyle/>
          <a:p>
            <a:pPr indent="0" marL="0">
              <a:buNone/>
            </a:pPr>
            <a:r>
              <a:rPr lang="en-US" sz="1450" b="1" dirty="0">
                <a:solidFill>
                  <a:srgbClr val="12132E"/>
                </a:solidFill>
                <a:latin typeface="Calibri" pitchFamily="34" charset="0"/>
                <a:ea typeface="Calibri" pitchFamily="34" charset="-122"/>
                <a:cs typeface="Calibri" pitchFamily="34" charset="-120"/>
              </a:rPr>
              <a:t>Evaluator–optimizer</a:t>
            </a:r>
            <a:endParaRPr lang="en-US" sz="1450" dirty="0"/>
          </a:p>
        </p:txBody>
      </p:sp>
      <p:sp>
        <p:nvSpPr>
          <p:cNvPr id="33" name="Text 26"/>
          <p:cNvSpPr/>
          <p:nvPr/>
        </p:nvSpPr>
        <p:spPr>
          <a:xfrm>
            <a:off x="4645152" y="4663440"/>
            <a:ext cx="2944368" cy="594360"/>
          </a:xfrm>
          <a:prstGeom prst="rect">
            <a:avLst/>
          </a:prstGeom>
          <a:noFill/>
          <a:ln/>
        </p:spPr>
        <p:txBody>
          <a:bodyPr wrap="square" lIns="0" tIns="0" rIns="0" bIns="0" rtlCol="0" anchor="ctr"/>
          <a:lstStyle/>
          <a:p>
            <a:pPr indent="0" marL="0">
              <a:lnSpc>
                <a:spcPct val="103000"/>
              </a:lnSpc>
              <a:buNone/>
            </a:pPr>
            <a:r>
              <a:rPr lang="en-US" sz="1150" dirty="0">
                <a:solidFill>
                  <a:srgbClr val="1E293B"/>
                </a:solidFill>
                <a:latin typeface="Calibri" pitchFamily="34" charset="0"/>
                <a:ea typeface="Calibri" pitchFamily="34" charset="-122"/>
                <a:cs typeface="Calibri" pitchFamily="34" charset="-120"/>
              </a:rPr>
              <a:t>Generate → critique → refine in a loop.</a:t>
            </a:r>
            <a:endParaRPr lang="en-US" sz="1150" dirty="0"/>
          </a:p>
        </p:txBody>
      </p:sp>
      <p:sp>
        <p:nvSpPr>
          <p:cNvPr id="34" name="Text 27"/>
          <p:cNvSpPr/>
          <p:nvPr/>
        </p:nvSpPr>
        <p:spPr>
          <a:xfrm>
            <a:off x="4645152" y="5221224"/>
            <a:ext cx="2944368" cy="411480"/>
          </a:xfrm>
          <a:prstGeom prst="rect">
            <a:avLst/>
          </a:prstGeom>
          <a:noFill/>
          <a:ln/>
        </p:spPr>
        <p:txBody>
          <a:bodyPr wrap="square" lIns="0" tIns="0" rIns="0" bIns="0" rtlCol="0" anchor="ctr"/>
          <a:lstStyle/>
          <a:p>
            <a:pPr indent="0" marL="0">
              <a:buNone/>
            </a:pPr>
            <a:r>
              <a:rPr lang="en-US" sz="1050" b="1" i="1" dirty="0">
                <a:solidFill>
                  <a:srgbClr val="F59E0B"/>
                </a:solidFill>
                <a:latin typeface="Calibri" pitchFamily="34" charset="0"/>
                <a:ea typeface="Calibri" pitchFamily="34" charset="-122"/>
                <a:cs typeface="Calibri" pitchFamily="34" charset="-120"/>
              </a:rPr>
              <a:t>Use for: </a:t>
            </a:r>
            <a:pPr indent="0" marL="0">
              <a:buNone/>
            </a:pPr>
            <a:r>
              <a:rPr lang="en-US" sz="1050" i="1" dirty="0">
                <a:solidFill>
                  <a:srgbClr val="64748B"/>
                </a:solidFill>
                <a:latin typeface="Calibri" pitchFamily="34" charset="0"/>
                <a:ea typeface="Calibri" pitchFamily="34" charset="-122"/>
                <a:cs typeface="Calibri" pitchFamily="34" charset="-120"/>
              </a:rPr>
              <a:t>Clear criteria, iterative value</a:t>
            </a:r>
            <a:endParaRPr lang="en-US" sz="1050" dirty="0"/>
          </a:p>
        </p:txBody>
      </p:sp>
      <p:sp>
        <p:nvSpPr>
          <p:cNvPr id="35" name="Shape 28"/>
          <p:cNvSpPr/>
          <p:nvPr/>
        </p:nvSpPr>
        <p:spPr>
          <a:xfrm>
            <a:off x="8229600" y="3703320"/>
            <a:ext cx="3456432" cy="2011680"/>
          </a:xfrm>
          <a:prstGeom prst="roundRect">
            <a:avLst>
              <a:gd name="adj" fmla="val 2727"/>
            </a:avLst>
          </a:prstGeom>
          <a:solidFill>
            <a:srgbClr val="12132E"/>
          </a:solidFill>
          <a:ln/>
          <a:effectLst>
            <a:outerShdw sx="100000" sy="100000" kx="0" ky="0" algn="bl" rotWithShape="0" blurRad="88900" dist="38100" dir="5400000">
              <a:srgbClr val="000000">
                <a:alpha val="16000"/>
              </a:srgbClr>
            </a:outerShdw>
          </a:effectLst>
        </p:spPr>
      </p:sp>
      <p:sp>
        <p:nvSpPr>
          <p:cNvPr id="36" name="Shape 29"/>
          <p:cNvSpPr/>
          <p:nvPr/>
        </p:nvSpPr>
        <p:spPr>
          <a:xfrm>
            <a:off x="8467344" y="3941064"/>
            <a:ext cx="640080" cy="640080"/>
          </a:xfrm>
          <a:prstGeom prst="ellipse">
            <a:avLst/>
          </a:prstGeom>
          <a:solidFill>
            <a:srgbClr val="14B8A6"/>
          </a:solidFill>
          <a:ln/>
          <a:effectLst>
            <a:outerShdw sx="100000" sy="100000" kx="0" ky="0" algn="bl" rotWithShape="0" blurRad="88900" dist="38100" dir="5400000">
              <a:srgbClr val="000000">
                <a:alpha val="16000"/>
              </a:srgbClr>
            </a:outerShdw>
          </a:effectLst>
        </p:spPr>
      </p:sp>
      <p:pic>
        <p:nvPicPr>
          <p:cNvPr id="37" name="Image 5" descr="preencoded.png">    </p:cNvPr>
          <p:cNvPicPr>
            <a:picLocks noChangeAspect="1"/>
          </p:cNvPicPr>
          <p:nvPr/>
        </p:nvPicPr>
        <p:blipFill>
          <a:blip r:embed="rId6"/>
          <a:stretch>
            <a:fillRect/>
          </a:stretch>
        </p:blipFill>
        <p:spPr>
          <a:xfrm>
            <a:off x="8633765" y="4107485"/>
            <a:ext cx="307238" cy="307238"/>
          </a:xfrm>
          <a:prstGeom prst="rect">
            <a:avLst/>
          </a:prstGeom>
        </p:spPr>
      </p:pic>
      <p:sp>
        <p:nvSpPr>
          <p:cNvPr id="38" name="Text 30"/>
          <p:cNvSpPr/>
          <p:nvPr/>
        </p:nvSpPr>
        <p:spPr>
          <a:xfrm>
            <a:off x="9235440" y="3977640"/>
            <a:ext cx="2313432" cy="45720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Where Domain 1 lives</a:t>
            </a:r>
            <a:endParaRPr lang="en-US" sz="1450" dirty="0"/>
          </a:p>
        </p:txBody>
      </p:sp>
      <p:sp>
        <p:nvSpPr>
          <p:cNvPr id="39" name="Text 31"/>
          <p:cNvSpPr/>
          <p:nvPr/>
        </p:nvSpPr>
        <p:spPr>
          <a:xfrm>
            <a:off x="8485632" y="4663440"/>
            <a:ext cx="2944368" cy="914400"/>
          </a:xfrm>
          <a:prstGeom prst="rect">
            <a:avLst/>
          </a:prstGeom>
          <a:noFill/>
          <a:ln/>
        </p:spPr>
        <p:txBody>
          <a:bodyPr wrap="square" lIns="0" tIns="0" rIns="0" bIns="0" rtlCol="0" anchor="ctr"/>
          <a:lstStyle/>
          <a:p>
            <a:pPr indent="0" marL="0">
              <a:lnSpc>
                <a:spcPct val="105000"/>
              </a:lnSpc>
              <a:buNone/>
            </a:pPr>
            <a:r>
              <a:rPr lang="en-US" sz="1150" dirty="0">
                <a:solidFill>
                  <a:srgbClr val="E2E8F0"/>
                </a:solidFill>
                <a:latin typeface="Calibri" pitchFamily="34" charset="0"/>
                <a:ea typeface="Calibri" pitchFamily="34" charset="-122"/>
                <a:cs typeface="Calibri" pitchFamily="34" charset="-120"/>
              </a:rPr>
              <a:t>The exam's multi-agent research system is orchestrator–workers; the support agent is a routed agent with enforcement. You'll build both today.</a:t>
            </a:r>
            <a:endParaRPr lang="en-US" sz="1150" dirty="0"/>
          </a:p>
        </p:txBody>
      </p:sp>
      <p:sp>
        <p:nvSpPr>
          <p:cNvPr id="40" name="Text 32"/>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41" name="Text 33"/>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42" name="Text 34"/>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OVERVIEW</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What the Claude Agent SDK gives you</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platform.claude.com/docs/en/agent-sdk/overview</a:t>
            </a:r>
            <a:endParaRPr lang="en-US" sz="1050" dirty="0"/>
          </a:p>
        </p:txBody>
      </p:sp>
      <p:sp>
        <p:nvSpPr>
          <p:cNvPr id="5" name="Text 3"/>
          <p:cNvSpPr/>
          <p:nvPr/>
        </p:nvSpPr>
        <p:spPr>
          <a:xfrm>
            <a:off x="548640" y="1371600"/>
            <a:ext cx="11064240" cy="731520"/>
          </a:xfrm>
          <a:prstGeom prst="rect">
            <a:avLst/>
          </a:prstGeom>
          <a:noFill/>
          <a:ln/>
        </p:spPr>
        <p:txBody>
          <a:bodyPr wrap="square" lIns="0" tIns="0" rIns="0" bIns="0" rtlCol="0" anchor="ctr"/>
          <a:lstStyle/>
          <a:p>
            <a:pPr indent="0" marL="0">
              <a:lnSpc>
                <a:spcPct val="106000"/>
              </a:lnSpc>
              <a:buNone/>
            </a:pPr>
            <a:r>
              <a:rPr lang="en-US" sz="1500" dirty="0">
                <a:solidFill>
                  <a:srgbClr val="1E293B"/>
                </a:solidFill>
                <a:latin typeface="Calibri" pitchFamily="34" charset="0"/>
                <a:ea typeface="Calibri" pitchFamily="34" charset="-122"/>
                <a:cs typeface="Calibri" pitchFamily="34" charset="-120"/>
              </a:rPr>
              <a:t>The same runtime that powers Claude Code, as a library. It runs the loop and hands you control over tools, permissions, cost limits, sessions, subagents, and hooks. No CLI required.</a:t>
            </a:r>
            <a:endParaRPr lang="en-US" sz="1500" dirty="0"/>
          </a:p>
        </p:txBody>
      </p:sp>
      <p:sp>
        <p:nvSpPr>
          <p:cNvPr id="6" name="Shape 4"/>
          <p:cNvSpPr/>
          <p:nvPr/>
        </p:nvSpPr>
        <p:spPr>
          <a:xfrm>
            <a:off x="548640" y="2331720"/>
            <a:ext cx="2697480" cy="2331720"/>
          </a:xfrm>
          <a:prstGeom prst="roundRect">
            <a:avLst>
              <a:gd name="adj" fmla="val 2353"/>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7" name="Shape 5"/>
          <p:cNvSpPr/>
          <p:nvPr/>
        </p:nvSpPr>
        <p:spPr>
          <a:xfrm>
            <a:off x="822960" y="2606040"/>
            <a:ext cx="749808" cy="749808"/>
          </a:xfrm>
          <a:prstGeom prst="ellipse">
            <a:avLst/>
          </a:prstGeom>
          <a:solidFill>
            <a:srgbClr val="4F46E5"/>
          </a:solidFill>
          <a:ln/>
          <a:effectLst>
            <a:outerShdw sx="100000" sy="100000" kx="0" ky="0" algn="bl" rotWithShape="0" blurRad="88900" dist="38100" dir="5400000">
              <a:srgbClr val="000000">
                <a:alpha val="16000"/>
              </a:srgbClr>
            </a:outerShdw>
          </a:effectLst>
        </p:spPr>
      </p:sp>
      <p:pic>
        <p:nvPicPr>
          <p:cNvPr id="8" name="Image 0" descr="preencoded.png">    </p:cNvPr>
          <p:cNvPicPr>
            <a:picLocks noChangeAspect="1"/>
          </p:cNvPicPr>
          <p:nvPr/>
        </p:nvPicPr>
        <p:blipFill>
          <a:blip r:embed="rId1"/>
          <a:stretch>
            <a:fillRect/>
          </a:stretch>
        </p:blipFill>
        <p:spPr>
          <a:xfrm>
            <a:off x="1017910" y="2800990"/>
            <a:ext cx="359908" cy="359908"/>
          </a:xfrm>
          <a:prstGeom prst="rect">
            <a:avLst/>
          </a:prstGeom>
        </p:spPr>
      </p:pic>
      <p:sp>
        <p:nvSpPr>
          <p:cNvPr id="9" name="Text 6"/>
          <p:cNvSpPr/>
          <p:nvPr/>
        </p:nvSpPr>
        <p:spPr>
          <a:xfrm>
            <a:off x="804672" y="3474720"/>
            <a:ext cx="2240280" cy="457200"/>
          </a:xfrm>
          <a:prstGeom prst="rect">
            <a:avLst/>
          </a:prstGeom>
          <a:noFill/>
          <a:ln/>
        </p:spPr>
        <p:txBody>
          <a:bodyPr wrap="square" lIns="0" tIns="0" rIns="0" bIns="0" rtlCol="0" anchor="ctr"/>
          <a:lstStyle/>
          <a:p>
            <a:pPr indent="0" marL="0">
              <a:buNone/>
            </a:pPr>
            <a:r>
              <a:rPr lang="en-US" sz="1550" b="1" dirty="0">
                <a:solidFill>
                  <a:srgbClr val="12132E"/>
                </a:solidFill>
                <a:latin typeface="Calibri" pitchFamily="34" charset="0"/>
                <a:ea typeface="Calibri" pitchFamily="34" charset="-122"/>
                <a:cs typeface="Calibri" pitchFamily="34" charset="-120"/>
              </a:rPr>
              <a:t>Runs the loop</a:t>
            </a:r>
            <a:endParaRPr lang="en-US" sz="1550" dirty="0"/>
          </a:p>
        </p:txBody>
      </p:sp>
      <p:sp>
        <p:nvSpPr>
          <p:cNvPr id="10" name="Text 7"/>
          <p:cNvSpPr/>
          <p:nvPr/>
        </p:nvSpPr>
        <p:spPr>
          <a:xfrm>
            <a:off x="804672" y="3904488"/>
            <a:ext cx="2185416" cy="685800"/>
          </a:xfrm>
          <a:prstGeom prst="rect">
            <a:avLst/>
          </a:prstGeom>
          <a:noFill/>
          <a:ln/>
        </p:spPr>
        <p:txBody>
          <a:bodyPr wrap="square" lIns="0" tIns="0" rIns="0" bIns="0" rtlCol="0" anchor="ctr"/>
          <a:lstStyle/>
          <a:p>
            <a:pPr indent="0" marL="0">
              <a:lnSpc>
                <a:spcPct val="104000"/>
              </a:lnSpc>
              <a:buNone/>
            </a:pPr>
            <a:r>
              <a:rPr lang="en-US" sz="1200" dirty="0">
                <a:solidFill>
                  <a:srgbClr val="64748B"/>
                </a:solidFill>
                <a:latin typeface="Calibri" pitchFamily="34" charset="0"/>
                <a:ea typeface="Calibri" pitchFamily="34" charset="-122"/>
                <a:cs typeface="Calibri" pitchFamily="34" charset="-120"/>
              </a:rPr>
              <a:t>Evaluate → call tools → feed results back → repeat.</a:t>
            </a:r>
            <a:endParaRPr lang="en-US" sz="1200" dirty="0"/>
          </a:p>
        </p:txBody>
      </p:sp>
      <p:sp>
        <p:nvSpPr>
          <p:cNvPr id="11" name="Shape 8"/>
          <p:cNvSpPr/>
          <p:nvPr/>
        </p:nvSpPr>
        <p:spPr>
          <a:xfrm>
            <a:off x="3520440" y="2331720"/>
            <a:ext cx="2697480" cy="2331720"/>
          </a:xfrm>
          <a:prstGeom prst="roundRect">
            <a:avLst>
              <a:gd name="adj" fmla="val 2353"/>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2" name="Shape 9"/>
          <p:cNvSpPr/>
          <p:nvPr/>
        </p:nvSpPr>
        <p:spPr>
          <a:xfrm>
            <a:off x="3794760" y="2606040"/>
            <a:ext cx="749808" cy="749808"/>
          </a:xfrm>
          <a:prstGeom prst="ellipse">
            <a:avLst/>
          </a:prstGeom>
          <a:solidFill>
            <a:srgbClr val="14B8A6"/>
          </a:solidFill>
          <a:ln/>
          <a:effectLst>
            <a:outerShdw sx="100000" sy="100000" kx="0" ky="0" algn="bl" rotWithShape="0" blurRad="88900" dist="38100" dir="5400000">
              <a:srgbClr val="000000">
                <a:alpha val="16000"/>
              </a:srgbClr>
            </a:outerShdw>
          </a:effectLst>
        </p:spPr>
      </p:sp>
      <p:pic>
        <p:nvPicPr>
          <p:cNvPr id="13" name="Image 1" descr="preencoded.png">    </p:cNvPr>
          <p:cNvPicPr>
            <a:picLocks noChangeAspect="1"/>
          </p:cNvPicPr>
          <p:nvPr/>
        </p:nvPicPr>
        <p:blipFill>
          <a:blip r:embed="rId2"/>
          <a:stretch>
            <a:fillRect/>
          </a:stretch>
        </p:blipFill>
        <p:spPr>
          <a:xfrm>
            <a:off x="3989710" y="2800990"/>
            <a:ext cx="359908" cy="359908"/>
          </a:xfrm>
          <a:prstGeom prst="rect">
            <a:avLst/>
          </a:prstGeom>
        </p:spPr>
      </p:pic>
      <p:sp>
        <p:nvSpPr>
          <p:cNvPr id="14" name="Text 10"/>
          <p:cNvSpPr/>
          <p:nvPr/>
        </p:nvSpPr>
        <p:spPr>
          <a:xfrm>
            <a:off x="3776472" y="3474720"/>
            <a:ext cx="2240280" cy="457200"/>
          </a:xfrm>
          <a:prstGeom prst="rect">
            <a:avLst/>
          </a:prstGeom>
          <a:noFill/>
          <a:ln/>
        </p:spPr>
        <p:txBody>
          <a:bodyPr wrap="square" lIns="0" tIns="0" rIns="0" bIns="0" rtlCol="0" anchor="ctr"/>
          <a:lstStyle/>
          <a:p>
            <a:pPr indent="0" marL="0">
              <a:buNone/>
            </a:pPr>
            <a:r>
              <a:rPr lang="en-US" sz="1550" b="1" dirty="0">
                <a:solidFill>
                  <a:srgbClr val="12132E"/>
                </a:solidFill>
                <a:latin typeface="Calibri" pitchFamily="34" charset="0"/>
                <a:ea typeface="Calibri" pitchFamily="34" charset="-122"/>
                <a:cs typeface="Calibri" pitchFamily="34" charset="-120"/>
              </a:rPr>
              <a:t>Tools &amp; MCP</a:t>
            </a:r>
            <a:endParaRPr lang="en-US" sz="1550" dirty="0"/>
          </a:p>
        </p:txBody>
      </p:sp>
      <p:sp>
        <p:nvSpPr>
          <p:cNvPr id="15" name="Text 11"/>
          <p:cNvSpPr/>
          <p:nvPr/>
        </p:nvSpPr>
        <p:spPr>
          <a:xfrm>
            <a:off x="3776472" y="3904488"/>
            <a:ext cx="2185416" cy="685800"/>
          </a:xfrm>
          <a:prstGeom prst="rect">
            <a:avLst/>
          </a:prstGeom>
          <a:noFill/>
          <a:ln/>
        </p:spPr>
        <p:txBody>
          <a:bodyPr wrap="square" lIns="0" tIns="0" rIns="0" bIns="0" rtlCol="0" anchor="ctr"/>
          <a:lstStyle/>
          <a:p>
            <a:pPr indent="0" marL="0">
              <a:lnSpc>
                <a:spcPct val="104000"/>
              </a:lnSpc>
              <a:buNone/>
            </a:pPr>
            <a:r>
              <a:rPr lang="en-US" sz="1200" dirty="0">
                <a:solidFill>
                  <a:srgbClr val="64748B"/>
                </a:solidFill>
                <a:latin typeface="Calibri" pitchFamily="34" charset="0"/>
                <a:ea typeface="Calibri" pitchFamily="34" charset="-122"/>
                <a:cs typeface="Calibri" pitchFamily="34" charset="-120"/>
              </a:rPr>
              <a:t>Built-in tools + custom tools via in-process MCP.</a:t>
            </a:r>
            <a:endParaRPr lang="en-US" sz="1200" dirty="0"/>
          </a:p>
        </p:txBody>
      </p:sp>
      <p:sp>
        <p:nvSpPr>
          <p:cNvPr id="16" name="Shape 12"/>
          <p:cNvSpPr/>
          <p:nvPr/>
        </p:nvSpPr>
        <p:spPr>
          <a:xfrm>
            <a:off x="6492240" y="2331720"/>
            <a:ext cx="2697480" cy="2331720"/>
          </a:xfrm>
          <a:prstGeom prst="roundRect">
            <a:avLst>
              <a:gd name="adj" fmla="val 2353"/>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7" name="Shape 13"/>
          <p:cNvSpPr/>
          <p:nvPr/>
        </p:nvSpPr>
        <p:spPr>
          <a:xfrm>
            <a:off x="6766560" y="2606040"/>
            <a:ext cx="749808" cy="749808"/>
          </a:xfrm>
          <a:prstGeom prst="ellipse">
            <a:avLst/>
          </a:prstGeom>
          <a:solidFill>
            <a:srgbClr val="8B5CF6"/>
          </a:solidFill>
          <a:ln/>
          <a:effectLst>
            <a:outerShdw sx="100000" sy="100000" kx="0" ky="0" algn="bl" rotWithShape="0" blurRad="88900" dist="38100" dir="5400000">
              <a:srgbClr val="000000">
                <a:alpha val="16000"/>
              </a:srgbClr>
            </a:outerShdw>
          </a:effectLst>
        </p:spPr>
      </p:sp>
      <p:pic>
        <p:nvPicPr>
          <p:cNvPr id="18" name="Image 2" descr="preencoded.png">    </p:cNvPr>
          <p:cNvPicPr>
            <a:picLocks noChangeAspect="1"/>
          </p:cNvPicPr>
          <p:nvPr/>
        </p:nvPicPr>
        <p:blipFill>
          <a:blip r:embed="rId3"/>
          <a:stretch>
            <a:fillRect/>
          </a:stretch>
        </p:blipFill>
        <p:spPr>
          <a:xfrm>
            <a:off x="6961510" y="2800990"/>
            <a:ext cx="359908" cy="359908"/>
          </a:xfrm>
          <a:prstGeom prst="rect">
            <a:avLst/>
          </a:prstGeom>
        </p:spPr>
      </p:pic>
      <p:sp>
        <p:nvSpPr>
          <p:cNvPr id="19" name="Text 14"/>
          <p:cNvSpPr/>
          <p:nvPr/>
        </p:nvSpPr>
        <p:spPr>
          <a:xfrm>
            <a:off x="6748272" y="3474720"/>
            <a:ext cx="2240280" cy="457200"/>
          </a:xfrm>
          <a:prstGeom prst="rect">
            <a:avLst/>
          </a:prstGeom>
          <a:noFill/>
          <a:ln/>
        </p:spPr>
        <p:txBody>
          <a:bodyPr wrap="square" lIns="0" tIns="0" rIns="0" bIns="0" rtlCol="0" anchor="ctr"/>
          <a:lstStyle/>
          <a:p>
            <a:pPr indent="0" marL="0">
              <a:buNone/>
            </a:pPr>
            <a:r>
              <a:rPr lang="en-US" sz="1550" b="1" dirty="0">
                <a:solidFill>
                  <a:srgbClr val="12132E"/>
                </a:solidFill>
                <a:latin typeface="Calibri" pitchFamily="34" charset="0"/>
                <a:ea typeface="Calibri" pitchFamily="34" charset="-122"/>
                <a:cs typeface="Calibri" pitchFamily="34" charset="-120"/>
              </a:rPr>
              <a:t>Subagents</a:t>
            </a:r>
            <a:endParaRPr lang="en-US" sz="1550" dirty="0"/>
          </a:p>
        </p:txBody>
      </p:sp>
      <p:sp>
        <p:nvSpPr>
          <p:cNvPr id="20" name="Text 15"/>
          <p:cNvSpPr/>
          <p:nvPr/>
        </p:nvSpPr>
        <p:spPr>
          <a:xfrm>
            <a:off x="6748272" y="3904488"/>
            <a:ext cx="2185416" cy="685800"/>
          </a:xfrm>
          <a:prstGeom prst="rect">
            <a:avLst/>
          </a:prstGeom>
          <a:noFill/>
          <a:ln/>
        </p:spPr>
        <p:txBody>
          <a:bodyPr wrap="square" lIns="0" tIns="0" rIns="0" bIns="0" rtlCol="0" anchor="ctr"/>
          <a:lstStyle/>
          <a:p>
            <a:pPr indent="0" marL="0">
              <a:lnSpc>
                <a:spcPct val="104000"/>
              </a:lnSpc>
              <a:buNone/>
            </a:pPr>
            <a:r>
              <a:rPr lang="en-US" sz="1200" dirty="0">
                <a:solidFill>
                  <a:srgbClr val="64748B"/>
                </a:solidFill>
                <a:latin typeface="Calibri" pitchFamily="34" charset="0"/>
                <a:ea typeface="Calibri" pitchFamily="34" charset="-122"/>
                <a:cs typeface="Calibri" pitchFamily="34" charset="-120"/>
              </a:rPr>
              <a:t>Delegate to isolated, specialized agents.</a:t>
            </a:r>
            <a:endParaRPr lang="en-US" sz="1200" dirty="0"/>
          </a:p>
        </p:txBody>
      </p:sp>
      <p:sp>
        <p:nvSpPr>
          <p:cNvPr id="21" name="Shape 16"/>
          <p:cNvSpPr/>
          <p:nvPr/>
        </p:nvSpPr>
        <p:spPr>
          <a:xfrm>
            <a:off x="9464040" y="2331720"/>
            <a:ext cx="2697480" cy="2331720"/>
          </a:xfrm>
          <a:prstGeom prst="roundRect">
            <a:avLst>
              <a:gd name="adj" fmla="val 2353"/>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22" name="Shape 17"/>
          <p:cNvSpPr/>
          <p:nvPr/>
        </p:nvSpPr>
        <p:spPr>
          <a:xfrm>
            <a:off x="9738360" y="2606040"/>
            <a:ext cx="749808" cy="749808"/>
          </a:xfrm>
          <a:prstGeom prst="ellipse">
            <a:avLst/>
          </a:prstGeom>
          <a:solidFill>
            <a:srgbClr val="F59E0B"/>
          </a:solidFill>
          <a:ln/>
          <a:effectLst>
            <a:outerShdw sx="100000" sy="100000" kx="0" ky="0" algn="bl" rotWithShape="0" blurRad="88900" dist="38100" dir="5400000">
              <a:srgbClr val="000000">
                <a:alpha val="16000"/>
              </a:srgbClr>
            </a:outerShdw>
          </a:effectLst>
        </p:spPr>
      </p:sp>
      <p:pic>
        <p:nvPicPr>
          <p:cNvPr id="23" name="Image 3" descr="preencoded.png">    </p:cNvPr>
          <p:cNvPicPr>
            <a:picLocks noChangeAspect="1"/>
          </p:cNvPicPr>
          <p:nvPr/>
        </p:nvPicPr>
        <p:blipFill>
          <a:blip r:embed="rId4"/>
          <a:stretch>
            <a:fillRect/>
          </a:stretch>
        </p:blipFill>
        <p:spPr>
          <a:xfrm>
            <a:off x="9933310" y="2800990"/>
            <a:ext cx="359908" cy="359908"/>
          </a:xfrm>
          <a:prstGeom prst="rect">
            <a:avLst/>
          </a:prstGeom>
        </p:spPr>
      </p:pic>
      <p:sp>
        <p:nvSpPr>
          <p:cNvPr id="24" name="Text 18"/>
          <p:cNvSpPr/>
          <p:nvPr/>
        </p:nvSpPr>
        <p:spPr>
          <a:xfrm>
            <a:off x="9720072" y="3474720"/>
            <a:ext cx="2240280" cy="457200"/>
          </a:xfrm>
          <a:prstGeom prst="rect">
            <a:avLst/>
          </a:prstGeom>
          <a:noFill/>
          <a:ln/>
        </p:spPr>
        <p:txBody>
          <a:bodyPr wrap="square" lIns="0" tIns="0" rIns="0" bIns="0" rtlCol="0" anchor="ctr"/>
          <a:lstStyle/>
          <a:p>
            <a:pPr indent="0" marL="0">
              <a:buNone/>
            </a:pPr>
            <a:r>
              <a:rPr lang="en-US" sz="1550" b="1" dirty="0">
                <a:solidFill>
                  <a:srgbClr val="12132E"/>
                </a:solidFill>
                <a:latin typeface="Calibri" pitchFamily="34" charset="0"/>
                <a:ea typeface="Calibri" pitchFamily="34" charset="-122"/>
                <a:cs typeface="Calibri" pitchFamily="34" charset="-120"/>
              </a:rPr>
              <a:t>Control plane</a:t>
            </a:r>
            <a:endParaRPr lang="en-US" sz="1550" dirty="0"/>
          </a:p>
        </p:txBody>
      </p:sp>
      <p:sp>
        <p:nvSpPr>
          <p:cNvPr id="25" name="Text 19"/>
          <p:cNvSpPr/>
          <p:nvPr/>
        </p:nvSpPr>
        <p:spPr>
          <a:xfrm>
            <a:off x="9720072" y="3904488"/>
            <a:ext cx="2185416" cy="685800"/>
          </a:xfrm>
          <a:prstGeom prst="rect">
            <a:avLst/>
          </a:prstGeom>
          <a:noFill/>
          <a:ln/>
        </p:spPr>
        <p:txBody>
          <a:bodyPr wrap="square" lIns="0" tIns="0" rIns="0" bIns="0" rtlCol="0" anchor="ctr"/>
          <a:lstStyle/>
          <a:p>
            <a:pPr indent="0" marL="0">
              <a:lnSpc>
                <a:spcPct val="104000"/>
              </a:lnSpc>
              <a:buNone/>
            </a:pPr>
            <a:r>
              <a:rPr lang="en-US" sz="1200" dirty="0">
                <a:solidFill>
                  <a:srgbClr val="64748B"/>
                </a:solidFill>
                <a:latin typeface="Calibri" pitchFamily="34" charset="0"/>
                <a:ea typeface="Calibri" pitchFamily="34" charset="-122"/>
                <a:cs typeface="Calibri" pitchFamily="34" charset="-120"/>
              </a:rPr>
              <a:t>Permissions, budget, effort, hooks, sessions.</a:t>
            </a:r>
            <a:endParaRPr lang="en-US" sz="1200" dirty="0"/>
          </a:p>
        </p:txBody>
      </p:sp>
      <p:sp>
        <p:nvSpPr>
          <p:cNvPr id="26" name="Text 20"/>
          <p:cNvSpPr/>
          <p:nvPr/>
        </p:nvSpPr>
        <p:spPr>
          <a:xfrm>
            <a:off x="548640" y="5074920"/>
            <a:ext cx="11064240" cy="457200"/>
          </a:xfrm>
          <a:prstGeom prst="rect">
            <a:avLst/>
          </a:prstGeom>
          <a:noFill/>
          <a:ln/>
        </p:spPr>
        <p:txBody>
          <a:bodyPr wrap="square" lIns="0" tIns="0" rIns="0" bIns="0" rtlCol="0" anchor="ctr"/>
          <a:lstStyle/>
          <a:p>
            <a:pPr indent="0" marL="0">
              <a:buNone/>
            </a:pPr>
            <a:r>
              <a:rPr lang="en-US" sz="1250" b="1" dirty="0">
                <a:solidFill>
                  <a:srgbClr val="12132E"/>
                </a:solidFill>
                <a:latin typeface="Calibri" pitchFamily="34" charset="0"/>
                <a:ea typeface="Calibri" pitchFamily="34" charset="-122"/>
                <a:cs typeface="Calibri" pitchFamily="34" charset="-120"/>
              </a:rPr>
              <a:t>Python  </a:t>
            </a:r>
            <a:pPr indent="0" marL="0">
              <a:buNone/>
            </a:pPr>
            <a:r>
              <a:rPr lang="en-US" sz="1250" dirty="0">
                <a:solidFill>
                  <a:srgbClr val="4F46E5"/>
                </a:solidFill>
                <a:latin typeface="Courier New" pitchFamily="34" charset="0"/>
                <a:ea typeface="Courier New" pitchFamily="34" charset="-122"/>
                <a:cs typeface="Courier New" pitchFamily="34" charset="-120"/>
              </a:rPr>
              <a:t>pip install claude-agent-sdk</a:t>
            </a:r>
            <a:pPr indent="0" marL="0">
              <a:buNone/>
            </a:pPr>
            <a:r>
              <a:rPr lang="en-US" sz="1250" b="1" dirty="0">
                <a:solidFill>
                  <a:srgbClr val="12132E"/>
                </a:solidFill>
                <a:latin typeface="Calibri" pitchFamily="34" charset="0"/>
                <a:ea typeface="Calibri" pitchFamily="34" charset="-122"/>
                <a:cs typeface="Calibri" pitchFamily="34" charset="-120"/>
              </a:rPr>
              <a:t>      TypeScript  </a:t>
            </a:r>
            <a:pPr indent="0" marL="0">
              <a:buNone/>
            </a:pPr>
            <a:r>
              <a:rPr lang="en-US" sz="1250" dirty="0">
                <a:solidFill>
                  <a:srgbClr val="4F46E5"/>
                </a:solidFill>
                <a:latin typeface="Courier New" pitchFamily="34" charset="0"/>
                <a:ea typeface="Courier New" pitchFamily="34" charset="-122"/>
                <a:cs typeface="Courier New" pitchFamily="34" charset="-120"/>
              </a:rPr>
              <a:t>@anthropic-ai/claude-agent-sdk</a:t>
            </a:r>
            <a:pPr indent="0" marL="0">
              <a:buNone/>
            </a:pPr>
            <a:r>
              <a:rPr lang="en-US" sz="1250" i="1" dirty="0">
                <a:solidFill>
                  <a:srgbClr val="64748B"/>
                </a:solidFill>
                <a:latin typeface="Calibri" pitchFamily="34" charset="0"/>
                <a:ea typeface="Calibri" pitchFamily="34" charset="-122"/>
                <a:cs typeface="Calibri" pitchFamily="34" charset="-120"/>
              </a:rPr>
              <a:t>      (renamed from “Claude Code SDK”, Sept 2025)</a:t>
            </a:r>
            <a:endParaRPr lang="en-US" sz="1250" dirty="0"/>
          </a:p>
        </p:txBody>
      </p:sp>
      <p:sp>
        <p:nvSpPr>
          <p:cNvPr id="27" name="Text 21"/>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28" name="Text 22"/>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29" name="Text 23"/>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TASK 1.1 · THE CORE CYCLE</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The agent loop, step by step</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platform.claude.com/docs/en/agent-sdk/agent-loop</a:t>
            </a:r>
            <a:endParaRPr lang="en-US" sz="1050" dirty="0"/>
          </a:p>
        </p:txBody>
      </p:sp>
      <p:sp>
        <p:nvSpPr>
          <p:cNvPr id="5" name="Shape 3"/>
          <p:cNvSpPr/>
          <p:nvPr/>
        </p:nvSpPr>
        <p:spPr>
          <a:xfrm>
            <a:off x="566928" y="1600200"/>
            <a:ext cx="2084832" cy="1554480"/>
          </a:xfrm>
          <a:prstGeom prst="roundRect">
            <a:avLst>
              <a:gd name="adj" fmla="val 4706"/>
            </a:avLst>
          </a:prstGeom>
          <a:solidFill>
            <a:srgbClr val="4F46E5"/>
          </a:solidFill>
          <a:ln/>
          <a:effectLst>
            <a:outerShdw sx="100000" sy="100000" kx="0" ky="0" algn="bl" rotWithShape="0" blurRad="88900" dist="38100" dir="5400000">
              <a:srgbClr val="000000">
                <a:alpha val="16000"/>
              </a:srgbClr>
            </a:outerShdw>
          </a:effectLst>
        </p:spPr>
      </p:sp>
      <p:sp>
        <p:nvSpPr>
          <p:cNvPr id="6" name="Shape 4"/>
          <p:cNvSpPr/>
          <p:nvPr/>
        </p:nvSpPr>
        <p:spPr>
          <a:xfrm>
            <a:off x="731520" y="1764792"/>
            <a:ext cx="457200" cy="457200"/>
          </a:xfrm>
          <a:prstGeom prst="ellipse">
            <a:avLst/>
          </a:prstGeom>
          <a:solidFill>
            <a:srgbClr val="12132E"/>
          </a:solidFill>
          <a:ln/>
        </p:spPr>
      </p:sp>
      <p:sp>
        <p:nvSpPr>
          <p:cNvPr id="7" name="Text 5"/>
          <p:cNvSpPr/>
          <p:nvPr/>
        </p:nvSpPr>
        <p:spPr>
          <a:xfrm>
            <a:off x="731520" y="176479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676656" y="2313432"/>
            <a:ext cx="1865376"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Receive prompt</a:t>
            </a:r>
            <a:endParaRPr lang="en-US" sz="1300" dirty="0"/>
          </a:p>
        </p:txBody>
      </p:sp>
      <p:sp>
        <p:nvSpPr>
          <p:cNvPr id="9" name="Text 7"/>
          <p:cNvSpPr/>
          <p:nvPr/>
        </p:nvSpPr>
        <p:spPr>
          <a:xfrm>
            <a:off x="676656" y="2715768"/>
            <a:ext cx="1865376" cy="365760"/>
          </a:xfrm>
          <a:prstGeom prst="rect">
            <a:avLst/>
          </a:prstGeom>
          <a:noFill/>
          <a:ln/>
        </p:spPr>
        <p:txBody>
          <a:bodyPr wrap="square" lIns="0" tIns="0" rIns="0" bIns="0" rtlCol="0" anchor="ctr"/>
          <a:lstStyle/>
          <a:p>
            <a:pPr algn="ctr" indent="0" marL="0">
              <a:lnSpc>
                <a:spcPct val="95000"/>
              </a:lnSpc>
              <a:buNone/>
            </a:pPr>
            <a:r>
              <a:rPr lang="en-US" sz="1000" dirty="0">
                <a:solidFill>
                  <a:srgbClr val="FFFFFF"/>
                </a:solidFill>
                <a:latin typeface="Calibri" pitchFamily="34" charset="0"/>
                <a:ea typeface="Calibri" pitchFamily="34" charset="-122"/>
                <a:cs typeface="Calibri" pitchFamily="34" charset="-120"/>
              </a:rPr>
              <a:t>+ system prompt, tools, history</a:t>
            </a:r>
            <a:endParaRPr lang="en-US" sz="1000" dirty="0"/>
          </a:p>
        </p:txBody>
      </p:sp>
      <p:sp>
        <p:nvSpPr>
          <p:cNvPr id="10" name="Text 8"/>
          <p:cNvSpPr/>
          <p:nvPr/>
        </p:nvSpPr>
        <p:spPr>
          <a:xfrm>
            <a:off x="2596896" y="2103120"/>
            <a:ext cx="274320" cy="548640"/>
          </a:xfrm>
          <a:prstGeom prst="rect">
            <a:avLst/>
          </a:prstGeom>
          <a:noFill/>
          <a:ln/>
        </p:spPr>
        <p:txBody>
          <a:bodyPr wrap="square" lIns="0" tIns="0" rIns="0" bIns="0" rtlCol="0" anchor="ctr"/>
          <a:lstStyle/>
          <a:p>
            <a:pPr algn="ctr" indent="0" marL="0">
              <a:buNone/>
            </a:pPr>
            <a:r>
              <a:rPr lang="en-US" sz="2200" b="1" dirty="0">
                <a:solidFill>
                  <a:srgbClr val="64748B"/>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2816352" y="1600200"/>
            <a:ext cx="2084832" cy="1554480"/>
          </a:xfrm>
          <a:prstGeom prst="roundRect">
            <a:avLst>
              <a:gd name="adj" fmla="val 4706"/>
            </a:avLst>
          </a:prstGeom>
          <a:solidFill>
            <a:srgbClr val="6366F1"/>
          </a:solidFill>
          <a:ln/>
          <a:effectLst>
            <a:outerShdw sx="100000" sy="100000" kx="0" ky="0" algn="bl" rotWithShape="0" blurRad="88900" dist="38100" dir="5400000">
              <a:srgbClr val="000000">
                <a:alpha val="16000"/>
              </a:srgbClr>
            </a:outerShdw>
          </a:effectLst>
        </p:spPr>
      </p:sp>
      <p:sp>
        <p:nvSpPr>
          <p:cNvPr id="12" name="Shape 10"/>
          <p:cNvSpPr/>
          <p:nvPr/>
        </p:nvSpPr>
        <p:spPr>
          <a:xfrm>
            <a:off x="2980944" y="1764792"/>
            <a:ext cx="457200" cy="457200"/>
          </a:xfrm>
          <a:prstGeom prst="ellipse">
            <a:avLst/>
          </a:prstGeom>
          <a:solidFill>
            <a:srgbClr val="12132E"/>
          </a:solidFill>
          <a:ln/>
        </p:spPr>
      </p:sp>
      <p:sp>
        <p:nvSpPr>
          <p:cNvPr id="13" name="Text 11"/>
          <p:cNvSpPr/>
          <p:nvPr/>
        </p:nvSpPr>
        <p:spPr>
          <a:xfrm>
            <a:off x="2980944" y="176479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2926080" y="2313432"/>
            <a:ext cx="1865376"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Evaluate &amp; respond</a:t>
            </a:r>
            <a:endParaRPr lang="en-US" sz="1300" dirty="0"/>
          </a:p>
        </p:txBody>
      </p:sp>
      <p:sp>
        <p:nvSpPr>
          <p:cNvPr id="15" name="Text 13"/>
          <p:cNvSpPr/>
          <p:nvPr/>
        </p:nvSpPr>
        <p:spPr>
          <a:xfrm>
            <a:off x="2926080" y="2715768"/>
            <a:ext cx="1865376" cy="365760"/>
          </a:xfrm>
          <a:prstGeom prst="rect">
            <a:avLst/>
          </a:prstGeom>
          <a:noFill/>
          <a:ln/>
        </p:spPr>
        <p:txBody>
          <a:bodyPr wrap="square" lIns="0" tIns="0" rIns="0" bIns="0" rtlCol="0" anchor="ctr"/>
          <a:lstStyle/>
          <a:p>
            <a:pPr algn="ctr" indent="0" marL="0">
              <a:lnSpc>
                <a:spcPct val="95000"/>
              </a:lnSpc>
              <a:buNone/>
            </a:pPr>
            <a:r>
              <a:rPr lang="en-US" sz="1000" dirty="0">
                <a:solidFill>
                  <a:srgbClr val="FFFFFF"/>
                </a:solidFill>
                <a:latin typeface="Calibri" pitchFamily="34" charset="0"/>
                <a:ea typeface="Calibri" pitchFamily="34" charset="-122"/>
                <a:cs typeface="Calibri" pitchFamily="34" charset="-120"/>
              </a:rPr>
              <a:t>text and/or tool calls</a:t>
            </a:r>
            <a:endParaRPr lang="en-US" sz="1000" dirty="0"/>
          </a:p>
        </p:txBody>
      </p:sp>
      <p:sp>
        <p:nvSpPr>
          <p:cNvPr id="16" name="Text 14"/>
          <p:cNvSpPr/>
          <p:nvPr/>
        </p:nvSpPr>
        <p:spPr>
          <a:xfrm>
            <a:off x="4846320" y="2103120"/>
            <a:ext cx="274320" cy="548640"/>
          </a:xfrm>
          <a:prstGeom prst="rect">
            <a:avLst/>
          </a:prstGeom>
          <a:noFill/>
          <a:ln/>
        </p:spPr>
        <p:txBody>
          <a:bodyPr wrap="square" lIns="0" tIns="0" rIns="0" bIns="0" rtlCol="0" anchor="ctr"/>
          <a:lstStyle/>
          <a:p>
            <a:pPr algn="ctr" indent="0" marL="0">
              <a:buNone/>
            </a:pPr>
            <a:r>
              <a:rPr lang="en-US" sz="2200" b="1" dirty="0">
                <a:solidFill>
                  <a:srgbClr val="64748B"/>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5065776" y="1600200"/>
            <a:ext cx="2084832" cy="1554480"/>
          </a:xfrm>
          <a:prstGeom prst="roundRect">
            <a:avLst>
              <a:gd name="adj" fmla="val 4706"/>
            </a:avLst>
          </a:prstGeom>
          <a:solidFill>
            <a:srgbClr val="14B8A6"/>
          </a:solidFill>
          <a:ln/>
          <a:effectLst>
            <a:outerShdw sx="100000" sy="100000" kx="0" ky="0" algn="bl" rotWithShape="0" blurRad="88900" dist="38100" dir="5400000">
              <a:srgbClr val="000000">
                <a:alpha val="16000"/>
              </a:srgbClr>
            </a:outerShdw>
          </a:effectLst>
        </p:spPr>
      </p:sp>
      <p:sp>
        <p:nvSpPr>
          <p:cNvPr id="18" name="Shape 16"/>
          <p:cNvSpPr/>
          <p:nvPr/>
        </p:nvSpPr>
        <p:spPr>
          <a:xfrm>
            <a:off x="5230368" y="1764792"/>
            <a:ext cx="457200" cy="457200"/>
          </a:xfrm>
          <a:prstGeom prst="ellipse">
            <a:avLst/>
          </a:prstGeom>
          <a:solidFill>
            <a:srgbClr val="12132E"/>
          </a:solidFill>
          <a:ln/>
        </p:spPr>
      </p:sp>
      <p:sp>
        <p:nvSpPr>
          <p:cNvPr id="19" name="Text 17"/>
          <p:cNvSpPr/>
          <p:nvPr/>
        </p:nvSpPr>
        <p:spPr>
          <a:xfrm>
            <a:off x="5230368" y="176479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5175504" y="2313432"/>
            <a:ext cx="1865376"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Execute tools</a:t>
            </a:r>
            <a:endParaRPr lang="en-US" sz="1300" dirty="0"/>
          </a:p>
        </p:txBody>
      </p:sp>
      <p:sp>
        <p:nvSpPr>
          <p:cNvPr id="21" name="Text 19"/>
          <p:cNvSpPr/>
          <p:nvPr/>
        </p:nvSpPr>
        <p:spPr>
          <a:xfrm>
            <a:off x="5175504" y="2715768"/>
            <a:ext cx="1865376" cy="365760"/>
          </a:xfrm>
          <a:prstGeom prst="rect">
            <a:avLst/>
          </a:prstGeom>
          <a:noFill/>
          <a:ln/>
        </p:spPr>
        <p:txBody>
          <a:bodyPr wrap="square" lIns="0" tIns="0" rIns="0" bIns="0" rtlCol="0" anchor="ctr"/>
          <a:lstStyle/>
          <a:p>
            <a:pPr algn="ctr" indent="0" marL="0">
              <a:lnSpc>
                <a:spcPct val="95000"/>
              </a:lnSpc>
              <a:buNone/>
            </a:pPr>
            <a:r>
              <a:rPr lang="en-US" sz="1000" dirty="0">
                <a:solidFill>
                  <a:srgbClr val="FFFFFF"/>
                </a:solidFill>
                <a:latin typeface="Calibri" pitchFamily="34" charset="0"/>
                <a:ea typeface="Calibri" pitchFamily="34" charset="-122"/>
                <a:cs typeface="Calibri" pitchFamily="34" charset="-120"/>
              </a:rPr>
              <a:t>results feed back</a:t>
            </a:r>
            <a:endParaRPr lang="en-US" sz="1000" dirty="0"/>
          </a:p>
        </p:txBody>
      </p:sp>
      <p:sp>
        <p:nvSpPr>
          <p:cNvPr id="22" name="Text 20"/>
          <p:cNvSpPr/>
          <p:nvPr/>
        </p:nvSpPr>
        <p:spPr>
          <a:xfrm>
            <a:off x="7095744" y="2103120"/>
            <a:ext cx="274320" cy="548640"/>
          </a:xfrm>
          <a:prstGeom prst="rect">
            <a:avLst/>
          </a:prstGeom>
          <a:noFill/>
          <a:ln/>
        </p:spPr>
        <p:txBody>
          <a:bodyPr wrap="square" lIns="0" tIns="0" rIns="0" bIns="0" rtlCol="0" anchor="ctr"/>
          <a:lstStyle/>
          <a:p>
            <a:pPr algn="ctr" indent="0" marL="0">
              <a:buNone/>
            </a:pPr>
            <a:r>
              <a:rPr lang="en-US" sz="2200" b="1" dirty="0">
                <a:solidFill>
                  <a:srgbClr val="64748B"/>
                </a:solidFill>
                <a:latin typeface="Calibri" pitchFamily="34" charset="0"/>
                <a:ea typeface="Calibri" pitchFamily="34" charset="-122"/>
                <a:cs typeface="Calibri" pitchFamily="34" charset="-120"/>
              </a:rPr>
              <a:t>›</a:t>
            </a:r>
            <a:endParaRPr lang="en-US" sz="2200" dirty="0"/>
          </a:p>
        </p:txBody>
      </p:sp>
      <p:sp>
        <p:nvSpPr>
          <p:cNvPr id="23" name="Shape 21"/>
          <p:cNvSpPr/>
          <p:nvPr/>
        </p:nvSpPr>
        <p:spPr>
          <a:xfrm>
            <a:off x="7315200" y="1600200"/>
            <a:ext cx="2084832" cy="1554480"/>
          </a:xfrm>
          <a:prstGeom prst="roundRect">
            <a:avLst>
              <a:gd name="adj" fmla="val 4706"/>
            </a:avLst>
          </a:prstGeom>
          <a:solidFill>
            <a:srgbClr val="8B5CF6"/>
          </a:solidFill>
          <a:ln/>
          <a:effectLst>
            <a:outerShdw sx="100000" sy="100000" kx="0" ky="0" algn="bl" rotWithShape="0" blurRad="88900" dist="38100" dir="5400000">
              <a:srgbClr val="000000">
                <a:alpha val="16000"/>
              </a:srgbClr>
            </a:outerShdw>
          </a:effectLst>
        </p:spPr>
      </p:sp>
      <p:sp>
        <p:nvSpPr>
          <p:cNvPr id="24" name="Shape 22"/>
          <p:cNvSpPr/>
          <p:nvPr/>
        </p:nvSpPr>
        <p:spPr>
          <a:xfrm>
            <a:off x="7479792" y="1764792"/>
            <a:ext cx="457200" cy="457200"/>
          </a:xfrm>
          <a:prstGeom prst="ellipse">
            <a:avLst/>
          </a:prstGeom>
          <a:solidFill>
            <a:srgbClr val="12132E"/>
          </a:solidFill>
          <a:ln/>
        </p:spPr>
      </p:sp>
      <p:sp>
        <p:nvSpPr>
          <p:cNvPr id="25" name="Text 23"/>
          <p:cNvSpPr/>
          <p:nvPr/>
        </p:nvSpPr>
        <p:spPr>
          <a:xfrm>
            <a:off x="7479792" y="176479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6" name="Text 24"/>
          <p:cNvSpPr/>
          <p:nvPr/>
        </p:nvSpPr>
        <p:spPr>
          <a:xfrm>
            <a:off x="7424928" y="2313432"/>
            <a:ext cx="1865376"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Repeat each turn</a:t>
            </a:r>
            <a:endParaRPr lang="en-US" sz="1300" dirty="0"/>
          </a:p>
        </p:txBody>
      </p:sp>
      <p:sp>
        <p:nvSpPr>
          <p:cNvPr id="27" name="Text 25"/>
          <p:cNvSpPr/>
          <p:nvPr/>
        </p:nvSpPr>
        <p:spPr>
          <a:xfrm>
            <a:off x="7424928" y="2715768"/>
            <a:ext cx="1865376" cy="365760"/>
          </a:xfrm>
          <a:prstGeom prst="rect">
            <a:avLst/>
          </a:prstGeom>
          <a:noFill/>
          <a:ln/>
        </p:spPr>
        <p:txBody>
          <a:bodyPr wrap="square" lIns="0" tIns="0" rIns="0" bIns="0" rtlCol="0" anchor="ctr"/>
          <a:lstStyle/>
          <a:p>
            <a:pPr algn="ctr" indent="0" marL="0">
              <a:lnSpc>
                <a:spcPct val="95000"/>
              </a:lnSpc>
              <a:buNone/>
            </a:pPr>
            <a:r>
              <a:rPr lang="en-US" sz="1000" dirty="0">
                <a:solidFill>
                  <a:srgbClr val="FFFFFF"/>
                </a:solidFill>
                <a:latin typeface="Calibri" pitchFamily="34" charset="0"/>
                <a:ea typeface="Calibri" pitchFamily="34" charset="-122"/>
                <a:cs typeface="Calibri" pitchFamily="34" charset="-120"/>
              </a:rPr>
              <a:t>until no tool calls</a:t>
            </a:r>
            <a:endParaRPr lang="en-US" sz="1000" dirty="0"/>
          </a:p>
        </p:txBody>
      </p:sp>
      <p:sp>
        <p:nvSpPr>
          <p:cNvPr id="28" name="Text 26"/>
          <p:cNvSpPr/>
          <p:nvPr/>
        </p:nvSpPr>
        <p:spPr>
          <a:xfrm>
            <a:off x="9345168" y="2103120"/>
            <a:ext cx="274320" cy="548640"/>
          </a:xfrm>
          <a:prstGeom prst="rect">
            <a:avLst/>
          </a:prstGeom>
          <a:noFill/>
          <a:ln/>
        </p:spPr>
        <p:txBody>
          <a:bodyPr wrap="square" lIns="0" tIns="0" rIns="0" bIns="0" rtlCol="0" anchor="ctr"/>
          <a:lstStyle/>
          <a:p>
            <a:pPr algn="ctr" indent="0" marL="0">
              <a:buNone/>
            </a:pPr>
            <a:r>
              <a:rPr lang="en-US" sz="2200" b="1" dirty="0">
                <a:solidFill>
                  <a:srgbClr val="64748B"/>
                </a:solidFill>
                <a:latin typeface="Calibri" pitchFamily="34" charset="0"/>
                <a:ea typeface="Calibri" pitchFamily="34" charset="-122"/>
                <a:cs typeface="Calibri" pitchFamily="34" charset="-120"/>
              </a:rPr>
              <a:t>›</a:t>
            </a:r>
            <a:endParaRPr lang="en-US" sz="2200" dirty="0"/>
          </a:p>
        </p:txBody>
      </p:sp>
      <p:sp>
        <p:nvSpPr>
          <p:cNvPr id="29" name="Shape 27"/>
          <p:cNvSpPr/>
          <p:nvPr/>
        </p:nvSpPr>
        <p:spPr>
          <a:xfrm>
            <a:off x="9564624" y="1600200"/>
            <a:ext cx="2084832" cy="1554480"/>
          </a:xfrm>
          <a:prstGeom prst="roundRect">
            <a:avLst>
              <a:gd name="adj" fmla="val 4706"/>
            </a:avLst>
          </a:prstGeom>
          <a:solidFill>
            <a:srgbClr val="F59E0B"/>
          </a:solidFill>
          <a:ln/>
          <a:effectLst>
            <a:outerShdw sx="100000" sy="100000" kx="0" ky="0" algn="bl" rotWithShape="0" blurRad="88900" dist="38100" dir="5400000">
              <a:srgbClr val="000000">
                <a:alpha val="16000"/>
              </a:srgbClr>
            </a:outerShdw>
          </a:effectLst>
        </p:spPr>
      </p:sp>
      <p:sp>
        <p:nvSpPr>
          <p:cNvPr id="30" name="Shape 28"/>
          <p:cNvSpPr/>
          <p:nvPr/>
        </p:nvSpPr>
        <p:spPr>
          <a:xfrm>
            <a:off x="9729216" y="1764792"/>
            <a:ext cx="457200" cy="457200"/>
          </a:xfrm>
          <a:prstGeom prst="ellipse">
            <a:avLst/>
          </a:prstGeom>
          <a:solidFill>
            <a:srgbClr val="12132E"/>
          </a:solidFill>
          <a:ln/>
        </p:spPr>
      </p:sp>
      <p:sp>
        <p:nvSpPr>
          <p:cNvPr id="31" name="Text 29"/>
          <p:cNvSpPr/>
          <p:nvPr/>
        </p:nvSpPr>
        <p:spPr>
          <a:xfrm>
            <a:off x="9729216" y="176479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32" name="Text 30"/>
          <p:cNvSpPr/>
          <p:nvPr/>
        </p:nvSpPr>
        <p:spPr>
          <a:xfrm>
            <a:off x="9674352" y="2313432"/>
            <a:ext cx="1865376"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Return result</a:t>
            </a:r>
            <a:endParaRPr lang="en-US" sz="1300" dirty="0"/>
          </a:p>
        </p:txBody>
      </p:sp>
      <p:sp>
        <p:nvSpPr>
          <p:cNvPr id="33" name="Text 31"/>
          <p:cNvSpPr/>
          <p:nvPr/>
        </p:nvSpPr>
        <p:spPr>
          <a:xfrm>
            <a:off x="9674352" y="2715768"/>
            <a:ext cx="1865376" cy="365760"/>
          </a:xfrm>
          <a:prstGeom prst="rect">
            <a:avLst/>
          </a:prstGeom>
          <a:noFill/>
          <a:ln/>
        </p:spPr>
        <p:txBody>
          <a:bodyPr wrap="square" lIns="0" tIns="0" rIns="0" bIns="0" rtlCol="0" anchor="ctr"/>
          <a:lstStyle/>
          <a:p>
            <a:pPr algn="ctr" indent="0" marL="0">
              <a:lnSpc>
                <a:spcPct val="95000"/>
              </a:lnSpc>
              <a:buNone/>
            </a:pPr>
            <a:r>
              <a:rPr lang="en-US" sz="1000" dirty="0">
                <a:solidFill>
                  <a:srgbClr val="FFFFFF"/>
                </a:solidFill>
                <a:latin typeface="Calibri" pitchFamily="34" charset="0"/>
                <a:ea typeface="Calibri" pitchFamily="34" charset="-122"/>
                <a:cs typeface="Calibri" pitchFamily="34" charset="-120"/>
              </a:rPr>
              <a:t>final text + usage + cost</a:t>
            </a:r>
            <a:endParaRPr lang="en-US" sz="1000" dirty="0"/>
          </a:p>
        </p:txBody>
      </p:sp>
      <p:sp>
        <p:nvSpPr>
          <p:cNvPr id="34" name="Shape 32"/>
          <p:cNvSpPr/>
          <p:nvPr/>
        </p:nvSpPr>
        <p:spPr>
          <a:xfrm>
            <a:off x="566928" y="3429000"/>
            <a:ext cx="10936224" cy="868680"/>
          </a:xfrm>
          <a:prstGeom prst="roundRect">
            <a:avLst>
              <a:gd name="adj" fmla="val 6316"/>
            </a:avLst>
          </a:prstGeom>
          <a:solidFill>
            <a:srgbClr val="F1F3FB"/>
          </a:solidFill>
          <a:ln/>
        </p:spPr>
      </p:sp>
      <p:sp>
        <p:nvSpPr>
          <p:cNvPr id="35" name="Text 33"/>
          <p:cNvSpPr/>
          <p:nvPr/>
        </p:nvSpPr>
        <p:spPr>
          <a:xfrm>
            <a:off x="822960" y="3493008"/>
            <a:ext cx="10424160" cy="731520"/>
          </a:xfrm>
          <a:prstGeom prst="rect">
            <a:avLst/>
          </a:prstGeom>
          <a:noFill/>
          <a:ln/>
        </p:spPr>
        <p:txBody>
          <a:bodyPr wrap="square" lIns="0" tIns="0" rIns="0" bIns="0" rtlCol="0" anchor="ctr"/>
          <a:lstStyle/>
          <a:p>
            <a:pPr indent="0" marL="0">
              <a:lnSpc>
                <a:spcPct val="104000"/>
              </a:lnSpc>
              <a:buNone/>
            </a:pPr>
            <a:r>
              <a:rPr lang="en-US" sz="1300" b="1" dirty="0">
                <a:solidFill>
                  <a:srgbClr val="4F46E5"/>
                </a:solidFill>
                <a:latin typeface="Calibri" pitchFamily="34" charset="0"/>
                <a:ea typeface="Calibri" pitchFamily="34" charset="-122"/>
                <a:cs typeface="Calibri" pitchFamily="34" charset="-120"/>
              </a:rPr>
              <a:t>One turn = </a:t>
            </a:r>
            <a:pPr indent="0" marL="0">
              <a:lnSpc>
                <a:spcPct val="104000"/>
              </a:lnSpc>
              <a:buNone/>
            </a:pPr>
            <a:r>
              <a:rPr lang="en-US" sz="1300" dirty="0">
                <a:solidFill>
                  <a:srgbClr val="1E293B"/>
                </a:solidFill>
                <a:latin typeface="Calibri" pitchFamily="34" charset="0"/>
                <a:ea typeface="Calibri" pitchFamily="34" charset="-122"/>
                <a:cs typeface="Calibri" pitchFamily="34" charset="-120"/>
              </a:rPr>
              <a:t>Claude produces output with tool calls → SDK executes them → results return automatically, without yielding to your code. Steps 2–3 loop until Claude responds with </a:t>
            </a:r>
            <a:pPr indent="0" marL="0">
              <a:lnSpc>
                <a:spcPct val="104000"/>
              </a:lnSpc>
              <a:buNone/>
            </a:pPr>
            <a:r>
              <a:rPr lang="en-US" sz="1300" b="1" dirty="0">
                <a:solidFill>
                  <a:srgbClr val="12132E"/>
                </a:solidFill>
                <a:latin typeface="Calibri" pitchFamily="34" charset="0"/>
                <a:ea typeface="Calibri" pitchFamily="34" charset="-122"/>
                <a:cs typeface="Calibri" pitchFamily="34" charset="-120"/>
              </a:rPr>
              <a:t>no tool calls</a:t>
            </a:r>
            <a:pPr indent="0" marL="0">
              <a:lnSpc>
                <a:spcPct val="104000"/>
              </a:lnSpc>
              <a:buNone/>
            </a:pPr>
            <a:r>
              <a:rPr lang="en-US" sz="1300" dirty="0">
                <a:solidFill>
                  <a:srgbClr val="1E293B"/>
                </a:solidFill>
                <a:latin typeface="Calibri" pitchFamily="34" charset="0"/>
                <a:ea typeface="Calibri" pitchFamily="34" charset="-122"/>
                <a:cs typeface="Calibri" pitchFamily="34" charset="-120"/>
              </a:rPr>
              <a:t>.</a:t>
            </a:r>
            <a:endParaRPr lang="en-US" sz="1300" dirty="0"/>
          </a:p>
        </p:txBody>
      </p:sp>
      <p:sp>
        <p:nvSpPr>
          <p:cNvPr id="36" name="Text 34"/>
          <p:cNvSpPr/>
          <p:nvPr/>
        </p:nvSpPr>
        <p:spPr>
          <a:xfrm>
            <a:off x="566928" y="4526280"/>
            <a:ext cx="10936224" cy="822960"/>
          </a:xfrm>
          <a:prstGeom prst="rect">
            <a:avLst/>
          </a:prstGeom>
          <a:noFill/>
          <a:ln/>
        </p:spPr>
        <p:txBody>
          <a:bodyPr wrap="square" lIns="0" tIns="0" rIns="0" bIns="0" rtlCol="0" anchor="ctr"/>
          <a:lstStyle/>
          <a:p>
            <a:pPr indent="0" marL="0">
              <a:lnSpc>
                <a:spcPct val="108000"/>
              </a:lnSpc>
              <a:buNone/>
            </a:pPr>
            <a:r>
              <a:rPr lang="en-US" sz="1250" i="1" dirty="0">
                <a:solidFill>
                  <a:srgbClr val="64748B"/>
                </a:solidFill>
                <a:latin typeface="Calibri" pitchFamily="34" charset="0"/>
                <a:ea typeface="Calibri" pitchFamily="34" charset="-122"/>
                <a:cs typeface="Calibri" pitchFamily="34" charset="-120"/>
              </a:rPr>
              <a:t>Example — “Fix the failing tests in auth.ts”:  Turn 1 Bash npm test → Turn 2 Read files → Turn 3 Edit + re-run (green) → final text-only turn. Four turns, three with tools.</a:t>
            </a:r>
            <a:endParaRPr lang="en-US" sz="1250" dirty="0"/>
          </a:p>
        </p:txBody>
      </p:sp>
      <p:sp>
        <p:nvSpPr>
          <p:cNvPr id="37" name="Text 35"/>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38" name="Text 36"/>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39" name="Text 37"/>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OBSERVABILITY</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Reading the loop: message types</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platform.claude.com/docs/en/agent-sdk/agent-loop#message-types</a:t>
            </a:r>
            <a:endParaRPr lang="en-US" sz="1050" dirty="0"/>
          </a:p>
        </p:txBody>
      </p:sp>
      <p:sp>
        <p:nvSpPr>
          <p:cNvPr id="5" name="Text 3"/>
          <p:cNvSpPr/>
          <p:nvPr/>
        </p:nvSpPr>
        <p:spPr>
          <a:xfrm>
            <a:off x="548640" y="1371600"/>
            <a:ext cx="11064240" cy="594360"/>
          </a:xfrm>
          <a:prstGeom prst="rect">
            <a:avLst/>
          </a:prstGeom>
          <a:noFill/>
          <a:ln/>
        </p:spPr>
        <p:txBody>
          <a:bodyPr wrap="square" lIns="0" tIns="0" rIns="0" bIns="0" rtlCol="0" anchor="ctr"/>
          <a:lstStyle/>
          <a:p>
            <a:pPr indent="0" marL="0">
              <a:buNone/>
            </a:pPr>
            <a:r>
              <a:rPr lang="en-US" sz="1450" dirty="0">
                <a:solidFill>
                  <a:srgbClr val="1E293B"/>
                </a:solidFill>
                <a:latin typeface="Calibri" pitchFamily="34" charset="0"/>
                <a:ea typeface="Calibri" pitchFamily="34" charset="-122"/>
                <a:cs typeface="Calibri" pitchFamily="34" charset="-120"/>
              </a:rPr>
              <a:t>As the loop runs the SDK yields a stream of typed messages. Knowing them is how you build progress UIs, audit trails, and cost tracking.</a:t>
            </a:r>
            <a:endParaRPr lang="en-US" sz="1450" dirty="0"/>
          </a:p>
        </p:txBody>
      </p:sp>
      <p:sp>
        <p:nvSpPr>
          <p:cNvPr id="6" name="Shape 4"/>
          <p:cNvSpPr/>
          <p:nvPr/>
        </p:nvSpPr>
        <p:spPr>
          <a:xfrm>
            <a:off x="548640" y="2103120"/>
            <a:ext cx="11064240" cy="603504"/>
          </a:xfrm>
          <a:prstGeom prst="roundRect">
            <a:avLst>
              <a:gd name="adj" fmla="val 7576"/>
            </a:avLst>
          </a:prstGeom>
          <a:solidFill>
            <a:srgbClr val="FFFFFF"/>
          </a:solidFill>
          <a:ln w="12700">
            <a:solidFill>
              <a:srgbClr val="E2E8F0"/>
            </a:solidFill>
            <a:prstDash val="solid"/>
          </a:ln>
        </p:spPr>
      </p:sp>
      <p:sp>
        <p:nvSpPr>
          <p:cNvPr id="7" name="Shape 5"/>
          <p:cNvSpPr/>
          <p:nvPr/>
        </p:nvSpPr>
        <p:spPr>
          <a:xfrm>
            <a:off x="731520" y="2313432"/>
            <a:ext cx="182880" cy="182880"/>
          </a:xfrm>
          <a:prstGeom prst="ellipse">
            <a:avLst/>
          </a:prstGeom>
          <a:solidFill>
            <a:srgbClr val="4F46E5"/>
          </a:solidFill>
          <a:ln/>
        </p:spPr>
      </p:sp>
      <p:sp>
        <p:nvSpPr>
          <p:cNvPr id="8" name="Text 6"/>
          <p:cNvSpPr/>
          <p:nvPr/>
        </p:nvSpPr>
        <p:spPr>
          <a:xfrm>
            <a:off x="1024128" y="2103120"/>
            <a:ext cx="2743200" cy="603504"/>
          </a:xfrm>
          <a:prstGeom prst="rect">
            <a:avLst/>
          </a:prstGeom>
          <a:noFill/>
          <a:ln/>
        </p:spPr>
        <p:txBody>
          <a:bodyPr wrap="square" lIns="0" tIns="0" rIns="0" bIns="0" rtlCol="0" anchor="ctr"/>
          <a:lstStyle/>
          <a:p>
            <a:pPr indent="0" marL="0">
              <a:buNone/>
            </a:pPr>
            <a:r>
              <a:rPr lang="en-US" sz="1300" b="1" dirty="0">
                <a:solidFill>
                  <a:srgbClr val="4F46E5"/>
                </a:solidFill>
                <a:latin typeface="Courier New" pitchFamily="34" charset="0"/>
                <a:ea typeface="Courier New" pitchFamily="34" charset="-122"/>
                <a:cs typeface="Courier New" pitchFamily="34" charset="-120"/>
              </a:rPr>
              <a:t>SystemMessage</a:t>
            </a:r>
            <a:endParaRPr lang="en-US" sz="1300" dirty="0"/>
          </a:p>
        </p:txBody>
      </p:sp>
      <p:sp>
        <p:nvSpPr>
          <p:cNvPr id="9" name="Text 7"/>
          <p:cNvSpPr/>
          <p:nvPr/>
        </p:nvSpPr>
        <p:spPr>
          <a:xfrm>
            <a:off x="3840480" y="2103120"/>
            <a:ext cx="7589520" cy="603504"/>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Session lifecycle — subtype init / compact_boundary / …</a:t>
            </a:r>
            <a:endParaRPr lang="en-US" sz="1250" dirty="0"/>
          </a:p>
        </p:txBody>
      </p:sp>
      <p:sp>
        <p:nvSpPr>
          <p:cNvPr id="10" name="Shape 8"/>
          <p:cNvSpPr/>
          <p:nvPr/>
        </p:nvSpPr>
        <p:spPr>
          <a:xfrm>
            <a:off x="548640" y="2816352"/>
            <a:ext cx="11064240" cy="603504"/>
          </a:xfrm>
          <a:prstGeom prst="roundRect">
            <a:avLst>
              <a:gd name="adj" fmla="val 7576"/>
            </a:avLst>
          </a:prstGeom>
          <a:solidFill>
            <a:srgbClr val="F8FAFC"/>
          </a:solidFill>
          <a:ln w="12700">
            <a:solidFill>
              <a:srgbClr val="E2E8F0"/>
            </a:solidFill>
            <a:prstDash val="solid"/>
          </a:ln>
        </p:spPr>
      </p:sp>
      <p:sp>
        <p:nvSpPr>
          <p:cNvPr id="11" name="Shape 9"/>
          <p:cNvSpPr/>
          <p:nvPr/>
        </p:nvSpPr>
        <p:spPr>
          <a:xfrm>
            <a:off x="731520" y="3026664"/>
            <a:ext cx="182880" cy="182880"/>
          </a:xfrm>
          <a:prstGeom prst="ellipse">
            <a:avLst/>
          </a:prstGeom>
          <a:solidFill>
            <a:srgbClr val="6366F1"/>
          </a:solidFill>
          <a:ln/>
        </p:spPr>
      </p:sp>
      <p:sp>
        <p:nvSpPr>
          <p:cNvPr id="12" name="Text 10"/>
          <p:cNvSpPr/>
          <p:nvPr/>
        </p:nvSpPr>
        <p:spPr>
          <a:xfrm>
            <a:off x="1024128" y="2816352"/>
            <a:ext cx="2743200" cy="603504"/>
          </a:xfrm>
          <a:prstGeom prst="rect">
            <a:avLst/>
          </a:prstGeom>
          <a:noFill/>
          <a:ln/>
        </p:spPr>
        <p:txBody>
          <a:bodyPr wrap="square" lIns="0" tIns="0" rIns="0" bIns="0" rtlCol="0" anchor="ctr"/>
          <a:lstStyle/>
          <a:p>
            <a:pPr indent="0" marL="0">
              <a:buNone/>
            </a:pPr>
            <a:r>
              <a:rPr lang="en-US" sz="1300" b="1" dirty="0">
                <a:solidFill>
                  <a:srgbClr val="6366F1"/>
                </a:solidFill>
                <a:latin typeface="Courier New" pitchFamily="34" charset="0"/>
                <a:ea typeface="Courier New" pitchFamily="34" charset="-122"/>
                <a:cs typeface="Courier New" pitchFamily="34" charset="-120"/>
              </a:rPr>
              <a:t>AssistantMessage</a:t>
            </a:r>
            <a:endParaRPr lang="en-US" sz="1300" dirty="0"/>
          </a:p>
        </p:txBody>
      </p:sp>
      <p:sp>
        <p:nvSpPr>
          <p:cNvPr id="13" name="Text 11"/>
          <p:cNvSpPr/>
          <p:nvPr/>
        </p:nvSpPr>
        <p:spPr>
          <a:xfrm>
            <a:off x="3840480" y="2816352"/>
            <a:ext cx="7589520" cy="603504"/>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After each Claude response — text + tool-call blocks</a:t>
            </a:r>
            <a:endParaRPr lang="en-US" sz="1250" dirty="0"/>
          </a:p>
        </p:txBody>
      </p:sp>
      <p:sp>
        <p:nvSpPr>
          <p:cNvPr id="14" name="Shape 12"/>
          <p:cNvSpPr/>
          <p:nvPr/>
        </p:nvSpPr>
        <p:spPr>
          <a:xfrm>
            <a:off x="548640" y="3529584"/>
            <a:ext cx="11064240" cy="603504"/>
          </a:xfrm>
          <a:prstGeom prst="roundRect">
            <a:avLst>
              <a:gd name="adj" fmla="val 7576"/>
            </a:avLst>
          </a:prstGeom>
          <a:solidFill>
            <a:srgbClr val="FFFFFF"/>
          </a:solidFill>
          <a:ln w="12700">
            <a:solidFill>
              <a:srgbClr val="E2E8F0"/>
            </a:solidFill>
            <a:prstDash val="solid"/>
          </a:ln>
        </p:spPr>
      </p:sp>
      <p:sp>
        <p:nvSpPr>
          <p:cNvPr id="15" name="Shape 13"/>
          <p:cNvSpPr/>
          <p:nvPr/>
        </p:nvSpPr>
        <p:spPr>
          <a:xfrm>
            <a:off x="731520" y="3739896"/>
            <a:ext cx="182880" cy="182880"/>
          </a:xfrm>
          <a:prstGeom prst="ellipse">
            <a:avLst/>
          </a:prstGeom>
          <a:solidFill>
            <a:srgbClr val="14B8A6"/>
          </a:solidFill>
          <a:ln/>
        </p:spPr>
      </p:sp>
      <p:sp>
        <p:nvSpPr>
          <p:cNvPr id="16" name="Text 14"/>
          <p:cNvSpPr/>
          <p:nvPr/>
        </p:nvSpPr>
        <p:spPr>
          <a:xfrm>
            <a:off x="1024128" y="3529584"/>
            <a:ext cx="2743200" cy="603504"/>
          </a:xfrm>
          <a:prstGeom prst="rect">
            <a:avLst/>
          </a:prstGeom>
          <a:noFill/>
          <a:ln/>
        </p:spPr>
        <p:txBody>
          <a:bodyPr wrap="square" lIns="0" tIns="0" rIns="0" bIns="0" rtlCol="0" anchor="ctr"/>
          <a:lstStyle/>
          <a:p>
            <a:pPr indent="0" marL="0">
              <a:buNone/>
            </a:pPr>
            <a:r>
              <a:rPr lang="en-US" sz="1300" b="1" dirty="0">
                <a:solidFill>
                  <a:srgbClr val="14B8A6"/>
                </a:solidFill>
                <a:latin typeface="Courier New" pitchFamily="34" charset="0"/>
                <a:ea typeface="Courier New" pitchFamily="34" charset="-122"/>
                <a:cs typeface="Courier New" pitchFamily="34" charset="-120"/>
              </a:rPr>
              <a:t>UserMessage</a:t>
            </a:r>
            <a:endParaRPr lang="en-US" sz="1300" dirty="0"/>
          </a:p>
        </p:txBody>
      </p:sp>
      <p:sp>
        <p:nvSpPr>
          <p:cNvPr id="17" name="Text 15"/>
          <p:cNvSpPr/>
          <p:nvPr/>
        </p:nvSpPr>
        <p:spPr>
          <a:xfrm>
            <a:off x="3840480" y="3529584"/>
            <a:ext cx="7589520" cy="603504"/>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After each tool execution — the tool result sent back</a:t>
            </a:r>
            <a:endParaRPr lang="en-US" sz="1250" dirty="0"/>
          </a:p>
        </p:txBody>
      </p:sp>
      <p:sp>
        <p:nvSpPr>
          <p:cNvPr id="18" name="Shape 16"/>
          <p:cNvSpPr/>
          <p:nvPr/>
        </p:nvSpPr>
        <p:spPr>
          <a:xfrm>
            <a:off x="548640" y="4242816"/>
            <a:ext cx="11064240" cy="603504"/>
          </a:xfrm>
          <a:prstGeom prst="roundRect">
            <a:avLst>
              <a:gd name="adj" fmla="val 7576"/>
            </a:avLst>
          </a:prstGeom>
          <a:solidFill>
            <a:srgbClr val="F8FAFC"/>
          </a:solidFill>
          <a:ln w="12700">
            <a:solidFill>
              <a:srgbClr val="E2E8F0"/>
            </a:solidFill>
            <a:prstDash val="solid"/>
          </a:ln>
        </p:spPr>
      </p:sp>
      <p:sp>
        <p:nvSpPr>
          <p:cNvPr id="19" name="Shape 17"/>
          <p:cNvSpPr/>
          <p:nvPr/>
        </p:nvSpPr>
        <p:spPr>
          <a:xfrm>
            <a:off x="731520" y="4453128"/>
            <a:ext cx="182880" cy="182880"/>
          </a:xfrm>
          <a:prstGeom prst="ellipse">
            <a:avLst/>
          </a:prstGeom>
          <a:solidFill>
            <a:srgbClr val="8B5CF6"/>
          </a:solidFill>
          <a:ln/>
        </p:spPr>
      </p:sp>
      <p:sp>
        <p:nvSpPr>
          <p:cNvPr id="20" name="Text 18"/>
          <p:cNvSpPr/>
          <p:nvPr/>
        </p:nvSpPr>
        <p:spPr>
          <a:xfrm>
            <a:off x="1024128" y="4242816"/>
            <a:ext cx="2743200" cy="603504"/>
          </a:xfrm>
          <a:prstGeom prst="rect">
            <a:avLst/>
          </a:prstGeom>
          <a:noFill/>
          <a:ln/>
        </p:spPr>
        <p:txBody>
          <a:bodyPr wrap="square" lIns="0" tIns="0" rIns="0" bIns="0" rtlCol="0" anchor="ctr"/>
          <a:lstStyle/>
          <a:p>
            <a:pPr indent="0" marL="0">
              <a:buNone/>
            </a:pPr>
            <a:r>
              <a:rPr lang="en-US" sz="1300" b="1" dirty="0">
                <a:solidFill>
                  <a:srgbClr val="8B5CF6"/>
                </a:solidFill>
                <a:latin typeface="Courier New" pitchFamily="34" charset="0"/>
                <a:ea typeface="Courier New" pitchFamily="34" charset="-122"/>
                <a:cs typeface="Courier New" pitchFamily="34" charset="-120"/>
              </a:rPr>
              <a:t>StreamEvent</a:t>
            </a:r>
            <a:endParaRPr lang="en-US" sz="1300" dirty="0"/>
          </a:p>
        </p:txBody>
      </p:sp>
      <p:sp>
        <p:nvSpPr>
          <p:cNvPr id="21" name="Text 19"/>
          <p:cNvSpPr/>
          <p:nvPr/>
        </p:nvSpPr>
        <p:spPr>
          <a:xfrm>
            <a:off x="3840480" y="4242816"/>
            <a:ext cx="7589520" cy="603504"/>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Raw streaming deltas (only when partial messages on)</a:t>
            </a:r>
            <a:endParaRPr lang="en-US" sz="1250" dirty="0"/>
          </a:p>
        </p:txBody>
      </p:sp>
      <p:sp>
        <p:nvSpPr>
          <p:cNvPr id="22" name="Shape 20"/>
          <p:cNvSpPr/>
          <p:nvPr/>
        </p:nvSpPr>
        <p:spPr>
          <a:xfrm>
            <a:off x="548640" y="4956048"/>
            <a:ext cx="11064240" cy="603504"/>
          </a:xfrm>
          <a:prstGeom prst="roundRect">
            <a:avLst>
              <a:gd name="adj" fmla="val 7576"/>
            </a:avLst>
          </a:prstGeom>
          <a:solidFill>
            <a:srgbClr val="FFFFFF"/>
          </a:solidFill>
          <a:ln w="12700">
            <a:solidFill>
              <a:srgbClr val="E2E8F0"/>
            </a:solidFill>
            <a:prstDash val="solid"/>
          </a:ln>
        </p:spPr>
      </p:sp>
      <p:sp>
        <p:nvSpPr>
          <p:cNvPr id="23" name="Shape 21"/>
          <p:cNvSpPr/>
          <p:nvPr/>
        </p:nvSpPr>
        <p:spPr>
          <a:xfrm>
            <a:off x="731520" y="5166360"/>
            <a:ext cx="182880" cy="182880"/>
          </a:xfrm>
          <a:prstGeom prst="ellipse">
            <a:avLst/>
          </a:prstGeom>
          <a:solidFill>
            <a:srgbClr val="F59E0B"/>
          </a:solidFill>
          <a:ln/>
        </p:spPr>
      </p:sp>
      <p:sp>
        <p:nvSpPr>
          <p:cNvPr id="24" name="Text 22"/>
          <p:cNvSpPr/>
          <p:nvPr/>
        </p:nvSpPr>
        <p:spPr>
          <a:xfrm>
            <a:off x="1024128" y="4956048"/>
            <a:ext cx="2743200" cy="603504"/>
          </a:xfrm>
          <a:prstGeom prst="rect">
            <a:avLst/>
          </a:prstGeom>
          <a:noFill/>
          <a:ln/>
        </p:spPr>
        <p:txBody>
          <a:bodyPr wrap="square" lIns="0" tIns="0" rIns="0" bIns="0" rtlCol="0" anchor="ctr"/>
          <a:lstStyle/>
          <a:p>
            <a:pPr indent="0" marL="0">
              <a:buNone/>
            </a:pPr>
            <a:r>
              <a:rPr lang="en-US" sz="1300" b="1" dirty="0">
                <a:solidFill>
                  <a:srgbClr val="F59E0B"/>
                </a:solidFill>
                <a:latin typeface="Courier New" pitchFamily="34" charset="0"/>
                <a:ea typeface="Courier New" pitchFamily="34" charset="-122"/>
                <a:cs typeface="Courier New" pitchFamily="34" charset="-120"/>
              </a:rPr>
              <a:t>ResultMessage</a:t>
            </a:r>
            <a:endParaRPr lang="en-US" sz="1300" dirty="0"/>
          </a:p>
        </p:txBody>
      </p:sp>
      <p:sp>
        <p:nvSpPr>
          <p:cNvPr id="25" name="Text 23"/>
          <p:cNvSpPr/>
          <p:nvPr/>
        </p:nvSpPr>
        <p:spPr>
          <a:xfrm>
            <a:off x="3840480" y="4956048"/>
            <a:ext cx="7589520" cy="603504"/>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End of loop — final text, token usage, cost, session_id</a:t>
            </a:r>
            <a:endParaRPr lang="en-US" sz="1250" dirty="0"/>
          </a:p>
        </p:txBody>
      </p:sp>
      <p:sp>
        <p:nvSpPr>
          <p:cNvPr id="26" name="Text 24"/>
          <p:cNvSpPr/>
          <p:nvPr/>
        </p:nvSpPr>
        <p:spPr>
          <a:xfrm>
            <a:off x="548640" y="5760720"/>
            <a:ext cx="11064240" cy="365760"/>
          </a:xfrm>
          <a:prstGeom prst="rect">
            <a:avLst/>
          </a:prstGeom>
          <a:noFill/>
          <a:ln/>
        </p:spPr>
        <p:txBody>
          <a:bodyPr wrap="square" lIns="0" tIns="0" rIns="0" bIns="0" rtlCol="0" anchor="ctr"/>
          <a:lstStyle/>
          <a:p>
            <a:pPr indent="0" marL="0">
              <a:buNone/>
            </a:pPr>
            <a:r>
              <a:rPr lang="en-US" sz="1200" i="1" dirty="0">
                <a:solidFill>
                  <a:srgbClr val="4F46E5"/>
                </a:solidFill>
                <a:latin typeface="Calibri" pitchFamily="34" charset="0"/>
                <a:ea typeface="Calibri" pitchFamily="34" charset="-122"/>
                <a:cs typeface="Calibri" pitchFamily="34" charset="-120"/>
              </a:rPr>
              <a:t>Drive most apps off ResultMessage (output + cost + subtype). Stream AssistantMessage for live progress.</a:t>
            </a:r>
            <a:endParaRPr lang="en-US" sz="1200" dirty="0"/>
          </a:p>
        </p:txBody>
      </p:sp>
      <p:sp>
        <p:nvSpPr>
          <p:cNvPr id="27" name="Text 25"/>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28" name="Text 26"/>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29" name="Text 27"/>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01_AGENTIC_LOOP_RAW_API.PY</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Walkthrough 1 — the loop on stop_reason</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docs: build-with-claude/handling-stop-reasons</a:t>
            </a:r>
            <a:endParaRPr lang="en-US" sz="1050" dirty="0"/>
          </a:p>
        </p:txBody>
      </p:sp>
      <p:sp>
        <p:nvSpPr>
          <p:cNvPr id="5" name="Shape 3"/>
          <p:cNvSpPr/>
          <p:nvPr/>
        </p:nvSpPr>
        <p:spPr>
          <a:xfrm>
            <a:off x="548640" y="1417320"/>
            <a:ext cx="6858000" cy="4572000"/>
          </a:xfrm>
          <a:prstGeom prst="roundRect">
            <a:avLst>
              <a:gd name="adj" fmla="val 1600"/>
            </a:avLst>
          </a:prstGeom>
          <a:solidFill>
            <a:srgbClr val="11142B"/>
          </a:solidFill>
          <a:ln/>
          <a:effectLst>
            <a:outerShdw sx="100000" sy="100000" kx="0" ky="0" algn="bl" rotWithShape="0" blurRad="88900" dist="38100" dir="5400000">
              <a:srgbClr val="000000">
                <a:alpha val="16000"/>
              </a:srgbClr>
            </a:outerShdw>
          </a:effectLst>
        </p:spPr>
      </p:sp>
      <p:sp>
        <p:nvSpPr>
          <p:cNvPr id="6" name="Text 4"/>
          <p:cNvSpPr/>
          <p:nvPr/>
        </p:nvSpPr>
        <p:spPr>
          <a:xfrm>
            <a:off x="749808" y="1563624"/>
            <a:ext cx="6455664" cy="4279392"/>
          </a:xfrm>
          <a:prstGeom prst="rect">
            <a:avLst/>
          </a:prstGeom>
          <a:noFill/>
          <a:ln/>
        </p:spPr>
        <p:txBody>
          <a:bodyPr wrap="square" lIns="0" tIns="0" rIns="0" bIns="0" rtlCol="0" anchor="t"/>
          <a:lstStyle/>
          <a:p>
            <a:pPr indent="0" marL="0">
              <a:lnSpc>
                <a:spcPct val="102000"/>
              </a:lnSpc>
              <a:buNone/>
            </a:pPr>
            <a:r>
              <a:rPr lang="en-US" sz="1250" dirty="0">
                <a:solidFill>
                  <a:srgbClr val="E2E8F0"/>
                </a:solidFill>
                <a:latin typeface="Courier New" pitchFamily="34" charset="0"/>
                <a:ea typeface="Courier New" pitchFamily="34" charset="-122"/>
                <a:cs typeface="Courier New" pitchFamily="34" charset="-120"/>
              </a:rPr>
              <a:t>messages = [{"role":"user","content": prompt}]</a:t>
            </a:r>
            <a:endParaRPr lang="en-US" sz="1250" dirty="0"/>
          </a:p>
          <a:p>
            <a:pPr indent="0" marL="0">
              <a:lnSpc>
                <a:spcPct val="102000"/>
              </a:lnSpc>
              <a:buNone/>
            </a:pPr>
            <a:r>
              <a:rPr lang="en-US" sz="1250" dirty="0">
                <a:solidFill>
                  <a:srgbClr val="7DD3FC"/>
                </a:solidFill>
                <a:latin typeface="Courier New" pitchFamily="34" charset="0"/>
                <a:ea typeface="Courier New" pitchFamily="34" charset="-122"/>
                <a:cs typeface="Courier New" pitchFamily="34" charset="-120"/>
              </a:rPr>
              <a:t>for _ in range(max_safety_turns):     # circuit breaker</a:t>
            </a:r>
            <a:endParaRPr lang="en-US" sz="1250" dirty="0"/>
          </a:p>
          <a:p>
            <a:pPr indent="0" marL="0">
              <a:lnSpc>
                <a:spcPct val="102000"/>
              </a:lnSpc>
              <a:buNone/>
            </a:pPr>
            <a:r>
              <a:rPr lang="en-US" sz="1250" dirty="0">
                <a:solidFill>
                  <a:srgbClr val="E2E8F0"/>
                </a:solidFill>
                <a:latin typeface="Courier New" pitchFamily="34" charset="0"/>
                <a:ea typeface="Courier New" pitchFamily="34" charset="-122"/>
                <a:cs typeface="Courier New" pitchFamily="34" charset="-120"/>
              </a:rPr>
              <a:t>    r = client.messages.create(model, tools=TOOLS,</a:t>
            </a:r>
            <a:endParaRPr lang="en-US" sz="1250" dirty="0"/>
          </a:p>
          <a:p>
            <a:pPr indent="0" marL="0">
              <a:lnSpc>
                <a:spcPct val="102000"/>
              </a:lnSpc>
              <a:buNone/>
            </a:pPr>
            <a:r>
              <a:rPr lang="en-US" sz="1250" dirty="0">
                <a:solidFill>
                  <a:srgbClr val="E2E8F0"/>
                </a:solidFill>
                <a:latin typeface="Courier New" pitchFamily="34" charset="0"/>
                <a:ea typeface="Courier New" pitchFamily="34" charset="-122"/>
                <a:cs typeface="Courier New" pitchFamily="34" charset="-120"/>
              </a:rPr>
              <a:t>                                messages=messages)</a:t>
            </a:r>
            <a:endParaRPr lang="en-US" sz="1250" dirty="0"/>
          </a:p>
          <a:p>
            <a:pPr indent="0" marL="0">
              <a:lnSpc>
                <a:spcPct val="102000"/>
              </a:lnSpc>
              <a:buNone/>
            </a:pPr>
            <a:r>
              <a:rPr lang="en-US" sz="1250" dirty="0">
                <a:solidFill>
                  <a:srgbClr val="E2E8F0"/>
                </a:solidFill>
                <a:latin typeface="Courier New" pitchFamily="34" charset="0"/>
                <a:ea typeface="Courier New" pitchFamily="34" charset="-122"/>
                <a:cs typeface="Courier New" pitchFamily="34" charset="-120"/>
              </a:rPr>
              <a:t>    messages.append({"role":"assistant",</a:t>
            </a:r>
            <a:endParaRPr lang="en-US" sz="1250" dirty="0"/>
          </a:p>
          <a:p>
            <a:pPr indent="0" marL="0">
              <a:lnSpc>
                <a:spcPct val="102000"/>
              </a:lnSpc>
              <a:buNone/>
            </a:pPr>
            <a:r>
              <a:rPr lang="en-US" sz="1250" dirty="0">
                <a:solidFill>
                  <a:srgbClr val="E2E8F0"/>
                </a:solidFill>
                <a:latin typeface="Courier New" pitchFamily="34" charset="0"/>
                <a:ea typeface="Courier New" pitchFamily="34" charset="-122"/>
                <a:cs typeface="Courier New" pitchFamily="34" charset="-120"/>
              </a:rPr>
              <a:t>                     "content": r.content})</a:t>
            </a:r>
            <a:endParaRPr lang="en-US" sz="1250" dirty="0"/>
          </a:p>
          <a:p>
            <a:pPr indent="0" marL="0">
              <a:lnSpc>
                <a:spcPct val="102000"/>
              </a:lnSpc>
              <a:buNone/>
            </a:pPr>
            <a:r>
              <a:rPr lang="en-US" sz="1250" dirty="0">
                <a:solidFill>
                  <a:srgbClr val="FCA5A5"/>
                </a:solidFill>
                <a:latin typeface="Courier New" pitchFamily="34" charset="0"/>
                <a:ea typeface="Courier New" pitchFamily="34" charset="-122"/>
                <a:cs typeface="Courier New" pitchFamily="34" charset="-120"/>
              </a:rPr>
              <a:t>    if r.stop_reason == "end_turn":   # 1 done</a:t>
            </a:r>
            <a:endParaRPr lang="en-US" sz="1250" dirty="0"/>
          </a:p>
          <a:p>
            <a:pPr indent="0" marL="0">
              <a:lnSpc>
                <a:spcPct val="102000"/>
              </a:lnSpc>
              <a:buNone/>
            </a:pPr>
            <a:r>
              <a:rPr lang="en-US" sz="1250" dirty="0">
                <a:solidFill>
                  <a:srgbClr val="E2E8F0"/>
                </a:solidFill>
                <a:latin typeface="Courier New" pitchFamily="34" charset="0"/>
                <a:ea typeface="Courier New" pitchFamily="34" charset="-122"/>
                <a:cs typeface="Courier New" pitchFamily="34" charset="-120"/>
              </a:rPr>
              <a:t>        return final_text(r)</a:t>
            </a:r>
            <a:endParaRPr lang="en-US" sz="1250" dirty="0"/>
          </a:p>
          <a:p>
            <a:pPr indent="0" marL="0">
              <a:lnSpc>
                <a:spcPct val="102000"/>
              </a:lnSpc>
              <a:buNone/>
            </a:pPr>
            <a:r>
              <a:rPr lang="en-US" sz="1250" dirty="0">
                <a:solidFill>
                  <a:srgbClr val="5EEAD4"/>
                </a:solidFill>
                <a:latin typeface="Courier New" pitchFamily="34" charset="0"/>
                <a:ea typeface="Courier New" pitchFamily="34" charset="-122"/>
                <a:cs typeface="Courier New" pitchFamily="34" charset="-120"/>
              </a:rPr>
              <a:t>    if r.stop_reason == "tool_use":   # 2 continue</a:t>
            </a:r>
            <a:endParaRPr lang="en-US" sz="1250" dirty="0"/>
          </a:p>
          <a:p>
            <a:pPr indent="0" marL="0">
              <a:lnSpc>
                <a:spcPct val="102000"/>
              </a:lnSpc>
              <a:buNone/>
            </a:pPr>
            <a:r>
              <a:rPr lang="en-US" sz="1250" dirty="0">
                <a:solidFill>
                  <a:srgbClr val="E2E8F0"/>
                </a:solidFill>
                <a:latin typeface="Courier New" pitchFamily="34" charset="0"/>
                <a:ea typeface="Courier New" pitchFamily="34" charset="-122"/>
                <a:cs typeface="Courier New" pitchFamily="34" charset="-120"/>
              </a:rPr>
              <a:t>        results = run_tools(r.content)</a:t>
            </a:r>
            <a:endParaRPr lang="en-US" sz="1250" dirty="0"/>
          </a:p>
          <a:p>
            <a:pPr indent="0" marL="0">
              <a:lnSpc>
                <a:spcPct val="102000"/>
              </a:lnSpc>
              <a:buNone/>
            </a:pPr>
            <a:r>
              <a:rPr lang="en-US" sz="1250" dirty="0">
                <a:solidFill>
                  <a:srgbClr val="E2E8F0"/>
                </a:solidFill>
                <a:latin typeface="Courier New" pitchFamily="34" charset="0"/>
                <a:ea typeface="Courier New" pitchFamily="34" charset="-122"/>
                <a:cs typeface="Courier New" pitchFamily="34" charset="-120"/>
              </a:rPr>
              <a:t>        messages.append({"role":"user",</a:t>
            </a:r>
            <a:endParaRPr lang="en-US" sz="1250" dirty="0"/>
          </a:p>
          <a:p>
            <a:pPr indent="0" marL="0">
              <a:lnSpc>
                <a:spcPct val="102000"/>
              </a:lnSpc>
              <a:buNone/>
            </a:pPr>
            <a:r>
              <a:rPr lang="en-US" sz="1250" dirty="0">
                <a:solidFill>
                  <a:srgbClr val="A5B4FC"/>
                </a:solidFill>
                <a:latin typeface="Courier New" pitchFamily="34" charset="0"/>
                <a:ea typeface="Courier New" pitchFamily="34" charset="-122"/>
                <a:cs typeface="Courier New" pitchFamily="34" charset="-120"/>
              </a:rPr>
              <a:t>                  "content": results})  # 3 feed back</a:t>
            </a:r>
            <a:endParaRPr lang="en-US" sz="1250" dirty="0"/>
          </a:p>
        </p:txBody>
      </p:sp>
      <p:sp>
        <p:nvSpPr>
          <p:cNvPr id="7" name="Shape 5"/>
          <p:cNvSpPr/>
          <p:nvPr/>
        </p:nvSpPr>
        <p:spPr>
          <a:xfrm>
            <a:off x="7635240" y="1417320"/>
            <a:ext cx="3977640" cy="1371600"/>
          </a:xfrm>
          <a:prstGeom prst="roundRect">
            <a:avLst>
              <a:gd name="adj" fmla="val 4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8" name="Shape 6"/>
          <p:cNvSpPr/>
          <p:nvPr/>
        </p:nvSpPr>
        <p:spPr>
          <a:xfrm>
            <a:off x="7818120" y="1600200"/>
            <a:ext cx="457200" cy="457200"/>
          </a:xfrm>
          <a:prstGeom prst="ellipse">
            <a:avLst/>
          </a:prstGeom>
          <a:solidFill>
            <a:srgbClr val="F43F5E"/>
          </a:solidFill>
          <a:ln/>
        </p:spPr>
      </p:sp>
      <p:sp>
        <p:nvSpPr>
          <p:cNvPr id="9" name="Text 7"/>
          <p:cNvSpPr/>
          <p:nvPr/>
        </p:nvSpPr>
        <p:spPr>
          <a:xfrm>
            <a:off x="7818120" y="1600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8412480" y="1618488"/>
            <a:ext cx="3017520" cy="411480"/>
          </a:xfrm>
          <a:prstGeom prst="rect">
            <a:avLst/>
          </a:prstGeom>
          <a:noFill/>
          <a:ln/>
        </p:spPr>
        <p:txBody>
          <a:bodyPr wrap="square" lIns="0" tIns="0" rIns="0" bIns="0" rtlCol="0" anchor="ctr"/>
          <a:lstStyle/>
          <a:p>
            <a:pPr indent="0" marL="0">
              <a:buNone/>
            </a:pPr>
            <a:r>
              <a:rPr lang="en-US" sz="1350" b="1" dirty="0">
                <a:solidFill>
                  <a:srgbClr val="12132E"/>
                </a:solidFill>
                <a:latin typeface="Calibri" pitchFamily="34" charset="0"/>
                <a:ea typeface="Calibri" pitchFamily="34" charset="-122"/>
                <a:cs typeface="Calibri" pitchFamily="34" charset="-120"/>
              </a:rPr>
              <a:t>Terminate on end_turn</a:t>
            </a:r>
            <a:endParaRPr lang="en-US" sz="1350" dirty="0"/>
          </a:p>
        </p:txBody>
      </p:sp>
      <p:sp>
        <p:nvSpPr>
          <p:cNvPr id="11" name="Text 9"/>
          <p:cNvSpPr/>
          <p:nvPr/>
        </p:nvSpPr>
        <p:spPr>
          <a:xfrm>
            <a:off x="7818120" y="2093976"/>
            <a:ext cx="3657600" cy="640080"/>
          </a:xfrm>
          <a:prstGeom prst="rect">
            <a:avLst/>
          </a:prstGeom>
          <a:noFill/>
          <a:ln/>
        </p:spPr>
        <p:txBody>
          <a:bodyPr wrap="square" lIns="0" tIns="0" rIns="0" bIns="0" rtlCol="0" anchor="ctr"/>
          <a:lstStyle/>
          <a:p>
            <a:pPr indent="0" marL="0">
              <a:lnSpc>
                <a:spcPct val="105000"/>
              </a:lnSpc>
              <a:buNone/>
            </a:pPr>
            <a:r>
              <a:rPr lang="en-US" sz="1150" dirty="0">
                <a:solidFill>
                  <a:srgbClr val="64748B"/>
                </a:solidFill>
                <a:latin typeface="Calibri" pitchFamily="34" charset="0"/>
                <a:ea typeface="Calibri" pitchFamily="34" charset="-122"/>
                <a:cs typeface="Calibri" pitchFamily="34" charset="-120"/>
              </a:rPr>
              <a:t>Return the model's final text — not on assistant text or an iteration cap.</a:t>
            </a:r>
            <a:endParaRPr lang="en-US" sz="1150" dirty="0"/>
          </a:p>
        </p:txBody>
      </p:sp>
      <p:sp>
        <p:nvSpPr>
          <p:cNvPr id="12" name="Shape 10"/>
          <p:cNvSpPr/>
          <p:nvPr/>
        </p:nvSpPr>
        <p:spPr>
          <a:xfrm>
            <a:off x="7635240" y="2971800"/>
            <a:ext cx="3977640" cy="1371600"/>
          </a:xfrm>
          <a:prstGeom prst="roundRect">
            <a:avLst>
              <a:gd name="adj" fmla="val 4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3" name="Shape 11"/>
          <p:cNvSpPr/>
          <p:nvPr/>
        </p:nvSpPr>
        <p:spPr>
          <a:xfrm>
            <a:off x="7818120" y="3154680"/>
            <a:ext cx="457200" cy="457200"/>
          </a:xfrm>
          <a:prstGeom prst="ellipse">
            <a:avLst/>
          </a:prstGeom>
          <a:solidFill>
            <a:srgbClr val="14B8A6"/>
          </a:solidFill>
          <a:ln/>
        </p:spPr>
      </p:sp>
      <p:sp>
        <p:nvSpPr>
          <p:cNvPr id="14" name="Text 12"/>
          <p:cNvSpPr/>
          <p:nvPr/>
        </p:nvSpPr>
        <p:spPr>
          <a:xfrm>
            <a:off x="7818120" y="31546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3"/>
          <p:cNvSpPr/>
          <p:nvPr/>
        </p:nvSpPr>
        <p:spPr>
          <a:xfrm>
            <a:off x="8412480" y="3172968"/>
            <a:ext cx="3017520" cy="411480"/>
          </a:xfrm>
          <a:prstGeom prst="rect">
            <a:avLst/>
          </a:prstGeom>
          <a:noFill/>
          <a:ln/>
        </p:spPr>
        <p:txBody>
          <a:bodyPr wrap="square" lIns="0" tIns="0" rIns="0" bIns="0" rtlCol="0" anchor="ctr"/>
          <a:lstStyle/>
          <a:p>
            <a:pPr indent="0" marL="0">
              <a:buNone/>
            </a:pPr>
            <a:r>
              <a:rPr lang="en-US" sz="1350" b="1" dirty="0">
                <a:solidFill>
                  <a:srgbClr val="12132E"/>
                </a:solidFill>
                <a:latin typeface="Calibri" pitchFamily="34" charset="0"/>
                <a:ea typeface="Calibri" pitchFamily="34" charset="-122"/>
                <a:cs typeface="Calibri" pitchFamily="34" charset="-120"/>
              </a:rPr>
              <a:t>Continue on tool_use</a:t>
            </a:r>
            <a:endParaRPr lang="en-US" sz="1350" dirty="0"/>
          </a:p>
        </p:txBody>
      </p:sp>
      <p:sp>
        <p:nvSpPr>
          <p:cNvPr id="16" name="Text 14"/>
          <p:cNvSpPr/>
          <p:nvPr/>
        </p:nvSpPr>
        <p:spPr>
          <a:xfrm>
            <a:off x="7818120" y="3648456"/>
            <a:ext cx="3657600" cy="640080"/>
          </a:xfrm>
          <a:prstGeom prst="rect">
            <a:avLst/>
          </a:prstGeom>
          <a:noFill/>
          <a:ln/>
        </p:spPr>
        <p:txBody>
          <a:bodyPr wrap="square" lIns="0" tIns="0" rIns="0" bIns="0" rtlCol="0" anchor="ctr"/>
          <a:lstStyle/>
          <a:p>
            <a:pPr indent="0" marL="0">
              <a:lnSpc>
                <a:spcPct val="105000"/>
              </a:lnSpc>
              <a:buNone/>
            </a:pPr>
            <a:r>
              <a:rPr lang="en-US" sz="1150" dirty="0">
                <a:solidFill>
                  <a:srgbClr val="64748B"/>
                </a:solidFill>
                <a:latin typeface="Calibri" pitchFamily="34" charset="0"/>
                <a:ea typeface="Calibri" pitchFamily="34" charset="-122"/>
                <a:cs typeface="Calibri" pitchFamily="34" charset="-120"/>
              </a:rPr>
              <a:t>Run the requested tools, then loop again with the results.</a:t>
            </a:r>
            <a:endParaRPr lang="en-US" sz="1150" dirty="0"/>
          </a:p>
        </p:txBody>
      </p:sp>
      <p:sp>
        <p:nvSpPr>
          <p:cNvPr id="17" name="Shape 15"/>
          <p:cNvSpPr/>
          <p:nvPr/>
        </p:nvSpPr>
        <p:spPr>
          <a:xfrm>
            <a:off x="7635240" y="4526280"/>
            <a:ext cx="3977640" cy="1371600"/>
          </a:xfrm>
          <a:prstGeom prst="roundRect">
            <a:avLst>
              <a:gd name="adj" fmla="val 4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8" name="Shape 16"/>
          <p:cNvSpPr/>
          <p:nvPr/>
        </p:nvSpPr>
        <p:spPr>
          <a:xfrm>
            <a:off x="7818120" y="4709160"/>
            <a:ext cx="457200" cy="457200"/>
          </a:xfrm>
          <a:prstGeom prst="ellipse">
            <a:avLst/>
          </a:prstGeom>
          <a:solidFill>
            <a:srgbClr val="4F46E5"/>
          </a:solidFill>
          <a:ln/>
        </p:spPr>
      </p:sp>
      <p:sp>
        <p:nvSpPr>
          <p:cNvPr id="19" name="Text 17"/>
          <p:cNvSpPr/>
          <p:nvPr/>
        </p:nvSpPr>
        <p:spPr>
          <a:xfrm>
            <a:off x="7818120" y="4709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8412480" y="4727448"/>
            <a:ext cx="3017520" cy="411480"/>
          </a:xfrm>
          <a:prstGeom prst="rect">
            <a:avLst/>
          </a:prstGeom>
          <a:noFill/>
          <a:ln/>
        </p:spPr>
        <p:txBody>
          <a:bodyPr wrap="square" lIns="0" tIns="0" rIns="0" bIns="0" rtlCol="0" anchor="ctr"/>
          <a:lstStyle/>
          <a:p>
            <a:pPr indent="0" marL="0">
              <a:buNone/>
            </a:pPr>
            <a:r>
              <a:rPr lang="en-US" sz="1350" b="1" dirty="0">
                <a:solidFill>
                  <a:srgbClr val="12132E"/>
                </a:solidFill>
                <a:latin typeface="Calibri" pitchFamily="34" charset="0"/>
                <a:ea typeface="Calibri" pitchFamily="34" charset="-122"/>
                <a:cs typeface="Calibri" pitchFamily="34" charset="-120"/>
              </a:rPr>
              <a:t>Feed results back</a:t>
            </a:r>
            <a:endParaRPr lang="en-US" sz="1350" dirty="0"/>
          </a:p>
        </p:txBody>
      </p:sp>
      <p:sp>
        <p:nvSpPr>
          <p:cNvPr id="21" name="Text 19"/>
          <p:cNvSpPr/>
          <p:nvPr/>
        </p:nvSpPr>
        <p:spPr>
          <a:xfrm>
            <a:off x="7818120" y="5202936"/>
            <a:ext cx="3657600" cy="640080"/>
          </a:xfrm>
          <a:prstGeom prst="rect">
            <a:avLst/>
          </a:prstGeom>
          <a:noFill/>
          <a:ln/>
        </p:spPr>
        <p:txBody>
          <a:bodyPr wrap="square" lIns="0" tIns="0" rIns="0" bIns="0" rtlCol="0" anchor="ctr"/>
          <a:lstStyle/>
          <a:p>
            <a:pPr indent="0" marL="0">
              <a:lnSpc>
                <a:spcPct val="105000"/>
              </a:lnSpc>
              <a:buNone/>
            </a:pPr>
            <a:r>
              <a:rPr lang="en-US" sz="1150" dirty="0">
                <a:solidFill>
                  <a:srgbClr val="64748B"/>
                </a:solidFill>
                <a:latin typeface="Calibri" pitchFamily="34" charset="0"/>
                <a:ea typeface="Calibri" pitchFamily="34" charset="-122"/>
                <a:cs typeface="Calibri" pitchFamily="34" charset="-120"/>
              </a:rPr>
              <a:t>Append tool_result blocks (keyed by tool_use_id) as a user turn.</a:t>
            </a:r>
            <a:endParaRPr lang="en-US" sz="1150" dirty="0"/>
          </a:p>
        </p:txBody>
      </p:sp>
      <p:sp>
        <p:nvSpPr>
          <p:cNvPr id="22" name="Text 20"/>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23" name="Text 21"/>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24" name="Text 22"/>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TASK 1.1</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Loop control: correct vs anti-patterns</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exam guide · Task Statement 1.1</a:t>
            </a:r>
            <a:endParaRPr lang="en-US" sz="1050" dirty="0"/>
          </a:p>
        </p:txBody>
      </p:sp>
      <p:sp>
        <p:nvSpPr>
          <p:cNvPr id="5" name="Shape 3"/>
          <p:cNvSpPr/>
          <p:nvPr/>
        </p:nvSpPr>
        <p:spPr>
          <a:xfrm>
            <a:off x="548640" y="1417320"/>
            <a:ext cx="5394960" cy="4480560"/>
          </a:xfrm>
          <a:prstGeom prst="roundRect">
            <a:avLst>
              <a:gd name="adj" fmla="val 1224"/>
            </a:avLst>
          </a:prstGeom>
          <a:solidFill>
            <a:srgbClr val="ECFDF5"/>
          </a:solidFill>
          <a:ln/>
          <a:effectLst>
            <a:outerShdw sx="100000" sy="100000" kx="0" ky="0" algn="bl" rotWithShape="0" blurRad="88900" dist="38100" dir="5400000">
              <a:srgbClr val="000000">
                <a:alpha val="16000"/>
              </a:srgbClr>
            </a:outerShdw>
          </a:effectLst>
        </p:spPr>
      </p:sp>
      <p:sp>
        <p:nvSpPr>
          <p:cNvPr id="6" name="Shape 4"/>
          <p:cNvSpPr/>
          <p:nvPr/>
        </p:nvSpPr>
        <p:spPr>
          <a:xfrm>
            <a:off x="777240" y="1645920"/>
            <a:ext cx="640080" cy="640080"/>
          </a:xfrm>
          <a:prstGeom prst="ellipse">
            <a:avLst/>
          </a:prstGeom>
          <a:solidFill>
            <a:srgbClr val="14B8A6"/>
          </a:solidFill>
          <a:ln/>
          <a:effectLst>
            <a:outerShdw sx="100000" sy="100000" kx="0" ky="0" algn="bl" rotWithShape="0" blurRad="88900" dist="38100" dir="5400000">
              <a:srgbClr val="000000">
                <a:alpha val="16000"/>
              </a:srgbClr>
            </a:outerShdw>
          </a:effectLst>
        </p:spPr>
      </p:sp>
      <p:pic>
        <p:nvPicPr>
          <p:cNvPr id="7" name="Image 0" descr="preencoded.png">    </p:cNvPr>
          <p:cNvPicPr>
            <a:picLocks noChangeAspect="1"/>
          </p:cNvPicPr>
          <p:nvPr/>
        </p:nvPicPr>
        <p:blipFill>
          <a:blip r:embed="rId1"/>
          <a:stretch>
            <a:fillRect/>
          </a:stretch>
        </p:blipFill>
        <p:spPr>
          <a:xfrm>
            <a:off x="943661" y="1812341"/>
            <a:ext cx="307238" cy="307238"/>
          </a:xfrm>
          <a:prstGeom prst="rect">
            <a:avLst/>
          </a:prstGeom>
        </p:spPr>
      </p:pic>
      <p:sp>
        <p:nvSpPr>
          <p:cNvPr id="8" name="Text 5"/>
          <p:cNvSpPr/>
          <p:nvPr/>
        </p:nvSpPr>
        <p:spPr>
          <a:xfrm>
            <a:off x="1554480" y="1737360"/>
            <a:ext cx="4114800" cy="457200"/>
          </a:xfrm>
          <a:prstGeom prst="rect">
            <a:avLst/>
          </a:prstGeom>
          <a:noFill/>
          <a:ln/>
        </p:spPr>
        <p:txBody>
          <a:bodyPr wrap="square" lIns="0" tIns="0" rIns="0" bIns="0" rtlCol="0" anchor="ctr"/>
          <a:lstStyle/>
          <a:p>
            <a:pPr indent="0" marL="0">
              <a:buNone/>
            </a:pPr>
            <a:r>
              <a:rPr lang="en-US" sz="1800" b="1" dirty="0">
                <a:solidFill>
                  <a:srgbClr val="047857"/>
                </a:solidFill>
                <a:latin typeface="Calibri" pitchFamily="34" charset="0"/>
                <a:ea typeface="Calibri" pitchFamily="34" charset="-122"/>
                <a:cs typeface="Calibri" pitchFamily="34" charset="-120"/>
              </a:rPr>
              <a:t>Correct practice</a:t>
            </a:r>
            <a:endParaRPr lang="en-US" sz="1800" dirty="0"/>
          </a:p>
        </p:txBody>
      </p:sp>
      <p:sp>
        <p:nvSpPr>
          <p:cNvPr id="9" name="Text 6"/>
          <p:cNvSpPr/>
          <p:nvPr/>
        </p:nvSpPr>
        <p:spPr>
          <a:xfrm>
            <a:off x="914400" y="2423160"/>
            <a:ext cx="4754880" cy="3291840"/>
          </a:xfrm>
          <a:prstGeom prst="rect">
            <a:avLst/>
          </a:prstGeom>
          <a:noFill/>
          <a:ln/>
        </p:spPr>
        <p:txBody>
          <a:bodyPr wrap="square" lIns="0" tIns="0" rIns="0" bIns="0" rtlCol="0" anchor="ctr"/>
          <a:lstStyle/>
          <a:p>
            <a:pPr marL="342900" indent="-342900">
              <a:spcAft>
                <a:spcPts val="1200"/>
              </a:spcAft>
              <a:buSzPct val="100000"/>
              <a:buChar char="•"/>
            </a:pPr>
            <a:r>
              <a:rPr lang="en-US" sz="1350" dirty="0">
                <a:solidFill>
                  <a:srgbClr val="1E293B"/>
                </a:solidFill>
                <a:latin typeface="Calibri" pitchFamily="34" charset="0"/>
                <a:ea typeface="Calibri" pitchFamily="34" charset="-122"/>
                <a:cs typeface="Calibri" pitchFamily="34" charset="-120"/>
              </a:rPr>
              <a:t>Branch on stop_reason every turn</a:t>
            </a:r>
            <a:endParaRPr lang="en-US" sz="1350" dirty="0"/>
          </a:p>
          <a:p>
            <a:pPr marL="342900" indent="-342900">
              <a:spcAft>
                <a:spcPts val="1200"/>
              </a:spcAft>
              <a:buSzPct val="100000"/>
              <a:buChar char="•"/>
            </a:pPr>
            <a:r>
              <a:rPr lang="en-US" sz="1350" dirty="0">
                <a:solidFill>
                  <a:srgbClr val="1E293B"/>
                </a:solidFill>
                <a:latin typeface="Calibri" pitchFamily="34" charset="0"/>
                <a:ea typeface="Calibri" pitchFamily="34" charset="-122"/>
                <a:cs typeface="Calibri" pitchFamily="34" charset="-120"/>
              </a:rPr>
              <a:t>Append tool results to history so the model reasons over them</a:t>
            </a:r>
            <a:endParaRPr lang="en-US" sz="1350" dirty="0"/>
          </a:p>
          <a:p>
            <a:pPr marL="342900" indent="-342900">
              <a:spcAft>
                <a:spcPts val="1200"/>
              </a:spcAft>
              <a:buSzPct val="100000"/>
              <a:buChar char="•"/>
            </a:pPr>
            <a:r>
              <a:rPr lang="en-US" sz="1350" dirty="0">
                <a:solidFill>
                  <a:srgbClr val="1E293B"/>
                </a:solidFill>
                <a:latin typeface="Calibri" pitchFamily="34" charset="0"/>
                <a:ea typeface="Calibri" pitchFamily="34" charset="-122"/>
                <a:cs typeface="Calibri" pitchFamily="34" charset="-120"/>
              </a:rPr>
              <a:t>Let Claude choose the next tool from context (model-driven)</a:t>
            </a:r>
            <a:endParaRPr lang="en-US" sz="1350" dirty="0"/>
          </a:p>
          <a:p>
            <a:pPr marL="342900" indent="-342900">
              <a:spcAft>
                <a:spcPts val="1200"/>
              </a:spcAft>
              <a:buSzPct val="100000"/>
              <a:buChar char="•"/>
            </a:pPr>
            <a:r>
              <a:rPr lang="en-US" sz="1350" dirty="0">
                <a:solidFill>
                  <a:srgbClr val="1E293B"/>
                </a:solidFill>
                <a:latin typeface="Calibri" pitchFamily="34" charset="0"/>
                <a:ea typeface="Calibri" pitchFamily="34" charset="-122"/>
                <a:cs typeface="Calibri" pitchFamily="34" charset="-120"/>
              </a:rPr>
              <a:t>Keep a high turn/budget cap purely as a circuit breaker</a:t>
            </a:r>
            <a:endParaRPr lang="en-US" sz="1350" dirty="0"/>
          </a:p>
        </p:txBody>
      </p:sp>
      <p:sp>
        <p:nvSpPr>
          <p:cNvPr id="10" name="Shape 7"/>
          <p:cNvSpPr/>
          <p:nvPr/>
        </p:nvSpPr>
        <p:spPr>
          <a:xfrm>
            <a:off x="6217920" y="1417320"/>
            <a:ext cx="5394960" cy="4480560"/>
          </a:xfrm>
          <a:prstGeom prst="roundRect">
            <a:avLst>
              <a:gd name="adj" fmla="val 1224"/>
            </a:avLst>
          </a:prstGeom>
          <a:solidFill>
            <a:srgbClr val="FEF2F2"/>
          </a:solidFill>
          <a:ln/>
          <a:effectLst>
            <a:outerShdw sx="100000" sy="100000" kx="0" ky="0" algn="bl" rotWithShape="0" blurRad="88900" dist="38100" dir="5400000">
              <a:srgbClr val="000000">
                <a:alpha val="16000"/>
              </a:srgbClr>
            </a:outerShdw>
          </a:effectLst>
        </p:spPr>
      </p:sp>
      <p:sp>
        <p:nvSpPr>
          <p:cNvPr id="11" name="Shape 8"/>
          <p:cNvSpPr/>
          <p:nvPr/>
        </p:nvSpPr>
        <p:spPr>
          <a:xfrm>
            <a:off x="6446520" y="1645920"/>
            <a:ext cx="640080" cy="640080"/>
          </a:xfrm>
          <a:prstGeom prst="ellipse">
            <a:avLst/>
          </a:prstGeom>
          <a:solidFill>
            <a:srgbClr val="F43F5E"/>
          </a:solidFill>
          <a:ln/>
          <a:effectLst>
            <a:outerShdw sx="100000" sy="100000" kx="0" ky="0" algn="bl" rotWithShape="0" blurRad="88900" dist="38100" dir="5400000">
              <a:srgbClr val="000000">
                <a:alpha val="16000"/>
              </a:srgbClr>
            </a:outerShdw>
          </a:effectLst>
        </p:spPr>
      </p:sp>
      <p:pic>
        <p:nvPicPr>
          <p:cNvPr id="12" name="Image 1" descr="preencoded.png">    </p:cNvPr>
          <p:cNvPicPr>
            <a:picLocks noChangeAspect="1"/>
          </p:cNvPicPr>
          <p:nvPr/>
        </p:nvPicPr>
        <p:blipFill>
          <a:blip r:embed="rId2"/>
          <a:stretch>
            <a:fillRect/>
          </a:stretch>
        </p:blipFill>
        <p:spPr>
          <a:xfrm>
            <a:off x="6612941" y="1812341"/>
            <a:ext cx="307238" cy="307238"/>
          </a:xfrm>
          <a:prstGeom prst="rect">
            <a:avLst/>
          </a:prstGeom>
        </p:spPr>
      </p:pic>
      <p:sp>
        <p:nvSpPr>
          <p:cNvPr id="13" name="Text 9"/>
          <p:cNvSpPr/>
          <p:nvPr/>
        </p:nvSpPr>
        <p:spPr>
          <a:xfrm>
            <a:off x="7223760" y="1737360"/>
            <a:ext cx="4114800" cy="457200"/>
          </a:xfrm>
          <a:prstGeom prst="rect">
            <a:avLst/>
          </a:prstGeom>
          <a:noFill/>
          <a:ln/>
        </p:spPr>
        <p:txBody>
          <a:bodyPr wrap="square" lIns="0" tIns="0" rIns="0" bIns="0" rtlCol="0" anchor="ctr"/>
          <a:lstStyle/>
          <a:p>
            <a:pPr indent="0" marL="0">
              <a:buNone/>
            </a:pPr>
            <a:r>
              <a:rPr lang="en-US" sz="1800" b="1" dirty="0">
                <a:solidFill>
                  <a:srgbClr val="B91C1C"/>
                </a:solidFill>
                <a:latin typeface="Calibri" pitchFamily="34" charset="0"/>
                <a:ea typeface="Calibri" pitchFamily="34" charset="-122"/>
                <a:cs typeface="Calibri" pitchFamily="34" charset="-120"/>
              </a:rPr>
              <a:t>Anti-patterns</a:t>
            </a:r>
            <a:endParaRPr lang="en-US" sz="1800" dirty="0"/>
          </a:p>
        </p:txBody>
      </p:sp>
      <p:sp>
        <p:nvSpPr>
          <p:cNvPr id="14" name="Text 10"/>
          <p:cNvSpPr/>
          <p:nvPr/>
        </p:nvSpPr>
        <p:spPr>
          <a:xfrm>
            <a:off x="6583680" y="2423160"/>
            <a:ext cx="4754880" cy="3291840"/>
          </a:xfrm>
          <a:prstGeom prst="rect">
            <a:avLst/>
          </a:prstGeom>
          <a:noFill/>
          <a:ln/>
        </p:spPr>
        <p:txBody>
          <a:bodyPr wrap="square" lIns="0" tIns="0" rIns="0" bIns="0" rtlCol="0" anchor="ctr"/>
          <a:lstStyle/>
          <a:p>
            <a:pPr marL="342900" indent="-342900">
              <a:spcAft>
                <a:spcPts val="1200"/>
              </a:spcAft>
              <a:buSzPct val="100000"/>
              <a:buChar char="•"/>
            </a:pPr>
            <a:r>
              <a:rPr lang="en-US" sz="1350" dirty="0">
                <a:solidFill>
                  <a:srgbClr val="1E293B"/>
                </a:solidFill>
                <a:latin typeface="Calibri" pitchFamily="34" charset="0"/>
                <a:ea typeface="Calibri" pitchFamily="34" charset="-122"/>
                <a:cs typeface="Calibri" pitchFamily="34" charset="-120"/>
              </a:rPr>
              <a:t>Parse natural-language text to decide it's “finished”</a:t>
            </a:r>
            <a:endParaRPr lang="en-US" sz="1350" dirty="0"/>
          </a:p>
          <a:p>
            <a:pPr marL="342900" indent="-342900">
              <a:spcAft>
                <a:spcPts val="1200"/>
              </a:spcAft>
              <a:buSzPct val="100000"/>
              <a:buChar char="•"/>
            </a:pPr>
            <a:r>
              <a:rPr lang="en-US" sz="1350" dirty="0">
                <a:solidFill>
                  <a:srgbClr val="1E293B"/>
                </a:solidFill>
                <a:latin typeface="Calibri" pitchFamily="34" charset="0"/>
                <a:ea typeface="Calibri" pitchFamily="34" charset="-122"/>
                <a:cs typeface="Calibri" pitchFamily="34" charset="-120"/>
              </a:rPr>
              <a:t>Use an iteration cap as the PRIMARY stop mechanism</a:t>
            </a:r>
            <a:endParaRPr lang="en-US" sz="1350" dirty="0"/>
          </a:p>
          <a:p>
            <a:pPr marL="342900" indent="-342900">
              <a:spcAft>
                <a:spcPts val="1200"/>
              </a:spcAft>
              <a:buSzPct val="100000"/>
              <a:buChar char="•"/>
            </a:pPr>
            <a:r>
              <a:rPr lang="en-US" sz="1350" dirty="0">
                <a:solidFill>
                  <a:srgbClr val="1E293B"/>
                </a:solidFill>
                <a:latin typeface="Calibri" pitchFamily="34" charset="0"/>
                <a:ea typeface="Calibri" pitchFamily="34" charset="-122"/>
                <a:cs typeface="Calibri" pitchFamily="34" charset="-120"/>
              </a:rPr>
              <a:t>Treat any assistant text as a completion signal</a:t>
            </a:r>
            <a:endParaRPr lang="en-US" sz="1350" dirty="0"/>
          </a:p>
          <a:p>
            <a:pPr marL="342900" indent="-342900">
              <a:spcAft>
                <a:spcPts val="1200"/>
              </a:spcAft>
              <a:buSzPct val="100000"/>
              <a:buChar char="•"/>
            </a:pPr>
            <a:r>
              <a:rPr lang="en-US" sz="1350" dirty="0">
                <a:solidFill>
                  <a:srgbClr val="1E293B"/>
                </a:solidFill>
                <a:latin typeface="Calibri" pitchFamily="34" charset="0"/>
                <a:ea typeface="Calibri" pitchFamily="34" charset="-122"/>
                <a:cs typeface="Calibri" pitchFamily="34" charset="-120"/>
              </a:rPr>
              <a:t>Hard-code a fixed tool sequence / decision tree</a:t>
            </a:r>
            <a:endParaRPr lang="en-US" sz="1350" dirty="0"/>
          </a:p>
        </p:txBody>
      </p:sp>
      <p:sp>
        <p:nvSpPr>
          <p:cNvPr id="15" name="Text 11"/>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16" name="Text 12"/>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17" name="Text 13"/>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SENIOR · RELIABILITY &amp; COST</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Controlling the loop in production</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platform.claude.com/docs/en/agent-sdk/agent-loop#control-how-the-loop-runs</a:t>
            </a:r>
            <a:endParaRPr lang="en-US" sz="1050" dirty="0"/>
          </a:p>
        </p:txBody>
      </p:sp>
      <p:sp>
        <p:nvSpPr>
          <p:cNvPr id="5" name="Shape 3"/>
          <p:cNvSpPr/>
          <p:nvPr/>
        </p:nvSpPr>
        <p:spPr>
          <a:xfrm>
            <a:off x="548640" y="1417320"/>
            <a:ext cx="5394960" cy="1828800"/>
          </a:xfrm>
          <a:prstGeom prst="roundRect">
            <a:avLst>
              <a:gd name="adj" fmla="val 3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6" name="Shape 4"/>
          <p:cNvSpPr/>
          <p:nvPr/>
        </p:nvSpPr>
        <p:spPr>
          <a:xfrm>
            <a:off x="822960" y="1691640"/>
            <a:ext cx="713232" cy="713232"/>
          </a:xfrm>
          <a:prstGeom prst="ellipse">
            <a:avLst/>
          </a:prstGeom>
          <a:solidFill>
            <a:srgbClr val="4F46E5"/>
          </a:solidFill>
          <a:ln/>
          <a:effectLst>
            <a:outerShdw sx="100000" sy="100000" kx="0" ky="0" algn="bl" rotWithShape="0" blurRad="88900" dist="38100" dir="5400000">
              <a:srgbClr val="000000">
                <a:alpha val="16000"/>
              </a:srgbClr>
            </a:outerShdw>
          </a:effectLst>
        </p:spPr>
      </p:sp>
      <p:pic>
        <p:nvPicPr>
          <p:cNvPr id="7" name="Image 0" descr="preencoded.png">    </p:cNvPr>
          <p:cNvPicPr>
            <a:picLocks noChangeAspect="1"/>
          </p:cNvPicPr>
          <p:nvPr/>
        </p:nvPicPr>
        <p:blipFill>
          <a:blip r:embed="rId1"/>
          <a:stretch>
            <a:fillRect/>
          </a:stretch>
        </p:blipFill>
        <p:spPr>
          <a:xfrm>
            <a:off x="1008400" y="1877080"/>
            <a:ext cx="342351" cy="342351"/>
          </a:xfrm>
          <a:prstGeom prst="rect">
            <a:avLst/>
          </a:prstGeom>
        </p:spPr>
      </p:pic>
      <p:sp>
        <p:nvSpPr>
          <p:cNvPr id="8" name="Text 5"/>
          <p:cNvSpPr/>
          <p:nvPr/>
        </p:nvSpPr>
        <p:spPr>
          <a:xfrm>
            <a:off x="1719072" y="1709928"/>
            <a:ext cx="4023360" cy="457200"/>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max_turns</a:t>
            </a:r>
            <a:endParaRPr lang="en-US" sz="1500" dirty="0"/>
          </a:p>
        </p:txBody>
      </p:sp>
      <p:sp>
        <p:nvSpPr>
          <p:cNvPr id="9" name="Text 6"/>
          <p:cNvSpPr/>
          <p:nvPr/>
        </p:nvSpPr>
        <p:spPr>
          <a:xfrm>
            <a:off x="822960" y="2377440"/>
            <a:ext cx="4846320" cy="777240"/>
          </a:xfrm>
          <a:prstGeom prst="rect">
            <a:avLst/>
          </a:prstGeom>
          <a:noFill/>
          <a:ln/>
        </p:spPr>
        <p:txBody>
          <a:bodyPr wrap="square" lIns="0" tIns="0" rIns="0" bIns="0" rtlCol="0" anchor="ctr"/>
          <a:lstStyle/>
          <a:p>
            <a:pPr indent="0" marL="0">
              <a:lnSpc>
                <a:spcPct val="106000"/>
              </a:lnSpc>
              <a:buNone/>
            </a:pPr>
            <a:r>
              <a:rPr lang="en-US" sz="1250" dirty="0">
                <a:solidFill>
                  <a:srgbClr val="64748B"/>
                </a:solidFill>
                <a:latin typeface="Calibri" pitchFamily="34" charset="0"/>
                <a:ea typeface="Calibri" pitchFamily="34" charset="-122"/>
                <a:cs typeface="Calibri" pitchFamily="34" charset="-120"/>
              </a:rPr>
              <a:t>Cap tool-use round trips. Prevents runaway sessions on open-ended prompts.</a:t>
            </a:r>
            <a:endParaRPr lang="en-US" sz="1250" dirty="0"/>
          </a:p>
        </p:txBody>
      </p:sp>
      <p:sp>
        <p:nvSpPr>
          <p:cNvPr id="10" name="Shape 7"/>
          <p:cNvSpPr/>
          <p:nvPr/>
        </p:nvSpPr>
        <p:spPr>
          <a:xfrm>
            <a:off x="6217920" y="1417320"/>
            <a:ext cx="5394960" cy="1828800"/>
          </a:xfrm>
          <a:prstGeom prst="roundRect">
            <a:avLst>
              <a:gd name="adj" fmla="val 3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1" name="Shape 8"/>
          <p:cNvSpPr/>
          <p:nvPr/>
        </p:nvSpPr>
        <p:spPr>
          <a:xfrm>
            <a:off x="6492240" y="1691640"/>
            <a:ext cx="713232" cy="713232"/>
          </a:xfrm>
          <a:prstGeom prst="ellipse">
            <a:avLst/>
          </a:prstGeom>
          <a:solidFill>
            <a:srgbClr val="14B8A6"/>
          </a:solidFill>
          <a:ln/>
          <a:effectLst>
            <a:outerShdw sx="100000" sy="100000" kx="0" ky="0" algn="bl" rotWithShape="0" blurRad="88900" dist="38100" dir="5400000">
              <a:srgbClr val="000000">
                <a:alpha val="16000"/>
              </a:srgbClr>
            </a:outerShdw>
          </a:effectLst>
        </p:spPr>
      </p:sp>
      <p:pic>
        <p:nvPicPr>
          <p:cNvPr id="12" name="Image 1" descr="preencoded.png">    </p:cNvPr>
          <p:cNvPicPr>
            <a:picLocks noChangeAspect="1"/>
          </p:cNvPicPr>
          <p:nvPr/>
        </p:nvPicPr>
        <p:blipFill>
          <a:blip r:embed="rId2"/>
          <a:stretch>
            <a:fillRect/>
          </a:stretch>
        </p:blipFill>
        <p:spPr>
          <a:xfrm>
            <a:off x="6677680" y="1877080"/>
            <a:ext cx="342351" cy="342351"/>
          </a:xfrm>
          <a:prstGeom prst="rect">
            <a:avLst/>
          </a:prstGeom>
        </p:spPr>
      </p:pic>
      <p:sp>
        <p:nvSpPr>
          <p:cNvPr id="13" name="Text 9"/>
          <p:cNvSpPr/>
          <p:nvPr/>
        </p:nvSpPr>
        <p:spPr>
          <a:xfrm>
            <a:off x="7388352" y="1709928"/>
            <a:ext cx="4023360" cy="457200"/>
          </a:xfrm>
          <a:prstGeom prst="rect">
            <a:avLst/>
          </a:prstGeom>
          <a:noFill/>
          <a:ln/>
        </p:spPr>
        <p:txBody>
          <a:bodyPr wrap="square" lIns="0" tIns="0" rIns="0" bIns="0" rtlCol="0" anchor="ctr"/>
          <a:lstStyle/>
          <a:p>
            <a:pPr indent="0" marL="0">
              <a:buNone/>
            </a:pPr>
            <a:r>
              <a:rPr lang="en-US" sz="1500" b="1" dirty="0">
                <a:solidFill>
                  <a:srgbClr val="14B8A6"/>
                </a:solidFill>
                <a:latin typeface="Courier New" pitchFamily="34" charset="0"/>
                <a:ea typeface="Courier New" pitchFamily="34" charset="-122"/>
                <a:cs typeface="Courier New" pitchFamily="34" charset="-120"/>
              </a:rPr>
              <a:t>max_budget_usd</a:t>
            </a:r>
            <a:endParaRPr lang="en-US" sz="1500" dirty="0"/>
          </a:p>
        </p:txBody>
      </p:sp>
      <p:sp>
        <p:nvSpPr>
          <p:cNvPr id="14" name="Text 10"/>
          <p:cNvSpPr/>
          <p:nvPr/>
        </p:nvSpPr>
        <p:spPr>
          <a:xfrm>
            <a:off x="6492240" y="2377440"/>
            <a:ext cx="4846320" cy="777240"/>
          </a:xfrm>
          <a:prstGeom prst="rect">
            <a:avLst/>
          </a:prstGeom>
          <a:noFill/>
          <a:ln/>
        </p:spPr>
        <p:txBody>
          <a:bodyPr wrap="square" lIns="0" tIns="0" rIns="0" bIns="0" rtlCol="0" anchor="ctr"/>
          <a:lstStyle/>
          <a:p>
            <a:pPr indent="0" marL="0">
              <a:lnSpc>
                <a:spcPct val="106000"/>
              </a:lnSpc>
              <a:buNone/>
            </a:pPr>
            <a:r>
              <a:rPr lang="en-US" sz="1250" dirty="0">
                <a:solidFill>
                  <a:srgbClr val="64748B"/>
                </a:solidFill>
                <a:latin typeface="Calibri" pitchFamily="34" charset="0"/>
                <a:ea typeface="Calibri" pitchFamily="34" charset="-122"/>
                <a:cs typeface="Calibri" pitchFamily="34" charset="-120"/>
              </a:rPr>
              <a:t>Stop at a spend threshold. The recommended default for production agents.</a:t>
            </a:r>
            <a:endParaRPr lang="en-US" sz="1250" dirty="0"/>
          </a:p>
        </p:txBody>
      </p:sp>
      <p:sp>
        <p:nvSpPr>
          <p:cNvPr id="15" name="Shape 11"/>
          <p:cNvSpPr/>
          <p:nvPr/>
        </p:nvSpPr>
        <p:spPr>
          <a:xfrm>
            <a:off x="548640" y="3520440"/>
            <a:ext cx="5394960" cy="1828800"/>
          </a:xfrm>
          <a:prstGeom prst="roundRect">
            <a:avLst>
              <a:gd name="adj" fmla="val 3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6" name="Shape 12"/>
          <p:cNvSpPr/>
          <p:nvPr/>
        </p:nvSpPr>
        <p:spPr>
          <a:xfrm>
            <a:off x="822960" y="3794760"/>
            <a:ext cx="713232" cy="713232"/>
          </a:xfrm>
          <a:prstGeom prst="ellipse">
            <a:avLst/>
          </a:prstGeom>
          <a:solidFill>
            <a:srgbClr val="8B5CF6"/>
          </a:solidFill>
          <a:ln/>
          <a:effectLst>
            <a:outerShdw sx="100000" sy="100000" kx="0" ky="0" algn="bl" rotWithShape="0" blurRad="88900" dist="38100" dir="5400000">
              <a:srgbClr val="000000">
                <a:alpha val="16000"/>
              </a:srgbClr>
            </a:outerShdw>
          </a:effectLst>
        </p:spPr>
      </p:sp>
      <p:pic>
        <p:nvPicPr>
          <p:cNvPr id="17" name="Image 2" descr="preencoded.png">    </p:cNvPr>
          <p:cNvPicPr>
            <a:picLocks noChangeAspect="1"/>
          </p:cNvPicPr>
          <p:nvPr/>
        </p:nvPicPr>
        <p:blipFill>
          <a:blip r:embed="rId3"/>
          <a:stretch>
            <a:fillRect/>
          </a:stretch>
        </p:blipFill>
        <p:spPr>
          <a:xfrm>
            <a:off x="1008400" y="3980200"/>
            <a:ext cx="342351" cy="342351"/>
          </a:xfrm>
          <a:prstGeom prst="rect">
            <a:avLst/>
          </a:prstGeom>
        </p:spPr>
      </p:pic>
      <p:sp>
        <p:nvSpPr>
          <p:cNvPr id="18" name="Text 13"/>
          <p:cNvSpPr/>
          <p:nvPr/>
        </p:nvSpPr>
        <p:spPr>
          <a:xfrm>
            <a:off x="1719072" y="3813048"/>
            <a:ext cx="4023360" cy="457200"/>
          </a:xfrm>
          <a:prstGeom prst="rect">
            <a:avLst/>
          </a:prstGeom>
          <a:noFill/>
          <a:ln/>
        </p:spPr>
        <p:txBody>
          <a:bodyPr wrap="square" lIns="0" tIns="0" rIns="0" bIns="0" rtlCol="0" anchor="ctr"/>
          <a:lstStyle/>
          <a:p>
            <a:pPr indent="0" marL="0">
              <a:buNone/>
            </a:pPr>
            <a:r>
              <a:rPr lang="en-US" sz="1500" b="1" dirty="0">
                <a:solidFill>
                  <a:srgbClr val="8B5CF6"/>
                </a:solidFill>
                <a:latin typeface="Courier New" pitchFamily="34" charset="0"/>
                <a:ea typeface="Courier New" pitchFamily="34" charset="-122"/>
                <a:cs typeface="Courier New" pitchFamily="34" charset="-120"/>
              </a:rPr>
              <a:t>effort</a:t>
            </a:r>
            <a:endParaRPr lang="en-US" sz="1500" dirty="0"/>
          </a:p>
        </p:txBody>
      </p:sp>
      <p:sp>
        <p:nvSpPr>
          <p:cNvPr id="19" name="Text 14"/>
          <p:cNvSpPr/>
          <p:nvPr/>
        </p:nvSpPr>
        <p:spPr>
          <a:xfrm>
            <a:off x="822960" y="4480560"/>
            <a:ext cx="4846320" cy="777240"/>
          </a:xfrm>
          <a:prstGeom prst="rect">
            <a:avLst/>
          </a:prstGeom>
          <a:noFill/>
          <a:ln/>
        </p:spPr>
        <p:txBody>
          <a:bodyPr wrap="square" lIns="0" tIns="0" rIns="0" bIns="0" rtlCol="0" anchor="ctr"/>
          <a:lstStyle/>
          <a:p>
            <a:pPr indent="0" marL="0">
              <a:lnSpc>
                <a:spcPct val="106000"/>
              </a:lnSpc>
              <a:buNone/>
            </a:pPr>
            <a:r>
              <a:rPr lang="en-US" sz="1250" dirty="0">
                <a:solidFill>
                  <a:srgbClr val="64748B"/>
                </a:solidFill>
                <a:latin typeface="Calibri" pitchFamily="34" charset="0"/>
                <a:ea typeface="Calibri" pitchFamily="34" charset="-122"/>
                <a:cs typeface="Calibri" pitchFamily="34" charset="-120"/>
              </a:rPr>
              <a:t>low → max reasoning per turn. Use low for file lookups; high for refactors/debugging.</a:t>
            </a:r>
            <a:endParaRPr lang="en-US" sz="1250" dirty="0"/>
          </a:p>
        </p:txBody>
      </p:sp>
      <p:sp>
        <p:nvSpPr>
          <p:cNvPr id="20" name="Shape 15"/>
          <p:cNvSpPr/>
          <p:nvPr/>
        </p:nvSpPr>
        <p:spPr>
          <a:xfrm>
            <a:off x="6217920" y="3520440"/>
            <a:ext cx="5394960" cy="1828800"/>
          </a:xfrm>
          <a:prstGeom prst="roundRect">
            <a:avLst>
              <a:gd name="adj" fmla="val 3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21" name="Shape 16"/>
          <p:cNvSpPr/>
          <p:nvPr/>
        </p:nvSpPr>
        <p:spPr>
          <a:xfrm>
            <a:off x="6492240" y="3794760"/>
            <a:ext cx="713232" cy="713232"/>
          </a:xfrm>
          <a:prstGeom prst="ellipse">
            <a:avLst/>
          </a:prstGeom>
          <a:solidFill>
            <a:srgbClr val="F59E0B"/>
          </a:solidFill>
          <a:ln/>
          <a:effectLst>
            <a:outerShdw sx="100000" sy="100000" kx="0" ky="0" algn="bl" rotWithShape="0" blurRad="88900" dist="38100" dir="5400000">
              <a:srgbClr val="000000">
                <a:alpha val="16000"/>
              </a:srgbClr>
            </a:outerShdw>
          </a:effectLst>
        </p:spPr>
      </p:sp>
      <p:pic>
        <p:nvPicPr>
          <p:cNvPr id="22" name="Image 3" descr="preencoded.png">    </p:cNvPr>
          <p:cNvPicPr>
            <a:picLocks noChangeAspect="1"/>
          </p:cNvPicPr>
          <p:nvPr/>
        </p:nvPicPr>
        <p:blipFill>
          <a:blip r:embed="rId4"/>
          <a:stretch>
            <a:fillRect/>
          </a:stretch>
        </p:blipFill>
        <p:spPr>
          <a:xfrm>
            <a:off x="6677680" y="3980200"/>
            <a:ext cx="342351" cy="342351"/>
          </a:xfrm>
          <a:prstGeom prst="rect">
            <a:avLst/>
          </a:prstGeom>
        </p:spPr>
      </p:pic>
      <p:sp>
        <p:nvSpPr>
          <p:cNvPr id="23" name="Text 17"/>
          <p:cNvSpPr/>
          <p:nvPr/>
        </p:nvSpPr>
        <p:spPr>
          <a:xfrm>
            <a:off x="7388352" y="3813048"/>
            <a:ext cx="4023360" cy="457200"/>
          </a:xfrm>
          <a:prstGeom prst="rect">
            <a:avLst/>
          </a:prstGeom>
          <a:noFill/>
          <a:ln/>
        </p:spPr>
        <p:txBody>
          <a:bodyPr wrap="square" lIns="0" tIns="0" rIns="0" bIns="0" rtlCol="0" anchor="ctr"/>
          <a:lstStyle/>
          <a:p>
            <a:pPr indent="0" marL="0">
              <a:buNone/>
            </a:pPr>
            <a:r>
              <a:rPr lang="en-US" sz="1500" b="1" dirty="0">
                <a:solidFill>
                  <a:srgbClr val="F59E0B"/>
                </a:solidFill>
                <a:latin typeface="Courier New" pitchFamily="34" charset="0"/>
                <a:ea typeface="Courier New" pitchFamily="34" charset="-122"/>
                <a:cs typeface="Courier New" pitchFamily="34" charset="-120"/>
              </a:rPr>
              <a:t>permission_mode</a:t>
            </a:r>
            <a:endParaRPr lang="en-US" sz="1500" dirty="0"/>
          </a:p>
        </p:txBody>
      </p:sp>
      <p:sp>
        <p:nvSpPr>
          <p:cNvPr id="24" name="Text 18"/>
          <p:cNvSpPr/>
          <p:nvPr/>
        </p:nvSpPr>
        <p:spPr>
          <a:xfrm>
            <a:off x="6492240" y="4480560"/>
            <a:ext cx="4846320" cy="777240"/>
          </a:xfrm>
          <a:prstGeom prst="rect">
            <a:avLst/>
          </a:prstGeom>
          <a:noFill/>
          <a:ln/>
        </p:spPr>
        <p:txBody>
          <a:bodyPr wrap="square" lIns="0" tIns="0" rIns="0" bIns="0" rtlCol="0" anchor="ctr"/>
          <a:lstStyle/>
          <a:p>
            <a:pPr indent="0" marL="0">
              <a:lnSpc>
                <a:spcPct val="106000"/>
              </a:lnSpc>
              <a:buNone/>
            </a:pPr>
            <a:r>
              <a:rPr lang="en-US" sz="1250" dirty="0">
                <a:solidFill>
                  <a:srgbClr val="64748B"/>
                </a:solidFill>
                <a:latin typeface="Calibri" pitchFamily="34" charset="0"/>
                <a:ea typeface="Calibri" pitchFamily="34" charset="-122"/>
                <a:cs typeface="Calibri" pitchFamily="34" charset="-120"/>
              </a:rPr>
              <a:t>default / acceptEdits / plan / dontAsk / bypassPermissions — gate what runs without asking.</a:t>
            </a:r>
            <a:endParaRPr lang="en-US" sz="1250" dirty="0"/>
          </a:p>
        </p:txBody>
      </p:sp>
      <p:sp>
        <p:nvSpPr>
          <p:cNvPr id="25" name="Text 19"/>
          <p:cNvSpPr/>
          <p:nvPr/>
        </p:nvSpPr>
        <p:spPr>
          <a:xfrm>
            <a:off x="548640" y="5257800"/>
            <a:ext cx="11064240" cy="457200"/>
          </a:xfrm>
          <a:prstGeom prst="rect">
            <a:avLst/>
          </a:prstGeom>
          <a:noFill/>
          <a:ln/>
        </p:spPr>
        <p:txBody>
          <a:bodyPr wrap="square" lIns="0" tIns="0" rIns="0" bIns="0" rtlCol="0" anchor="ctr"/>
          <a:lstStyle/>
          <a:p>
            <a:pPr indent="0" marL="0">
              <a:buNone/>
            </a:pPr>
            <a:r>
              <a:rPr lang="en-US" sz="1250" i="1" dirty="0">
                <a:solidFill>
                  <a:srgbClr val="4F46E5"/>
                </a:solidFill>
                <a:latin typeface="Calibri" pitchFamily="34" charset="0"/>
                <a:ea typeface="Calibri" pitchFamily="34" charset="-122"/>
                <a:cs typeface="Calibri" pitchFamily="34" charset="-120"/>
              </a:rPr>
              <a:t>Hit a limit and the loop ends with a ResultMessage subtype (error_max_turns / error_max_budget_usd) — capture session_id and resume with a higher cap.</a:t>
            </a:r>
            <a:endParaRPr lang="en-US" sz="1250" dirty="0"/>
          </a:p>
        </p:txBody>
      </p:sp>
      <p:sp>
        <p:nvSpPr>
          <p:cNvPr id="26" name="Text 20"/>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27" name="Text 21"/>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28" name="Text 22"/>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SENIOR · RELIABILITY</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Handling the result — every termination state</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platform.claude.com/docs/en/agent-sdk/agent-loop#handle-the-result</a:t>
            </a:r>
            <a:endParaRPr lang="en-US" sz="1050" dirty="0"/>
          </a:p>
        </p:txBody>
      </p:sp>
      <p:sp>
        <p:nvSpPr>
          <p:cNvPr id="5" name="Shape 3"/>
          <p:cNvSpPr/>
          <p:nvPr/>
        </p:nvSpPr>
        <p:spPr>
          <a:xfrm>
            <a:off x="548640" y="1828800"/>
            <a:ext cx="11064240" cy="603504"/>
          </a:xfrm>
          <a:prstGeom prst="roundRect">
            <a:avLst>
              <a:gd name="adj" fmla="val 7576"/>
            </a:avLst>
          </a:prstGeom>
          <a:solidFill>
            <a:srgbClr val="FFFFFF"/>
          </a:solidFill>
          <a:ln w="12700">
            <a:solidFill>
              <a:srgbClr val="E2E8F0"/>
            </a:solidFill>
            <a:prstDash val="solid"/>
          </a:ln>
        </p:spPr>
      </p:sp>
      <p:sp>
        <p:nvSpPr>
          <p:cNvPr id="6" name="Shape 4"/>
          <p:cNvSpPr/>
          <p:nvPr/>
        </p:nvSpPr>
        <p:spPr>
          <a:xfrm>
            <a:off x="731520" y="2039112"/>
            <a:ext cx="182880" cy="182880"/>
          </a:xfrm>
          <a:prstGeom prst="ellipse">
            <a:avLst/>
          </a:prstGeom>
          <a:solidFill>
            <a:srgbClr val="14B8A6"/>
          </a:solidFill>
          <a:ln/>
        </p:spPr>
      </p:sp>
      <p:sp>
        <p:nvSpPr>
          <p:cNvPr id="7" name="Text 5"/>
          <p:cNvSpPr/>
          <p:nvPr/>
        </p:nvSpPr>
        <p:spPr>
          <a:xfrm>
            <a:off x="1024128" y="1828800"/>
            <a:ext cx="4572000" cy="603504"/>
          </a:xfrm>
          <a:prstGeom prst="rect">
            <a:avLst/>
          </a:prstGeom>
          <a:noFill/>
          <a:ln/>
        </p:spPr>
        <p:txBody>
          <a:bodyPr wrap="square" lIns="0" tIns="0" rIns="0" bIns="0" rtlCol="0" anchor="ctr"/>
          <a:lstStyle/>
          <a:p>
            <a:pPr indent="0" marL="0">
              <a:buNone/>
            </a:pPr>
            <a:r>
              <a:rPr lang="en-US" sz="1250" b="1" dirty="0">
                <a:solidFill>
                  <a:srgbClr val="14B8A6"/>
                </a:solidFill>
                <a:latin typeface="Courier New" pitchFamily="34" charset="0"/>
                <a:ea typeface="Courier New" pitchFamily="34" charset="-122"/>
                <a:cs typeface="Courier New" pitchFamily="34" charset="-120"/>
              </a:rPr>
              <a:t>success</a:t>
            </a:r>
            <a:endParaRPr lang="en-US" sz="1250" dirty="0"/>
          </a:p>
        </p:txBody>
      </p:sp>
      <p:sp>
        <p:nvSpPr>
          <p:cNvPr id="8" name="Text 6"/>
          <p:cNvSpPr/>
          <p:nvPr/>
        </p:nvSpPr>
        <p:spPr>
          <a:xfrm>
            <a:off x="5669280" y="1828800"/>
            <a:ext cx="5760720" cy="603504"/>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Task finished normally — result text present</a:t>
            </a:r>
            <a:endParaRPr lang="en-US" sz="1250" dirty="0"/>
          </a:p>
        </p:txBody>
      </p:sp>
      <p:sp>
        <p:nvSpPr>
          <p:cNvPr id="9" name="Shape 7"/>
          <p:cNvSpPr/>
          <p:nvPr/>
        </p:nvSpPr>
        <p:spPr>
          <a:xfrm>
            <a:off x="548640" y="2542032"/>
            <a:ext cx="11064240" cy="603504"/>
          </a:xfrm>
          <a:prstGeom prst="roundRect">
            <a:avLst>
              <a:gd name="adj" fmla="val 7576"/>
            </a:avLst>
          </a:prstGeom>
          <a:solidFill>
            <a:srgbClr val="F8FAFC"/>
          </a:solidFill>
          <a:ln w="12700">
            <a:solidFill>
              <a:srgbClr val="E2E8F0"/>
            </a:solidFill>
            <a:prstDash val="solid"/>
          </a:ln>
        </p:spPr>
      </p:sp>
      <p:sp>
        <p:nvSpPr>
          <p:cNvPr id="10" name="Shape 8"/>
          <p:cNvSpPr/>
          <p:nvPr/>
        </p:nvSpPr>
        <p:spPr>
          <a:xfrm>
            <a:off x="731520" y="2752344"/>
            <a:ext cx="182880" cy="182880"/>
          </a:xfrm>
          <a:prstGeom prst="ellipse">
            <a:avLst/>
          </a:prstGeom>
          <a:solidFill>
            <a:srgbClr val="F59E0B"/>
          </a:solidFill>
          <a:ln/>
        </p:spPr>
      </p:sp>
      <p:sp>
        <p:nvSpPr>
          <p:cNvPr id="11" name="Text 9"/>
          <p:cNvSpPr/>
          <p:nvPr/>
        </p:nvSpPr>
        <p:spPr>
          <a:xfrm>
            <a:off x="1024128" y="2542032"/>
            <a:ext cx="4572000" cy="603504"/>
          </a:xfrm>
          <a:prstGeom prst="rect">
            <a:avLst/>
          </a:prstGeom>
          <a:noFill/>
          <a:ln/>
        </p:spPr>
        <p:txBody>
          <a:bodyPr wrap="square" lIns="0" tIns="0" rIns="0" bIns="0" rtlCol="0" anchor="ctr"/>
          <a:lstStyle/>
          <a:p>
            <a:pPr indent="0" marL="0">
              <a:buNone/>
            </a:pPr>
            <a:r>
              <a:rPr lang="en-US" sz="1250" b="1" dirty="0">
                <a:solidFill>
                  <a:srgbClr val="F59E0B"/>
                </a:solidFill>
                <a:latin typeface="Courier New" pitchFamily="34" charset="0"/>
                <a:ea typeface="Courier New" pitchFamily="34" charset="-122"/>
                <a:cs typeface="Courier New" pitchFamily="34" charset="-120"/>
              </a:rPr>
              <a:t>error_max_turns</a:t>
            </a:r>
            <a:endParaRPr lang="en-US" sz="1250" dirty="0"/>
          </a:p>
        </p:txBody>
      </p:sp>
      <p:sp>
        <p:nvSpPr>
          <p:cNvPr id="12" name="Text 10"/>
          <p:cNvSpPr/>
          <p:nvPr/>
        </p:nvSpPr>
        <p:spPr>
          <a:xfrm>
            <a:off x="5669280" y="2542032"/>
            <a:ext cx="5760720" cy="603504"/>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Hit maxTurns — resume with a higher cap</a:t>
            </a:r>
            <a:endParaRPr lang="en-US" sz="1250" dirty="0"/>
          </a:p>
        </p:txBody>
      </p:sp>
      <p:sp>
        <p:nvSpPr>
          <p:cNvPr id="13" name="Shape 11"/>
          <p:cNvSpPr/>
          <p:nvPr/>
        </p:nvSpPr>
        <p:spPr>
          <a:xfrm>
            <a:off x="548640" y="3255264"/>
            <a:ext cx="11064240" cy="603504"/>
          </a:xfrm>
          <a:prstGeom prst="roundRect">
            <a:avLst>
              <a:gd name="adj" fmla="val 7576"/>
            </a:avLst>
          </a:prstGeom>
          <a:solidFill>
            <a:srgbClr val="FFFFFF"/>
          </a:solidFill>
          <a:ln w="12700">
            <a:solidFill>
              <a:srgbClr val="E2E8F0"/>
            </a:solidFill>
            <a:prstDash val="solid"/>
          </a:ln>
        </p:spPr>
      </p:sp>
      <p:sp>
        <p:nvSpPr>
          <p:cNvPr id="14" name="Shape 12"/>
          <p:cNvSpPr/>
          <p:nvPr/>
        </p:nvSpPr>
        <p:spPr>
          <a:xfrm>
            <a:off x="731520" y="3465576"/>
            <a:ext cx="182880" cy="182880"/>
          </a:xfrm>
          <a:prstGeom prst="ellipse">
            <a:avLst/>
          </a:prstGeom>
          <a:solidFill>
            <a:srgbClr val="F59E0B"/>
          </a:solidFill>
          <a:ln/>
        </p:spPr>
      </p:sp>
      <p:sp>
        <p:nvSpPr>
          <p:cNvPr id="15" name="Text 13"/>
          <p:cNvSpPr/>
          <p:nvPr/>
        </p:nvSpPr>
        <p:spPr>
          <a:xfrm>
            <a:off x="1024128" y="3255264"/>
            <a:ext cx="4572000" cy="603504"/>
          </a:xfrm>
          <a:prstGeom prst="rect">
            <a:avLst/>
          </a:prstGeom>
          <a:noFill/>
          <a:ln/>
        </p:spPr>
        <p:txBody>
          <a:bodyPr wrap="square" lIns="0" tIns="0" rIns="0" bIns="0" rtlCol="0" anchor="ctr"/>
          <a:lstStyle/>
          <a:p>
            <a:pPr indent="0" marL="0">
              <a:buNone/>
            </a:pPr>
            <a:r>
              <a:rPr lang="en-US" sz="1250" b="1" dirty="0">
                <a:solidFill>
                  <a:srgbClr val="F59E0B"/>
                </a:solidFill>
                <a:latin typeface="Courier New" pitchFamily="34" charset="0"/>
                <a:ea typeface="Courier New" pitchFamily="34" charset="-122"/>
                <a:cs typeface="Courier New" pitchFamily="34" charset="-120"/>
              </a:rPr>
              <a:t>error_max_budget_usd</a:t>
            </a:r>
            <a:endParaRPr lang="en-US" sz="1250" dirty="0"/>
          </a:p>
        </p:txBody>
      </p:sp>
      <p:sp>
        <p:nvSpPr>
          <p:cNvPr id="16" name="Text 14"/>
          <p:cNvSpPr/>
          <p:nvPr/>
        </p:nvSpPr>
        <p:spPr>
          <a:xfrm>
            <a:off x="5669280" y="3255264"/>
            <a:ext cx="5760720" cy="603504"/>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Hit budget — decide whether to extend</a:t>
            </a:r>
            <a:endParaRPr lang="en-US" sz="1250" dirty="0"/>
          </a:p>
        </p:txBody>
      </p:sp>
      <p:sp>
        <p:nvSpPr>
          <p:cNvPr id="17" name="Shape 15"/>
          <p:cNvSpPr/>
          <p:nvPr/>
        </p:nvSpPr>
        <p:spPr>
          <a:xfrm>
            <a:off x="548640" y="3968496"/>
            <a:ext cx="11064240" cy="603504"/>
          </a:xfrm>
          <a:prstGeom prst="roundRect">
            <a:avLst>
              <a:gd name="adj" fmla="val 7576"/>
            </a:avLst>
          </a:prstGeom>
          <a:solidFill>
            <a:srgbClr val="F8FAFC"/>
          </a:solidFill>
          <a:ln w="12700">
            <a:solidFill>
              <a:srgbClr val="E2E8F0"/>
            </a:solidFill>
            <a:prstDash val="solid"/>
          </a:ln>
        </p:spPr>
      </p:sp>
      <p:sp>
        <p:nvSpPr>
          <p:cNvPr id="18" name="Shape 16"/>
          <p:cNvSpPr/>
          <p:nvPr/>
        </p:nvSpPr>
        <p:spPr>
          <a:xfrm>
            <a:off x="731520" y="4178808"/>
            <a:ext cx="182880" cy="182880"/>
          </a:xfrm>
          <a:prstGeom prst="ellipse">
            <a:avLst/>
          </a:prstGeom>
          <a:solidFill>
            <a:srgbClr val="F43F5E"/>
          </a:solidFill>
          <a:ln/>
        </p:spPr>
      </p:sp>
      <p:sp>
        <p:nvSpPr>
          <p:cNvPr id="19" name="Text 17"/>
          <p:cNvSpPr/>
          <p:nvPr/>
        </p:nvSpPr>
        <p:spPr>
          <a:xfrm>
            <a:off x="1024128" y="3968496"/>
            <a:ext cx="4572000" cy="603504"/>
          </a:xfrm>
          <a:prstGeom prst="rect">
            <a:avLst/>
          </a:prstGeom>
          <a:noFill/>
          <a:ln/>
        </p:spPr>
        <p:txBody>
          <a:bodyPr wrap="square" lIns="0" tIns="0" rIns="0" bIns="0" rtlCol="0" anchor="ctr"/>
          <a:lstStyle/>
          <a:p>
            <a:pPr indent="0" marL="0">
              <a:buNone/>
            </a:pPr>
            <a:r>
              <a:rPr lang="en-US" sz="1250" b="1" dirty="0">
                <a:solidFill>
                  <a:srgbClr val="F43F5E"/>
                </a:solidFill>
                <a:latin typeface="Courier New" pitchFamily="34" charset="0"/>
                <a:ea typeface="Courier New" pitchFamily="34" charset="-122"/>
                <a:cs typeface="Courier New" pitchFamily="34" charset="-120"/>
              </a:rPr>
              <a:t>error_during_execution</a:t>
            </a:r>
            <a:endParaRPr lang="en-US" sz="1250" dirty="0"/>
          </a:p>
        </p:txBody>
      </p:sp>
      <p:sp>
        <p:nvSpPr>
          <p:cNvPr id="20" name="Text 18"/>
          <p:cNvSpPr/>
          <p:nvPr/>
        </p:nvSpPr>
        <p:spPr>
          <a:xfrm>
            <a:off x="5669280" y="3968496"/>
            <a:ext cx="5760720" cy="603504"/>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API failure / cancellation interrupted the loop</a:t>
            </a:r>
            <a:endParaRPr lang="en-US" sz="1250" dirty="0"/>
          </a:p>
        </p:txBody>
      </p:sp>
      <p:sp>
        <p:nvSpPr>
          <p:cNvPr id="21" name="Shape 19"/>
          <p:cNvSpPr/>
          <p:nvPr/>
        </p:nvSpPr>
        <p:spPr>
          <a:xfrm>
            <a:off x="548640" y="4681728"/>
            <a:ext cx="11064240" cy="603504"/>
          </a:xfrm>
          <a:prstGeom prst="roundRect">
            <a:avLst>
              <a:gd name="adj" fmla="val 7576"/>
            </a:avLst>
          </a:prstGeom>
          <a:solidFill>
            <a:srgbClr val="FFFFFF"/>
          </a:solidFill>
          <a:ln w="12700">
            <a:solidFill>
              <a:srgbClr val="E2E8F0"/>
            </a:solidFill>
            <a:prstDash val="solid"/>
          </a:ln>
        </p:spPr>
      </p:sp>
      <p:sp>
        <p:nvSpPr>
          <p:cNvPr id="22" name="Shape 20"/>
          <p:cNvSpPr/>
          <p:nvPr/>
        </p:nvSpPr>
        <p:spPr>
          <a:xfrm>
            <a:off x="731520" y="4892040"/>
            <a:ext cx="182880" cy="182880"/>
          </a:xfrm>
          <a:prstGeom prst="ellipse">
            <a:avLst/>
          </a:prstGeom>
          <a:solidFill>
            <a:srgbClr val="F43F5E"/>
          </a:solidFill>
          <a:ln/>
        </p:spPr>
      </p:sp>
      <p:sp>
        <p:nvSpPr>
          <p:cNvPr id="23" name="Text 21"/>
          <p:cNvSpPr/>
          <p:nvPr/>
        </p:nvSpPr>
        <p:spPr>
          <a:xfrm>
            <a:off x="1024128" y="4681728"/>
            <a:ext cx="4572000" cy="603504"/>
          </a:xfrm>
          <a:prstGeom prst="rect">
            <a:avLst/>
          </a:prstGeom>
          <a:noFill/>
          <a:ln/>
        </p:spPr>
        <p:txBody>
          <a:bodyPr wrap="square" lIns="0" tIns="0" rIns="0" bIns="0" rtlCol="0" anchor="ctr"/>
          <a:lstStyle/>
          <a:p>
            <a:pPr indent="0" marL="0">
              <a:buNone/>
            </a:pPr>
            <a:r>
              <a:rPr lang="en-US" sz="1250" b="1" dirty="0">
                <a:solidFill>
                  <a:srgbClr val="F43F5E"/>
                </a:solidFill>
                <a:latin typeface="Courier New" pitchFamily="34" charset="0"/>
                <a:ea typeface="Courier New" pitchFamily="34" charset="-122"/>
                <a:cs typeface="Courier New" pitchFamily="34" charset="-120"/>
              </a:rPr>
              <a:t>error_max_structured_output_retries</a:t>
            </a:r>
            <a:endParaRPr lang="en-US" sz="1250" dirty="0"/>
          </a:p>
        </p:txBody>
      </p:sp>
      <p:sp>
        <p:nvSpPr>
          <p:cNvPr id="24" name="Text 22"/>
          <p:cNvSpPr/>
          <p:nvPr/>
        </p:nvSpPr>
        <p:spPr>
          <a:xfrm>
            <a:off x="5669280" y="4681728"/>
            <a:ext cx="5760720" cy="603504"/>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No valid structured output within retry limit</a:t>
            </a:r>
            <a:endParaRPr lang="en-US" sz="1250" dirty="0"/>
          </a:p>
        </p:txBody>
      </p:sp>
      <p:sp>
        <p:nvSpPr>
          <p:cNvPr id="25" name="Text 23"/>
          <p:cNvSpPr/>
          <p:nvPr/>
        </p:nvSpPr>
        <p:spPr>
          <a:xfrm>
            <a:off x="548640" y="5532120"/>
            <a:ext cx="11064240" cy="548640"/>
          </a:xfrm>
          <a:prstGeom prst="rect">
            <a:avLst/>
          </a:prstGeom>
          <a:noFill/>
          <a:ln/>
        </p:spPr>
        <p:txBody>
          <a:bodyPr wrap="square" lIns="0" tIns="0" rIns="0" bIns="0" rtlCol="0" anchor="ctr"/>
          <a:lstStyle/>
          <a:p>
            <a:pPr indent="0" marL="0">
              <a:lnSpc>
                <a:spcPct val="105000"/>
              </a:lnSpc>
              <a:buNone/>
            </a:pPr>
            <a:r>
              <a:rPr lang="en-US" sz="1250" b="1" i="1" dirty="0">
                <a:solidFill>
                  <a:srgbClr val="12132E"/>
                </a:solidFill>
                <a:latin typeface="Calibri" pitchFamily="34" charset="0"/>
                <a:ea typeface="Calibri" pitchFamily="34" charset="-122"/>
                <a:cs typeface="Calibri" pitchFamily="34" charset="-120"/>
              </a:rPr>
              <a:t>Always check subtype before reading result.  </a:t>
            </a:r>
            <a:pPr indent="0" marL="0">
              <a:lnSpc>
                <a:spcPct val="105000"/>
              </a:lnSpc>
              <a:buNone/>
            </a:pPr>
            <a:r>
              <a:rPr lang="en-US" sz="1250" i="1" dirty="0">
                <a:solidFill>
                  <a:srgbClr val="64748B"/>
                </a:solidFill>
                <a:latin typeface="Calibri" pitchFamily="34" charset="0"/>
                <a:ea typeface="Calibri" pitchFamily="34" charset="-122"/>
                <a:cs typeface="Calibri" pitchFamily="34" charset="-120"/>
              </a:rPr>
              <a:t>All subtypes carry total_cost_usd, usage, num_turns, session_id — so you can track spend and resume even after a failure.</a:t>
            </a:r>
            <a:endParaRPr lang="en-US" sz="1250" dirty="0"/>
          </a:p>
        </p:txBody>
      </p:sp>
      <p:sp>
        <p:nvSpPr>
          <p:cNvPr id="26" name="Text 24"/>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27" name="Text 25"/>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28" name="Text 26"/>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DOMAIN 2 · TASKS 2.1–2.3</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Tool integration — step by step</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platform.claude.com/docs/en/agent-sdk/custom-tools</a:t>
            </a:r>
            <a:endParaRPr lang="en-US" sz="1050" dirty="0"/>
          </a:p>
        </p:txBody>
      </p:sp>
      <p:sp>
        <p:nvSpPr>
          <p:cNvPr id="5" name="Shape 3"/>
          <p:cNvSpPr/>
          <p:nvPr/>
        </p:nvSpPr>
        <p:spPr>
          <a:xfrm>
            <a:off x="548640" y="2240280"/>
            <a:ext cx="2697480" cy="2468880"/>
          </a:xfrm>
          <a:prstGeom prst="roundRect">
            <a:avLst>
              <a:gd name="adj" fmla="val 2222"/>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6" name="Shape 4"/>
          <p:cNvSpPr/>
          <p:nvPr/>
        </p:nvSpPr>
        <p:spPr>
          <a:xfrm>
            <a:off x="822960" y="2514600"/>
            <a:ext cx="749808" cy="749808"/>
          </a:xfrm>
          <a:prstGeom prst="ellipse">
            <a:avLst/>
          </a:prstGeom>
          <a:solidFill>
            <a:srgbClr val="4F46E5"/>
          </a:solidFill>
          <a:ln/>
          <a:effectLst>
            <a:outerShdw sx="100000" sy="100000" kx="0" ky="0" algn="bl" rotWithShape="0" blurRad="88900" dist="38100" dir="5400000">
              <a:srgbClr val="000000">
                <a:alpha val="16000"/>
              </a:srgbClr>
            </a:outerShdw>
          </a:effectLst>
        </p:spPr>
      </p:sp>
      <p:pic>
        <p:nvPicPr>
          <p:cNvPr id="7" name="Image 0" descr="preencoded.png">    </p:cNvPr>
          <p:cNvPicPr>
            <a:picLocks noChangeAspect="1"/>
          </p:cNvPicPr>
          <p:nvPr/>
        </p:nvPicPr>
        <p:blipFill>
          <a:blip r:embed="rId1"/>
          <a:stretch>
            <a:fillRect/>
          </a:stretch>
        </p:blipFill>
        <p:spPr>
          <a:xfrm>
            <a:off x="1017910" y="2709550"/>
            <a:ext cx="359908" cy="359908"/>
          </a:xfrm>
          <a:prstGeom prst="rect">
            <a:avLst/>
          </a:prstGeom>
        </p:spPr>
      </p:pic>
      <p:sp>
        <p:nvSpPr>
          <p:cNvPr id="8" name="Shape 5"/>
          <p:cNvSpPr/>
          <p:nvPr/>
        </p:nvSpPr>
        <p:spPr>
          <a:xfrm>
            <a:off x="2624328" y="2514600"/>
            <a:ext cx="457200" cy="457200"/>
          </a:xfrm>
          <a:prstGeom prst="ellipse">
            <a:avLst/>
          </a:prstGeom>
          <a:solidFill>
            <a:srgbClr val="12132E"/>
          </a:solidFill>
          <a:ln/>
        </p:spPr>
      </p:sp>
      <p:sp>
        <p:nvSpPr>
          <p:cNvPr id="9" name="Text 6"/>
          <p:cNvSpPr/>
          <p:nvPr/>
        </p:nvSpPr>
        <p:spPr>
          <a:xfrm>
            <a:off x="2624328" y="25146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7"/>
          <p:cNvSpPr/>
          <p:nvPr/>
        </p:nvSpPr>
        <p:spPr>
          <a:xfrm>
            <a:off x="804672" y="3410712"/>
            <a:ext cx="2240280" cy="457200"/>
          </a:xfrm>
          <a:prstGeom prst="rect">
            <a:avLst/>
          </a:prstGeom>
          <a:noFill/>
          <a:ln/>
        </p:spPr>
        <p:txBody>
          <a:bodyPr wrap="square" lIns="0" tIns="0" rIns="0" bIns="0" rtlCol="0" anchor="ctr"/>
          <a:lstStyle/>
          <a:p>
            <a:pPr indent="0" marL="0">
              <a:buNone/>
            </a:pPr>
            <a:r>
              <a:rPr lang="en-US" sz="1300" b="1" dirty="0">
                <a:solidFill>
                  <a:srgbClr val="4F46E5"/>
                </a:solidFill>
                <a:latin typeface="Courier New" pitchFamily="34" charset="0"/>
                <a:ea typeface="Courier New" pitchFamily="34" charset="-122"/>
                <a:cs typeface="Courier New" pitchFamily="34" charset="-120"/>
              </a:rPr>
              <a:t>@tool</a:t>
            </a:r>
            <a:endParaRPr lang="en-US" sz="1300" dirty="0"/>
          </a:p>
        </p:txBody>
      </p:sp>
      <p:sp>
        <p:nvSpPr>
          <p:cNvPr id="11" name="Text 8"/>
          <p:cNvSpPr/>
          <p:nvPr/>
        </p:nvSpPr>
        <p:spPr>
          <a:xfrm>
            <a:off x="804672" y="3904488"/>
            <a:ext cx="2185416" cy="731520"/>
          </a:xfrm>
          <a:prstGeom prst="rect">
            <a:avLst/>
          </a:prstGeom>
          <a:noFill/>
          <a:ln/>
        </p:spPr>
        <p:txBody>
          <a:bodyPr wrap="square" lIns="0" tIns="0" rIns="0" bIns="0" rtlCol="0" anchor="ctr"/>
          <a:lstStyle/>
          <a:p>
            <a:pPr indent="0" marL="0">
              <a:lnSpc>
                <a:spcPct val="104000"/>
              </a:lnSpc>
              <a:buNone/>
            </a:pPr>
            <a:r>
              <a:rPr lang="en-US" sz="1200" dirty="0">
                <a:solidFill>
                  <a:srgbClr val="64748B"/>
                </a:solidFill>
                <a:latin typeface="Calibri" pitchFamily="34" charset="0"/>
                <a:ea typeface="Calibri" pitchFamily="34" charset="-122"/>
                <a:cs typeface="Calibri" pitchFamily="34" charset="-120"/>
              </a:rPr>
              <a:t>Name, description, input schema, async handler.</a:t>
            </a:r>
            <a:endParaRPr lang="en-US" sz="1200" dirty="0"/>
          </a:p>
        </p:txBody>
      </p:sp>
      <p:sp>
        <p:nvSpPr>
          <p:cNvPr id="12" name="Shape 9"/>
          <p:cNvSpPr/>
          <p:nvPr/>
        </p:nvSpPr>
        <p:spPr>
          <a:xfrm>
            <a:off x="3520440" y="2240280"/>
            <a:ext cx="2697480" cy="2468880"/>
          </a:xfrm>
          <a:prstGeom prst="roundRect">
            <a:avLst>
              <a:gd name="adj" fmla="val 2222"/>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3" name="Shape 10"/>
          <p:cNvSpPr/>
          <p:nvPr/>
        </p:nvSpPr>
        <p:spPr>
          <a:xfrm>
            <a:off x="3794760" y="2514600"/>
            <a:ext cx="749808" cy="749808"/>
          </a:xfrm>
          <a:prstGeom prst="ellipse">
            <a:avLst/>
          </a:prstGeom>
          <a:solidFill>
            <a:srgbClr val="14B8A6"/>
          </a:solidFill>
          <a:ln/>
          <a:effectLst>
            <a:outerShdw sx="100000" sy="100000" kx="0" ky="0" algn="bl" rotWithShape="0" blurRad="88900" dist="38100" dir="5400000">
              <a:srgbClr val="000000">
                <a:alpha val="16000"/>
              </a:srgbClr>
            </a:outerShdw>
          </a:effectLst>
        </p:spPr>
      </p:sp>
      <p:pic>
        <p:nvPicPr>
          <p:cNvPr id="14" name="Image 1" descr="preencoded.png">    </p:cNvPr>
          <p:cNvPicPr>
            <a:picLocks noChangeAspect="1"/>
          </p:cNvPicPr>
          <p:nvPr/>
        </p:nvPicPr>
        <p:blipFill>
          <a:blip r:embed="rId2"/>
          <a:stretch>
            <a:fillRect/>
          </a:stretch>
        </p:blipFill>
        <p:spPr>
          <a:xfrm>
            <a:off x="3989710" y="2709550"/>
            <a:ext cx="359908" cy="359908"/>
          </a:xfrm>
          <a:prstGeom prst="rect">
            <a:avLst/>
          </a:prstGeom>
        </p:spPr>
      </p:pic>
      <p:sp>
        <p:nvSpPr>
          <p:cNvPr id="15" name="Shape 11"/>
          <p:cNvSpPr/>
          <p:nvPr/>
        </p:nvSpPr>
        <p:spPr>
          <a:xfrm>
            <a:off x="5596128" y="2514600"/>
            <a:ext cx="457200" cy="457200"/>
          </a:xfrm>
          <a:prstGeom prst="ellipse">
            <a:avLst/>
          </a:prstGeom>
          <a:solidFill>
            <a:srgbClr val="12132E"/>
          </a:solidFill>
          <a:ln/>
        </p:spPr>
      </p:sp>
      <p:sp>
        <p:nvSpPr>
          <p:cNvPr id="16" name="Text 12"/>
          <p:cNvSpPr/>
          <p:nvPr/>
        </p:nvSpPr>
        <p:spPr>
          <a:xfrm>
            <a:off x="5596128" y="25146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Text 13"/>
          <p:cNvSpPr/>
          <p:nvPr/>
        </p:nvSpPr>
        <p:spPr>
          <a:xfrm>
            <a:off x="3776472" y="3410712"/>
            <a:ext cx="2240280" cy="457200"/>
          </a:xfrm>
          <a:prstGeom prst="rect">
            <a:avLst/>
          </a:prstGeom>
          <a:noFill/>
          <a:ln/>
        </p:spPr>
        <p:txBody>
          <a:bodyPr wrap="square" lIns="0" tIns="0" rIns="0" bIns="0" rtlCol="0" anchor="ctr"/>
          <a:lstStyle/>
          <a:p>
            <a:pPr indent="0" marL="0">
              <a:buNone/>
            </a:pPr>
            <a:r>
              <a:rPr lang="en-US" sz="1300" b="1" dirty="0">
                <a:solidFill>
                  <a:srgbClr val="14B8A6"/>
                </a:solidFill>
                <a:latin typeface="Courier New" pitchFamily="34" charset="0"/>
                <a:ea typeface="Courier New" pitchFamily="34" charset="-122"/>
                <a:cs typeface="Courier New" pitchFamily="34" charset="-120"/>
              </a:rPr>
              <a:t>create_sdk_mcp_server</a:t>
            </a:r>
            <a:endParaRPr lang="en-US" sz="1300" dirty="0"/>
          </a:p>
        </p:txBody>
      </p:sp>
      <p:sp>
        <p:nvSpPr>
          <p:cNvPr id="18" name="Text 14"/>
          <p:cNvSpPr/>
          <p:nvPr/>
        </p:nvSpPr>
        <p:spPr>
          <a:xfrm>
            <a:off x="3776472" y="3904488"/>
            <a:ext cx="2185416" cy="731520"/>
          </a:xfrm>
          <a:prstGeom prst="rect">
            <a:avLst/>
          </a:prstGeom>
          <a:noFill/>
          <a:ln/>
        </p:spPr>
        <p:txBody>
          <a:bodyPr wrap="square" lIns="0" tIns="0" rIns="0" bIns="0" rtlCol="0" anchor="ctr"/>
          <a:lstStyle/>
          <a:p>
            <a:pPr indent="0" marL="0">
              <a:lnSpc>
                <a:spcPct val="104000"/>
              </a:lnSpc>
              <a:buNone/>
            </a:pPr>
            <a:r>
              <a:rPr lang="en-US" sz="1200" dirty="0">
                <a:solidFill>
                  <a:srgbClr val="64748B"/>
                </a:solidFill>
                <a:latin typeface="Calibri" pitchFamily="34" charset="0"/>
                <a:ea typeface="Calibri" pitchFamily="34" charset="-122"/>
                <a:cs typeface="Calibri" pitchFamily="34" charset="-120"/>
              </a:rPr>
              <a:t>Bundle tools into one in-process MCP server.</a:t>
            </a:r>
            <a:endParaRPr lang="en-US" sz="1200" dirty="0"/>
          </a:p>
        </p:txBody>
      </p:sp>
      <p:sp>
        <p:nvSpPr>
          <p:cNvPr id="19" name="Shape 15"/>
          <p:cNvSpPr/>
          <p:nvPr/>
        </p:nvSpPr>
        <p:spPr>
          <a:xfrm>
            <a:off x="6492240" y="2240280"/>
            <a:ext cx="2697480" cy="2468880"/>
          </a:xfrm>
          <a:prstGeom prst="roundRect">
            <a:avLst>
              <a:gd name="adj" fmla="val 2222"/>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20" name="Shape 16"/>
          <p:cNvSpPr/>
          <p:nvPr/>
        </p:nvSpPr>
        <p:spPr>
          <a:xfrm>
            <a:off x="6766560" y="2514600"/>
            <a:ext cx="749808" cy="749808"/>
          </a:xfrm>
          <a:prstGeom prst="ellipse">
            <a:avLst/>
          </a:prstGeom>
          <a:solidFill>
            <a:srgbClr val="8B5CF6"/>
          </a:solidFill>
          <a:ln/>
          <a:effectLst>
            <a:outerShdw sx="100000" sy="100000" kx="0" ky="0" algn="bl" rotWithShape="0" blurRad="88900" dist="38100" dir="5400000">
              <a:srgbClr val="000000">
                <a:alpha val="16000"/>
              </a:srgbClr>
            </a:outerShdw>
          </a:effectLst>
        </p:spPr>
      </p:sp>
      <p:pic>
        <p:nvPicPr>
          <p:cNvPr id="21" name="Image 2" descr="preencoded.png">    </p:cNvPr>
          <p:cNvPicPr>
            <a:picLocks noChangeAspect="1"/>
          </p:cNvPicPr>
          <p:nvPr/>
        </p:nvPicPr>
        <p:blipFill>
          <a:blip r:embed="rId3"/>
          <a:stretch>
            <a:fillRect/>
          </a:stretch>
        </p:blipFill>
        <p:spPr>
          <a:xfrm>
            <a:off x="6961510" y="2709550"/>
            <a:ext cx="359908" cy="359908"/>
          </a:xfrm>
          <a:prstGeom prst="rect">
            <a:avLst/>
          </a:prstGeom>
        </p:spPr>
      </p:pic>
      <p:sp>
        <p:nvSpPr>
          <p:cNvPr id="22" name="Shape 17"/>
          <p:cNvSpPr/>
          <p:nvPr/>
        </p:nvSpPr>
        <p:spPr>
          <a:xfrm>
            <a:off x="8567928" y="2514600"/>
            <a:ext cx="457200" cy="457200"/>
          </a:xfrm>
          <a:prstGeom prst="ellipse">
            <a:avLst/>
          </a:prstGeom>
          <a:solidFill>
            <a:srgbClr val="12132E"/>
          </a:solidFill>
          <a:ln/>
        </p:spPr>
      </p:sp>
      <p:sp>
        <p:nvSpPr>
          <p:cNvPr id="23" name="Text 18"/>
          <p:cNvSpPr/>
          <p:nvPr/>
        </p:nvSpPr>
        <p:spPr>
          <a:xfrm>
            <a:off x="8567928" y="25146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4" name="Text 19"/>
          <p:cNvSpPr/>
          <p:nvPr/>
        </p:nvSpPr>
        <p:spPr>
          <a:xfrm>
            <a:off x="6748272" y="3410712"/>
            <a:ext cx="2240280" cy="457200"/>
          </a:xfrm>
          <a:prstGeom prst="rect">
            <a:avLst/>
          </a:prstGeom>
          <a:noFill/>
          <a:ln/>
        </p:spPr>
        <p:txBody>
          <a:bodyPr wrap="square" lIns="0" tIns="0" rIns="0" bIns="0" rtlCol="0" anchor="ctr"/>
          <a:lstStyle/>
          <a:p>
            <a:pPr indent="0" marL="0">
              <a:buNone/>
            </a:pPr>
            <a:r>
              <a:rPr lang="en-US" sz="1300" b="1" dirty="0">
                <a:solidFill>
                  <a:srgbClr val="8B5CF6"/>
                </a:solidFill>
                <a:latin typeface="Courier New" pitchFamily="34" charset="0"/>
                <a:ea typeface="Courier New" pitchFamily="34" charset="-122"/>
                <a:cs typeface="Courier New" pitchFamily="34" charset="-120"/>
              </a:rPr>
              <a:t>allowed_tools</a:t>
            </a:r>
            <a:endParaRPr lang="en-US" sz="1300" dirty="0"/>
          </a:p>
        </p:txBody>
      </p:sp>
      <p:sp>
        <p:nvSpPr>
          <p:cNvPr id="25" name="Text 20"/>
          <p:cNvSpPr/>
          <p:nvPr/>
        </p:nvSpPr>
        <p:spPr>
          <a:xfrm>
            <a:off x="6748272" y="3904488"/>
            <a:ext cx="2185416" cy="731520"/>
          </a:xfrm>
          <a:prstGeom prst="rect">
            <a:avLst/>
          </a:prstGeom>
          <a:noFill/>
          <a:ln/>
        </p:spPr>
        <p:txBody>
          <a:bodyPr wrap="square" lIns="0" tIns="0" rIns="0" bIns="0" rtlCol="0" anchor="ctr"/>
          <a:lstStyle/>
          <a:p>
            <a:pPr indent="0" marL="0">
              <a:lnSpc>
                <a:spcPct val="104000"/>
              </a:lnSpc>
              <a:buNone/>
            </a:pPr>
            <a:r>
              <a:rPr lang="en-US" sz="1200" dirty="0">
                <a:solidFill>
                  <a:srgbClr val="64748B"/>
                </a:solidFill>
                <a:latin typeface="Calibri" pitchFamily="34" charset="0"/>
                <a:ea typeface="Calibri" pitchFamily="34" charset="-122"/>
                <a:cs typeface="Calibri" pitchFamily="34" charset="-120"/>
              </a:rPr>
              <a:t>Pre-approve mcp__&lt;server&gt;__&lt;tool&gt; names.</a:t>
            </a:r>
            <a:endParaRPr lang="en-US" sz="1200" dirty="0"/>
          </a:p>
        </p:txBody>
      </p:sp>
      <p:sp>
        <p:nvSpPr>
          <p:cNvPr id="26" name="Shape 21"/>
          <p:cNvSpPr/>
          <p:nvPr/>
        </p:nvSpPr>
        <p:spPr>
          <a:xfrm>
            <a:off x="9464040" y="2240280"/>
            <a:ext cx="2697480" cy="2468880"/>
          </a:xfrm>
          <a:prstGeom prst="roundRect">
            <a:avLst>
              <a:gd name="adj" fmla="val 2222"/>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27" name="Shape 22"/>
          <p:cNvSpPr/>
          <p:nvPr/>
        </p:nvSpPr>
        <p:spPr>
          <a:xfrm>
            <a:off x="9738360" y="2514600"/>
            <a:ext cx="749808" cy="749808"/>
          </a:xfrm>
          <a:prstGeom prst="ellipse">
            <a:avLst/>
          </a:prstGeom>
          <a:solidFill>
            <a:srgbClr val="F59E0B"/>
          </a:solidFill>
          <a:ln/>
          <a:effectLst>
            <a:outerShdw sx="100000" sy="100000" kx="0" ky="0" algn="bl" rotWithShape="0" blurRad="88900" dist="38100" dir="5400000">
              <a:srgbClr val="000000">
                <a:alpha val="16000"/>
              </a:srgbClr>
            </a:outerShdw>
          </a:effectLst>
        </p:spPr>
      </p:sp>
      <p:pic>
        <p:nvPicPr>
          <p:cNvPr id="28" name="Image 3" descr="preencoded.png">    </p:cNvPr>
          <p:cNvPicPr>
            <a:picLocks noChangeAspect="1"/>
          </p:cNvPicPr>
          <p:nvPr/>
        </p:nvPicPr>
        <p:blipFill>
          <a:blip r:embed="rId4"/>
          <a:stretch>
            <a:fillRect/>
          </a:stretch>
        </p:blipFill>
        <p:spPr>
          <a:xfrm>
            <a:off x="9933310" y="2709550"/>
            <a:ext cx="359908" cy="359908"/>
          </a:xfrm>
          <a:prstGeom prst="rect">
            <a:avLst/>
          </a:prstGeom>
        </p:spPr>
      </p:pic>
      <p:sp>
        <p:nvSpPr>
          <p:cNvPr id="29" name="Shape 23"/>
          <p:cNvSpPr/>
          <p:nvPr/>
        </p:nvSpPr>
        <p:spPr>
          <a:xfrm>
            <a:off x="11539728" y="2514600"/>
            <a:ext cx="457200" cy="457200"/>
          </a:xfrm>
          <a:prstGeom prst="ellipse">
            <a:avLst/>
          </a:prstGeom>
          <a:solidFill>
            <a:srgbClr val="12132E"/>
          </a:solidFill>
          <a:ln/>
        </p:spPr>
      </p:sp>
      <p:sp>
        <p:nvSpPr>
          <p:cNvPr id="30" name="Text 24"/>
          <p:cNvSpPr/>
          <p:nvPr/>
        </p:nvSpPr>
        <p:spPr>
          <a:xfrm>
            <a:off x="11539728" y="25146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1" name="Text 25"/>
          <p:cNvSpPr/>
          <p:nvPr/>
        </p:nvSpPr>
        <p:spPr>
          <a:xfrm>
            <a:off x="9720072" y="3410712"/>
            <a:ext cx="2240280" cy="457200"/>
          </a:xfrm>
          <a:prstGeom prst="rect">
            <a:avLst/>
          </a:prstGeom>
          <a:noFill/>
          <a:ln/>
        </p:spPr>
        <p:txBody>
          <a:bodyPr wrap="square" lIns="0" tIns="0" rIns="0" bIns="0" rtlCol="0" anchor="ctr"/>
          <a:lstStyle/>
          <a:p>
            <a:pPr indent="0" marL="0">
              <a:buNone/>
            </a:pPr>
            <a:r>
              <a:rPr lang="en-US" sz="1300" b="1" dirty="0">
                <a:solidFill>
                  <a:srgbClr val="F59E0B"/>
                </a:solidFill>
                <a:latin typeface="Courier New" pitchFamily="34" charset="0"/>
                <a:ea typeface="Courier New" pitchFamily="34" charset="-122"/>
                <a:cs typeface="Courier New" pitchFamily="34" charset="-120"/>
              </a:rPr>
              <a:t>is_error</a:t>
            </a:r>
            <a:endParaRPr lang="en-US" sz="1300" dirty="0"/>
          </a:p>
        </p:txBody>
      </p:sp>
      <p:sp>
        <p:nvSpPr>
          <p:cNvPr id="32" name="Text 26"/>
          <p:cNvSpPr/>
          <p:nvPr/>
        </p:nvSpPr>
        <p:spPr>
          <a:xfrm>
            <a:off x="9720072" y="3904488"/>
            <a:ext cx="2185416" cy="731520"/>
          </a:xfrm>
          <a:prstGeom prst="rect">
            <a:avLst/>
          </a:prstGeom>
          <a:noFill/>
          <a:ln/>
        </p:spPr>
        <p:txBody>
          <a:bodyPr wrap="square" lIns="0" tIns="0" rIns="0" bIns="0" rtlCol="0" anchor="ctr"/>
          <a:lstStyle/>
          <a:p>
            <a:pPr indent="0" marL="0">
              <a:lnSpc>
                <a:spcPct val="104000"/>
              </a:lnSpc>
              <a:buNone/>
            </a:pPr>
            <a:r>
              <a:rPr lang="en-US" sz="1200" dirty="0">
                <a:solidFill>
                  <a:srgbClr val="64748B"/>
                </a:solidFill>
                <a:latin typeface="Calibri" pitchFamily="34" charset="0"/>
                <a:ea typeface="Calibri" pitchFamily="34" charset="-122"/>
                <a:cs typeface="Calibri" pitchFamily="34" charset="-120"/>
              </a:rPr>
              <a:t>Return failures as data the loop can recover from.</a:t>
            </a:r>
            <a:endParaRPr lang="en-US" sz="1200" dirty="0"/>
          </a:p>
        </p:txBody>
      </p:sp>
      <p:sp>
        <p:nvSpPr>
          <p:cNvPr id="33" name="Text 27"/>
          <p:cNvSpPr/>
          <p:nvPr/>
        </p:nvSpPr>
        <p:spPr>
          <a:xfrm>
            <a:off x="548640" y="5029200"/>
            <a:ext cx="11064240" cy="640080"/>
          </a:xfrm>
          <a:prstGeom prst="rect">
            <a:avLst/>
          </a:prstGeom>
          <a:noFill/>
          <a:ln/>
        </p:spPr>
        <p:txBody>
          <a:bodyPr wrap="square" lIns="0" tIns="0" rIns="0" bIns="0" rtlCol="0" anchor="ctr"/>
          <a:lstStyle/>
          <a:p>
            <a:pPr indent="0" marL="0">
              <a:lnSpc>
                <a:spcPct val="105000"/>
              </a:lnSpc>
              <a:buNone/>
            </a:pPr>
            <a:r>
              <a:rPr lang="en-US" sz="1300" i="1" dirty="0">
                <a:solidFill>
                  <a:srgbClr val="4F46E5"/>
                </a:solidFill>
                <a:latin typeface="Calibri" pitchFamily="34" charset="0"/>
                <a:ea typeface="Calibri" pitchFamily="34" charset="-122"/>
                <a:cs typeface="Calibri" pitchFamily="34" charset="-120"/>
              </a:rPr>
              <a:t>Tools run in-process inside your app — your database client, your API auth, your domain logic. Scope each agent to ~4–5 tools; selection reliability degrades as the set grows.</a:t>
            </a:r>
            <a:endParaRPr lang="en-US" sz="1300" dirty="0"/>
          </a:p>
        </p:txBody>
      </p:sp>
      <p:sp>
        <p:nvSpPr>
          <p:cNvPr id="34" name="Text 28"/>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35" name="Text 29"/>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36" name="Text 30"/>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02_CUSTOM_TOOLS_SDK.PY</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Walkthrough 2 — a custom tool</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platform.claude.com/docs/en/agent-sdk/custom-tools</a:t>
            </a:r>
            <a:endParaRPr lang="en-US" sz="1050" dirty="0"/>
          </a:p>
        </p:txBody>
      </p:sp>
      <p:sp>
        <p:nvSpPr>
          <p:cNvPr id="5" name="Shape 3"/>
          <p:cNvSpPr/>
          <p:nvPr/>
        </p:nvSpPr>
        <p:spPr>
          <a:xfrm>
            <a:off x="548640" y="1417320"/>
            <a:ext cx="6858000" cy="4572000"/>
          </a:xfrm>
          <a:prstGeom prst="roundRect">
            <a:avLst>
              <a:gd name="adj" fmla="val 1600"/>
            </a:avLst>
          </a:prstGeom>
          <a:solidFill>
            <a:srgbClr val="11142B"/>
          </a:solidFill>
          <a:ln/>
          <a:effectLst>
            <a:outerShdw sx="100000" sy="100000" kx="0" ky="0" algn="bl" rotWithShape="0" blurRad="88900" dist="38100" dir="5400000">
              <a:srgbClr val="000000">
                <a:alpha val="16000"/>
              </a:srgbClr>
            </a:outerShdw>
          </a:effectLst>
        </p:spPr>
      </p:sp>
      <p:sp>
        <p:nvSpPr>
          <p:cNvPr id="6" name="Text 4"/>
          <p:cNvSpPr/>
          <p:nvPr/>
        </p:nvSpPr>
        <p:spPr>
          <a:xfrm>
            <a:off x="749808" y="1563624"/>
            <a:ext cx="6455664" cy="4279392"/>
          </a:xfrm>
          <a:prstGeom prst="rect">
            <a:avLst/>
          </a:prstGeom>
          <a:noFill/>
          <a:ln/>
        </p:spPr>
        <p:txBody>
          <a:bodyPr wrap="square" lIns="0" tIns="0" rIns="0" bIns="0" rtlCol="0" anchor="t"/>
          <a:lstStyle/>
          <a:p>
            <a:pPr indent="0" marL="0">
              <a:lnSpc>
                <a:spcPct val="102000"/>
              </a:lnSpc>
              <a:buNone/>
            </a:pPr>
            <a:r>
              <a:rPr lang="en-US" sz="1200" dirty="0">
                <a:solidFill>
                  <a:srgbClr val="C4B5FD"/>
                </a:solidFill>
                <a:latin typeface="Courier New" pitchFamily="34" charset="0"/>
                <a:ea typeface="Courier New" pitchFamily="34" charset="-122"/>
                <a:cs typeface="Courier New" pitchFamily="34" charset="-120"/>
              </a:rPr>
              <a:t>@tool(</a:t>
            </a:r>
            <a:endParaRPr lang="en-US" sz="1200" dirty="0"/>
          </a:p>
          <a:p>
            <a:pPr indent="0" marL="0">
              <a:lnSpc>
                <a:spcPct val="102000"/>
              </a:lnSpc>
              <a:buNone/>
            </a:pPr>
            <a:r>
              <a:rPr lang="en-US" sz="1200" dirty="0">
                <a:solidFill>
                  <a:srgbClr val="A5B4FC"/>
                </a:solidFill>
                <a:latin typeface="Courier New" pitchFamily="34" charset="0"/>
                <a:ea typeface="Courier New" pitchFamily="34" charset="-122"/>
                <a:cs typeface="Courier New" pitchFamily="34" charset="-120"/>
              </a:rPr>
              <a:t>  "lookup_order",            # 1 namespaced name</a:t>
            </a:r>
            <a:endParaRPr lang="en-US" sz="1200" dirty="0"/>
          </a:p>
          <a:p>
            <a:pPr indent="0" marL="0">
              <a:lnSpc>
                <a:spcPct val="102000"/>
              </a:lnSpc>
              <a:buNone/>
            </a:pPr>
            <a:r>
              <a:rPr lang="en-US" sz="1200" dirty="0">
                <a:solidFill>
                  <a:srgbClr val="5EEAD4"/>
                </a:solidFill>
                <a:latin typeface="Courier New" pitchFamily="34" charset="0"/>
                <a:ea typeface="Courier New" pitchFamily="34" charset="-122"/>
                <a:cs typeface="Courier New" pitchFamily="34" charset="-120"/>
              </a:rPr>
              <a:t>  "Look up an ORDER by order ID (O-###)."</a:t>
            </a:r>
            <a:endParaRPr lang="en-US" sz="1200" dirty="0"/>
          </a:p>
          <a:p>
            <a:pPr indent="0" marL="0">
              <a:lnSpc>
                <a:spcPct val="102000"/>
              </a:lnSpc>
              <a:buNone/>
            </a:pPr>
            <a:r>
              <a:rPr lang="en-US" sz="1200" dirty="0">
                <a:solidFill>
                  <a:srgbClr val="5EEAD4"/>
                </a:solidFill>
                <a:latin typeface="Courier New" pitchFamily="34" charset="0"/>
                <a:ea typeface="Courier New" pitchFamily="34" charset="-122"/>
                <a:cs typeface="Courier New" pitchFamily="34" charset="-120"/>
              </a:rPr>
              <a:t>  " Returns total, status, customer. NOT"</a:t>
            </a:r>
            <a:endParaRPr lang="en-US" sz="1200" dirty="0"/>
          </a:p>
          <a:p>
            <a:pPr indent="0" marL="0">
              <a:lnSpc>
                <a:spcPct val="102000"/>
              </a:lnSpc>
              <a:buNone/>
            </a:pPr>
            <a:r>
              <a:rPr lang="en-US" sz="1200" dirty="0">
                <a:solidFill>
                  <a:srgbClr val="5EEAD4"/>
                </a:solidFill>
                <a:latin typeface="Courier New" pitchFamily="34" charset="0"/>
                <a:ea typeface="Courier New" pitchFamily="34" charset="-122"/>
                <a:cs typeface="Courier New" pitchFamily="34" charset="-120"/>
              </a:rPr>
              <a:t>  " for customer lookups.",   # 2 selection signal</a:t>
            </a:r>
            <a:endParaRPr lang="en-US" sz="1200" dirty="0"/>
          </a:p>
          <a:p>
            <a:pPr indent="0" marL="0">
              <a:lnSpc>
                <a:spcPct val="102000"/>
              </a:lnSpc>
              <a:buNone/>
            </a:pPr>
            <a:r>
              <a:rPr lang="en-US" sz="1200" dirty="0">
                <a:solidFill>
                  <a:srgbClr val="E2E8F0"/>
                </a:solidFill>
                <a:latin typeface="Courier New" pitchFamily="34" charset="0"/>
                <a:ea typeface="Courier New" pitchFamily="34" charset="-122"/>
                <a:cs typeface="Courier New" pitchFamily="34" charset="-120"/>
              </a:rPr>
              <a:t>  {"order_id": str})          # typed input schema</a:t>
            </a:r>
            <a:endParaRPr lang="en-US" sz="1200" dirty="0"/>
          </a:p>
          <a:p>
            <a:pPr indent="0" marL="0">
              <a:lnSpc>
                <a:spcPct val="102000"/>
              </a:lnSpc>
              <a:buNone/>
            </a:pPr>
            <a:r>
              <a:rPr lang="en-US" sz="1200" dirty="0">
                <a:solidFill>
                  <a:srgbClr val="7DD3FC"/>
                </a:solidFill>
                <a:latin typeface="Courier New" pitchFamily="34" charset="0"/>
                <a:ea typeface="Courier New" pitchFamily="34" charset="-122"/>
                <a:cs typeface="Courier New" pitchFamily="34" charset="-120"/>
              </a:rPr>
              <a:t>async def lookup_order(args):  # handler</a:t>
            </a:r>
            <a:endParaRPr lang="en-US" sz="1200" dirty="0"/>
          </a:p>
          <a:p>
            <a:pPr indent="0" marL="0">
              <a:lnSpc>
                <a:spcPct val="102000"/>
              </a:lnSpc>
              <a:buNone/>
            </a:pPr>
            <a:r>
              <a:rPr lang="en-US" sz="1200" dirty="0">
                <a:solidFill>
                  <a:srgbClr val="E2E8F0"/>
                </a:solidFill>
                <a:latin typeface="Courier New" pitchFamily="34" charset="0"/>
                <a:ea typeface="Courier New" pitchFamily="34" charset="-122"/>
                <a:cs typeface="Courier New" pitchFamily="34" charset="-120"/>
              </a:rPr>
              <a:t>    rec = _ORDERS.get(args["order_id"])</a:t>
            </a:r>
            <a:endParaRPr lang="en-US" sz="1200" dirty="0"/>
          </a:p>
          <a:p>
            <a:pPr indent="0" marL="0">
              <a:lnSpc>
                <a:spcPct val="102000"/>
              </a:lnSpc>
              <a:buNone/>
            </a:pPr>
            <a:r>
              <a:rPr lang="en-US" sz="1200" dirty="0">
                <a:solidFill>
                  <a:srgbClr val="E2E8F0"/>
                </a:solidFill>
                <a:latin typeface="Courier New" pitchFamily="34" charset="0"/>
                <a:ea typeface="Courier New" pitchFamily="34" charset="-122"/>
                <a:cs typeface="Courier New" pitchFamily="34" charset="-120"/>
              </a:rPr>
              <a:t>    if not rec:</a:t>
            </a:r>
            <a:endParaRPr lang="en-US" sz="1200" dirty="0"/>
          </a:p>
          <a:p>
            <a:pPr indent="0" marL="0">
              <a:lnSpc>
                <a:spcPct val="102000"/>
              </a:lnSpc>
              <a:buNone/>
            </a:pPr>
            <a:r>
              <a:rPr lang="en-US" sz="1200" dirty="0">
                <a:solidFill>
                  <a:srgbClr val="E2E8F0"/>
                </a:solidFill>
                <a:latin typeface="Courier New" pitchFamily="34" charset="0"/>
                <a:ea typeface="Courier New" pitchFamily="34" charset="-122"/>
                <a:cs typeface="Courier New" pitchFamily="34" charset="-120"/>
              </a:rPr>
              <a:t>        return {"content":[...],</a:t>
            </a:r>
            <a:endParaRPr lang="en-US" sz="1200" dirty="0"/>
          </a:p>
          <a:p>
            <a:pPr indent="0" marL="0">
              <a:lnSpc>
                <a:spcPct val="102000"/>
              </a:lnSpc>
              <a:buNone/>
            </a:pPr>
            <a:r>
              <a:rPr lang="en-US" sz="1200" dirty="0">
                <a:solidFill>
                  <a:srgbClr val="FCD34D"/>
                </a:solidFill>
                <a:latin typeface="Courier New" pitchFamily="34" charset="0"/>
                <a:ea typeface="Courier New" pitchFamily="34" charset="-122"/>
                <a:cs typeface="Courier New" pitchFamily="34" charset="-120"/>
              </a:rPr>
              <a:t>                "is_error": True}  # 3 recoverable</a:t>
            </a:r>
            <a:endParaRPr lang="en-US" sz="1200" dirty="0"/>
          </a:p>
          <a:p>
            <a:pPr indent="0" marL="0">
              <a:lnSpc>
                <a:spcPct val="102000"/>
              </a:lnSpc>
              <a:buNone/>
            </a:pPr>
            <a:r>
              <a:rPr lang="en-US" sz="1200" dirty="0">
                <a:solidFill>
                  <a:srgbClr val="E2E8F0"/>
                </a:solidFill>
                <a:latin typeface="Courier New" pitchFamily="34" charset="0"/>
                <a:ea typeface="Courier New" pitchFamily="34" charset="-122"/>
                <a:cs typeface="Courier New" pitchFamily="34" charset="-120"/>
              </a:rPr>
              <a:t>    return {"content":[{"type":"text",...}]}</a:t>
            </a:r>
            <a:endParaRPr lang="en-US" sz="1200" dirty="0"/>
          </a:p>
        </p:txBody>
      </p:sp>
      <p:sp>
        <p:nvSpPr>
          <p:cNvPr id="7" name="Shape 5"/>
          <p:cNvSpPr/>
          <p:nvPr/>
        </p:nvSpPr>
        <p:spPr>
          <a:xfrm>
            <a:off x="7635240" y="1417320"/>
            <a:ext cx="3977640" cy="1371600"/>
          </a:xfrm>
          <a:prstGeom prst="roundRect">
            <a:avLst>
              <a:gd name="adj" fmla="val 4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8" name="Shape 6"/>
          <p:cNvSpPr/>
          <p:nvPr/>
        </p:nvSpPr>
        <p:spPr>
          <a:xfrm>
            <a:off x="7818120" y="1600200"/>
            <a:ext cx="457200" cy="457200"/>
          </a:xfrm>
          <a:prstGeom prst="ellipse">
            <a:avLst/>
          </a:prstGeom>
          <a:solidFill>
            <a:srgbClr val="4F46E5"/>
          </a:solidFill>
          <a:ln/>
        </p:spPr>
      </p:sp>
      <p:sp>
        <p:nvSpPr>
          <p:cNvPr id="9" name="Text 7"/>
          <p:cNvSpPr/>
          <p:nvPr/>
        </p:nvSpPr>
        <p:spPr>
          <a:xfrm>
            <a:off x="7818120" y="1600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8412480" y="1618488"/>
            <a:ext cx="3108960" cy="411480"/>
          </a:xfrm>
          <a:prstGeom prst="rect">
            <a:avLst/>
          </a:prstGeom>
          <a:noFill/>
          <a:ln/>
        </p:spPr>
        <p:txBody>
          <a:bodyPr wrap="square" lIns="0" tIns="0" rIns="0" bIns="0" rtlCol="0" anchor="ctr"/>
          <a:lstStyle/>
          <a:p>
            <a:pPr indent="0" marL="0">
              <a:buNone/>
            </a:pPr>
            <a:r>
              <a:rPr lang="en-US" sz="1300" b="1" dirty="0">
                <a:solidFill>
                  <a:srgbClr val="12132E"/>
                </a:solidFill>
                <a:latin typeface="Calibri" pitchFamily="34" charset="0"/>
                <a:ea typeface="Calibri" pitchFamily="34" charset="-122"/>
                <a:cs typeface="Calibri" pitchFamily="34" charset="-120"/>
              </a:rPr>
              <a:t>Namespaced name</a:t>
            </a:r>
            <a:endParaRPr lang="en-US" sz="1300" dirty="0"/>
          </a:p>
        </p:txBody>
      </p:sp>
      <p:sp>
        <p:nvSpPr>
          <p:cNvPr id="11" name="Text 9"/>
          <p:cNvSpPr/>
          <p:nvPr/>
        </p:nvSpPr>
        <p:spPr>
          <a:xfrm>
            <a:off x="7818120" y="2130552"/>
            <a:ext cx="3611880" cy="603504"/>
          </a:xfrm>
          <a:prstGeom prst="rect">
            <a:avLst/>
          </a:prstGeom>
          <a:noFill/>
          <a:ln/>
        </p:spPr>
        <p:txBody>
          <a:bodyPr wrap="square" lIns="0" tIns="0" rIns="0" bIns="0" rtlCol="0" anchor="ctr"/>
          <a:lstStyle/>
          <a:p>
            <a:pPr indent="0" marL="0">
              <a:lnSpc>
                <a:spcPct val="104000"/>
              </a:lnSpc>
              <a:buNone/>
            </a:pPr>
            <a:r>
              <a:rPr lang="en-US" sz="1100" dirty="0">
                <a:solidFill>
                  <a:srgbClr val="64748B"/>
                </a:solidFill>
                <a:latin typeface="Calibri" pitchFamily="34" charset="0"/>
                <a:ea typeface="Calibri" pitchFamily="34" charset="-122"/>
                <a:cs typeface="Calibri" pitchFamily="34" charset="-120"/>
              </a:rPr>
              <a:t>Becomes mcp__support__lookup_order; list it in allowed_tools and scope per agent.</a:t>
            </a:r>
            <a:endParaRPr lang="en-US" sz="1100" dirty="0"/>
          </a:p>
        </p:txBody>
      </p:sp>
      <p:sp>
        <p:nvSpPr>
          <p:cNvPr id="12" name="Shape 10"/>
          <p:cNvSpPr/>
          <p:nvPr/>
        </p:nvSpPr>
        <p:spPr>
          <a:xfrm>
            <a:off x="7635240" y="2971800"/>
            <a:ext cx="3977640" cy="1371600"/>
          </a:xfrm>
          <a:prstGeom prst="roundRect">
            <a:avLst>
              <a:gd name="adj" fmla="val 4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3" name="Shape 11"/>
          <p:cNvSpPr/>
          <p:nvPr/>
        </p:nvSpPr>
        <p:spPr>
          <a:xfrm>
            <a:off x="7818120" y="3154680"/>
            <a:ext cx="457200" cy="457200"/>
          </a:xfrm>
          <a:prstGeom prst="ellipse">
            <a:avLst/>
          </a:prstGeom>
          <a:solidFill>
            <a:srgbClr val="14B8A6"/>
          </a:solidFill>
          <a:ln/>
        </p:spPr>
      </p:sp>
      <p:sp>
        <p:nvSpPr>
          <p:cNvPr id="14" name="Text 12"/>
          <p:cNvSpPr/>
          <p:nvPr/>
        </p:nvSpPr>
        <p:spPr>
          <a:xfrm>
            <a:off x="7818120" y="31546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3"/>
          <p:cNvSpPr/>
          <p:nvPr/>
        </p:nvSpPr>
        <p:spPr>
          <a:xfrm>
            <a:off x="8412480" y="3172968"/>
            <a:ext cx="3108960" cy="411480"/>
          </a:xfrm>
          <a:prstGeom prst="rect">
            <a:avLst/>
          </a:prstGeom>
          <a:noFill/>
          <a:ln/>
        </p:spPr>
        <p:txBody>
          <a:bodyPr wrap="square" lIns="0" tIns="0" rIns="0" bIns="0" rtlCol="0" anchor="ctr"/>
          <a:lstStyle/>
          <a:p>
            <a:pPr indent="0" marL="0">
              <a:buNone/>
            </a:pPr>
            <a:r>
              <a:rPr lang="en-US" sz="1300" b="1" dirty="0">
                <a:solidFill>
                  <a:srgbClr val="12132E"/>
                </a:solidFill>
                <a:latin typeface="Calibri" pitchFamily="34" charset="0"/>
                <a:ea typeface="Calibri" pitchFamily="34" charset="-122"/>
                <a:cs typeface="Calibri" pitchFamily="34" charset="-120"/>
              </a:rPr>
              <a:t>Description = selection signal</a:t>
            </a:r>
            <a:endParaRPr lang="en-US" sz="1300" dirty="0"/>
          </a:p>
        </p:txBody>
      </p:sp>
      <p:sp>
        <p:nvSpPr>
          <p:cNvPr id="16" name="Text 14"/>
          <p:cNvSpPr/>
          <p:nvPr/>
        </p:nvSpPr>
        <p:spPr>
          <a:xfrm>
            <a:off x="7818120" y="3685032"/>
            <a:ext cx="3611880" cy="603504"/>
          </a:xfrm>
          <a:prstGeom prst="rect">
            <a:avLst/>
          </a:prstGeom>
          <a:noFill/>
          <a:ln/>
        </p:spPr>
        <p:txBody>
          <a:bodyPr wrap="square" lIns="0" tIns="0" rIns="0" bIns="0" rtlCol="0" anchor="ctr"/>
          <a:lstStyle/>
          <a:p>
            <a:pPr indent="0" marL="0">
              <a:lnSpc>
                <a:spcPct val="104000"/>
              </a:lnSpc>
              <a:buNone/>
            </a:pPr>
            <a:r>
              <a:rPr lang="en-US" sz="1100" dirty="0">
                <a:solidFill>
                  <a:srgbClr val="64748B"/>
                </a:solidFill>
                <a:latin typeface="Calibri" pitchFamily="34" charset="0"/>
                <a:ea typeface="Calibri" pitchFamily="34" charset="-122"/>
                <a:cs typeface="Calibri" pitchFamily="34" charset="-120"/>
              </a:rPr>
              <a:t>Distinct, bounded text — the model routes between tools on this.</a:t>
            </a:r>
            <a:endParaRPr lang="en-US" sz="1100" dirty="0"/>
          </a:p>
        </p:txBody>
      </p:sp>
      <p:sp>
        <p:nvSpPr>
          <p:cNvPr id="17" name="Shape 15"/>
          <p:cNvSpPr/>
          <p:nvPr/>
        </p:nvSpPr>
        <p:spPr>
          <a:xfrm>
            <a:off x="7635240" y="4526280"/>
            <a:ext cx="3977640" cy="1371600"/>
          </a:xfrm>
          <a:prstGeom prst="roundRect">
            <a:avLst>
              <a:gd name="adj" fmla="val 4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8" name="Shape 16"/>
          <p:cNvSpPr/>
          <p:nvPr/>
        </p:nvSpPr>
        <p:spPr>
          <a:xfrm>
            <a:off x="7818120" y="4709160"/>
            <a:ext cx="457200" cy="457200"/>
          </a:xfrm>
          <a:prstGeom prst="ellipse">
            <a:avLst/>
          </a:prstGeom>
          <a:solidFill>
            <a:srgbClr val="F59E0B"/>
          </a:solidFill>
          <a:ln/>
        </p:spPr>
      </p:sp>
      <p:sp>
        <p:nvSpPr>
          <p:cNvPr id="19" name="Text 17"/>
          <p:cNvSpPr/>
          <p:nvPr/>
        </p:nvSpPr>
        <p:spPr>
          <a:xfrm>
            <a:off x="7818120" y="4709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8412480" y="4727448"/>
            <a:ext cx="3108960" cy="411480"/>
          </a:xfrm>
          <a:prstGeom prst="rect">
            <a:avLst/>
          </a:prstGeom>
          <a:noFill/>
          <a:ln/>
        </p:spPr>
        <p:txBody>
          <a:bodyPr wrap="square" lIns="0" tIns="0" rIns="0" bIns="0" rtlCol="0" anchor="ctr"/>
          <a:lstStyle/>
          <a:p>
            <a:pPr indent="0" marL="0">
              <a:buNone/>
            </a:pPr>
            <a:r>
              <a:rPr lang="en-US" sz="1300" b="1" dirty="0">
                <a:solidFill>
                  <a:srgbClr val="12132E"/>
                </a:solidFill>
                <a:latin typeface="Calibri" pitchFamily="34" charset="0"/>
                <a:ea typeface="Calibri" pitchFamily="34" charset="-122"/>
                <a:cs typeface="Calibri" pitchFamily="34" charset="-120"/>
              </a:rPr>
              <a:t>Structured errors</a:t>
            </a:r>
            <a:endParaRPr lang="en-US" sz="1300" dirty="0"/>
          </a:p>
        </p:txBody>
      </p:sp>
      <p:sp>
        <p:nvSpPr>
          <p:cNvPr id="21" name="Text 19"/>
          <p:cNvSpPr/>
          <p:nvPr/>
        </p:nvSpPr>
        <p:spPr>
          <a:xfrm>
            <a:off x="7818120" y="5239512"/>
            <a:ext cx="3611880" cy="603504"/>
          </a:xfrm>
          <a:prstGeom prst="rect">
            <a:avLst/>
          </a:prstGeom>
          <a:noFill/>
          <a:ln/>
        </p:spPr>
        <p:txBody>
          <a:bodyPr wrap="square" lIns="0" tIns="0" rIns="0" bIns="0" rtlCol="0" anchor="ctr"/>
          <a:lstStyle/>
          <a:p>
            <a:pPr indent="0" marL="0">
              <a:lnSpc>
                <a:spcPct val="104000"/>
              </a:lnSpc>
              <a:buNone/>
            </a:pPr>
            <a:r>
              <a:rPr lang="en-US" sz="1100" dirty="0">
                <a:solidFill>
                  <a:srgbClr val="64748B"/>
                </a:solidFill>
                <a:latin typeface="Calibri" pitchFamily="34" charset="0"/>
                <a:ea typeface="Calibri" pitchFamily="34" charset="-122"/>
                <a:cs typeface="Calibri" pitchFamily="34" charset="-120"/>
              </a:rPr>
              <a:t>is_error keeps the loop alive so the agent can recover.</a:t>
            </a:r>
            <a:endParaRPr lang="en-US" sz="1100" dirty="0"/>
          </a:p>
        </p:txBody>
      </p:sp>
      <p:sp>
        <p:nvSpPr>
          <p:cNvPr id="22" name="Text 20"/>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23" name="Text 21"/>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24" name="Text 22"/>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DOMAIN 2 · SENIOR JUDGMENT</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Agent–computer interface (ACI) design</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building-effective-agents · Appendix 2</a:t>
            </a:r>
            <a:endParaRPr lang="en-US" sz="1050" dirty="0"/>
          </a:p>
        </p:txBody>
      </p:sp>
      <p:sp>
        <p:nvSpPr>
          <p:cNvPr id="5" name="Text 3"/>
          <p:cNvSpPr/>
          <p:nvPr/>
        </p:nvSpPr>
        <p:spPr>
          <a:xfrm>
            <a:off x="548640" y="1371600"/>
            <a:ext cx="11064240" cy="640080"/>
          </a:xfrm>
          <a:prstGeom prst="rect">
            <a:avLst/>
          </a:prstGeom>
          <a:noFill/>
          <a:ln/>
        </p:spPr>
        <p:txBody>
          <a:bodyPr wrap="square" lIns="0" tIns="0" rIns="0" bIns="0" rtlCol="0" anchor="ctr"/>
          <a:lstStyle/>
          <a:p>
            <a:pPr indent="0" marL="0">
              <a:lnSpc>
                <a:spcPct val="105000"/>
              </a:lnSpc>
              <a:buNone/>
            </a:pPr>
            <a:r>
              <a:rPr lang="en-US" sz="1450" dirty="0">
                <a:solidFill>
                  <a:srgbClr val="1E293B"/>
                </a:solidFill>
                <a:latin typeface="Calibri" pitchFamily="34" charset="0"/>
                <a:ea typeface="Calibri" pitchFamily="34" charset="-122"/>
                <a:cs typeface="Calibri" pitchFamily="34" charset="-120"/>
              </a:rPr>
              <a:t>Invest in your tool interface as much as your prompt. “Put yourself in the model's shoes” — a tool should be as obvious to Claude as a great docstring is to a new teammate.</a:t>
            </a:r>
            <a:endParaRPr lang="en-US" sz="1450" dirty="0"/>
          </a:p>
        </p:txBody>
      </p:sp>
      <p:sp>
        <p:nvSpPr>
          <p:cNvPr id="6" name="Shape 4"/>
          <p:cNvSpPr/>
          <p:nvPr/>
        </p:nvSpPr>
        <p:spPr>
          <a:xfrm>
            <a:off x="548640" y="2103120"/>
            <a:ext cx="11064240" cy="868680"/>
          </a:xfrm>
          <a:prstGeom prst="roundRect">
            <a:avLst>
              <a:gd name="adj" fmla="val 6316"/>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7" name="Shape 5"/>
          <p:cNvSpPr/>
          <p:nvPr/>
        </p:nvSpPr>
        <p:spPr>
          <a:xfrm>
            <a:off x="749808" y="2258568"/>
            <a:ext cx="566928" cy="566928"/>
          </a:xfrm>
          <a:prstGeom prst="ellipse">
            <a:avLst/>
          </a:prstGeom>
          <a:solidFill>
            <a:srgbClr val="4F46E5"/>
          </a:solidFill>
          <a:ln/>
          <a:effectLst>
            <a:outerShdw sx="100000" sy="100000" kx="0" ky="0" algn="bl" rotWithShape="0" blurRad="88900" dist="38100" dir="5400000">
              <a:srgbClr val="000000">
                <a:alpha val="16000"/>
              </a:srgbClr>
            </a:outerShdw>
          </a:effectLst>
        </p:spPr>
      </p:sp>
      <p:pic>
        <p:nvPicPr>
          <p:cNvPr id="8" name="Image 0" descr="preencoded.png">    </p:cNvPr>
          <p:cNvPicPr>
            <a:picLocks noChangeAspect="1"/>
          </p:cNvPicPr>
          <p:nvPr/>
        </p:nvPicPr>
        <p:blipFill>
          <a:blip r:embed="rId1"/>
          <a:stretch>
            <a:fillRect/>
          </a:stretch>
        </p:blipFill>
        <p:spPr>
          <a:xfrm>
            <a:off x="897209" y="2405969"/>
            <a:ext cx="272125" cy="272125"/>
          </a:xfrm>
          <a:prstGeom prst="rect">
            <a:avLst/>
          </a:prstGeom>
        </p:spPr>
      </p:pic>
      <p:sp>
        <p:nvSpPr>
          <p:cNvPr id="9" name="Text 6"/>
          <p:cNvSpPr/>
          <p:nvPr/>
        </p:nvSpPr>
        <p:spPr>
          <a:xfrm>
            <a:off x="1508760" y="2221992"/>
            <a:ext cx="2651760" cy="640080"/>
          </a:xfrm>
          <a:prstGeom prst="rect">
            <a:avLst/>
          </a:prstGeom>
          <a:noFill/>
          <a:ln/>
        </p:spPr>
        <p:txBody>
          <a:bodyPr wrap="square" lIns="0" tIns="0" rIns="0" bIns="0" rtlCol="0" anchor="ctr"/>
          <a:lstStyle/>
          <a:p>
            <a:pPr indent="0" marL="0">
              <a:buNone/>
            </a:pPr>
            <a:r>
              <a:rPr lang="en-US" sz="1400" b="1" dirty="0">
                <a:solidFill>
                  <a:srgbClr val="12132E"/>
                </a:solidFill>
                <a:latin typeface="Calibri" pitchFamily="34" charset="0"/>
                <a:ea typeface="Calibri" pitchFamily="34" charset="-122"/>
                <a:cs typeface="Calibri" pitchFamily="34" charset="-120"/>
              </a:rPr>
              <a:t>Rich descriptions</a:t>
            </a:r>
            <a:endParaRPr lang="en-US" sz="1400" dirty="0"/>
          </a:p>
        </p:txBody>
      </p:sp>
      <p:sp>
        <p:nvSpPr>
          <p:cNvPr id="10" name="Text 7"/>
          <p:cNvSpPr/>
          <p:nvPr/>
        </p:nvSpPr>
        <p:spPr>
          <a:xfrm>
            <a:off x="4251960" y="2194560"/>
            <a:ext cx="7178040" cy="713232"/>
          </a:xfrm>
          <a:prstGeom prst="rect">
            <a:avLst/>
          </a:prstGeom>
          <a:noFill/>
          <a:ln/>
        </p:spPr>
        <p:txBody>
          <a:bodyPr wrap="square" lIns="0" tIns="0" rIns="0" bIns="0" rtlCol="0" anchor="ctr"/>
          <a:lstStyle/>
          <a:p>
            <a:pPr indent="0" marL="0">
              <a:lnSpc>
                <a:spcPct val="102000"/>
              </a:lnSpc>
              <a:buNone/>
            </a:pPr>
            <a:r>
              <a:rPr lang="en-US" sz="1180" dirty="0">
                <a:solidFill>
                  <a:srgbClr val="64748B"/>
                </a:solidFill>
                <a:latin typeface="Calibri" pitchFamily="34" charset="0"/>
                <a:ea typeface="Calibri" pitchFamily="34" charset="-122"/>
                <a:cs typeface="Calibri" pitchFamily="34" charset="-120"/>
              </a:rPr>
              <a:t>Input formats, example queries, edge cases, and explicit boundaries vs similar tools — descriptions are the primary selection mechanism.</a:t>
            </a:r>
            <a:endParaRPr lang="en-US" sz="1180" dirty="0"/>
          </a:p>
        </p:txBody>
      </p:sp>
      <p:sp>
        <p:nvSpPr>
          <p:cNvPr id="11" name="Shape 8"/>
          <p:cNvSpPr/>
          <p:nvPr/>
        </p:nvSpPr>
        <p:spPr>
          <a:xfrm>
            <a:off x="548640" y="3081528"/>
            <a:ext cx="11064240" cy="868680"/>
          </a:xfrm>
          <a:prstGeom prst="roundRect">
            <a:avLst>
              <a:gd name="adj" fmla="val 6316"/>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2" name="Shape 9"/>
          <p:cNvSpPr/>
          <p:nvPr/>
        </p:nvSpPr>
        <p:spPr>
          <a:xfrm>
            <a:off x="749808" y="3236976"/>
            <a:ext cx="566928" cy="566928"/>
          </a:xfrm>
          <a:prstGeom prst="ellipse">
            <a:avLst/>
          </a:prstGeom>
          <a:solidFill>
            <a:srgbClr val="14B8A6"/>
          </a:solidFill>
          <a:ln/>
          <a:effectLst>
            <a:outerShdw sx="100000" sy="100000" kx="0" ky="0" algn="bl" rotWithShape="0" blurRad="88900" dist="38100" dir="5400000">
              <a:srgbClr val="000000">
                <a:alpha val="16000"/>
              </a:srgbClr>
            </a:outerShdw>
          </a:effectLst>
        </p:spPr>
      </p:sp>
      <p:pic>
        <p:nvPicPr>
          <p:cNvPr id="13" name="Image 1" descr="preencoded.png">    </p:cNvPr>
          <p:cNvPicPr>
            <a:picLocks noChangeAspect="1"/>
          </p:cNvPicPr>
          <p:nvPr/>
        </p:nvPicPr>
        <p:blipFill>
          <a:blip r:embed="rId2"/>
          <a:stretch>
            <a:fillRect/>
          </a:stretch>
        </p:blipFill>
        <p:spPr>
          <a:xfrm>
            <a:off x="897209" y="3384377"/>
            <a:ext cx="272125" cy="272125"/>
          </a:xfrm>
          <a:prstGeom prst="rect">
            <a:avLst/>
          </a:prstGeom>
        </p:spPr>
      </p:pic>
      <p:sp>
        <p:nvSpPr>
          <p:cNvPr id="14" name="Text 10"/>
          <p:cNvSpPr/>
          <p:nvPr/>
        </p:nvSpPr>
        <p:spPr>
          <a:xfrm>
            <a:off x="1508760" y="3200400"/>
            <a:ext cx="2651760" cy="640080"/>
          </a:xfrm>
          <a:prstGeom prst="rect">
            <a:avLst/>
          </a:prstGeom>
          <a:noFill/>
          <a:ln/>
        </p:spPr>
        <p:txBody>
          <a:bodyPr wrap="square" lIns="0" tIns="0" rIns="0" bIns="0" rtlCol="0" anchor="ctr"/>
          <a:lstStyle/>
          <a:p>
            <a:pPr indent="0" marL="0">
              <a:buNone/>
            </a:pPr>
            <a:r>
              <a:rPr lang="en-US" sz="1400" b="1" dirty="0">
                <a:solidFill>
                  <a:srgbClr val="12132E"/>
                </a:solidFill>
                <a:latin typeface="Calibri" pitchFamily="34" charset="0"/>
                <a:ea typeface="Calibri" pitchFamily="34" charset="-122"/>
                <a:cs typeface="Calibri" pitchFamily="34" charset="-120"/>
              </a:rPr>
              <a:t>Split, don't overload</a:t>
            </a:r>
            <a:endParaRPr lang="en-US" sz="1400" dirty="0"/>
          </a:p>
        </p:txBody>
      </p:sp>
      <p:sp>
        <p:nvSpPr>
          <p:cNvPr id="15" name="Text 11"/>
          <p:cNvSpPr/>
          <p:nvPr/>
        </p:nvSpPr>
        <p:spPr>
          <a:xfrm>
            <a:off x="4251960" y="3172968"/>
            <a:ext cx="7178040" cy="713232"/>
          </a:xfrm>
          <a:prstGeom prst="rect">
            <a:avLst/>
          </a:prstGeom>
          <a:noFill/>
          <a:ln/>
        </p:spPr>
        <p:txBody>
          <a:bodyPr wrap="square" lIns="0" tIns="0" rIns="0" bIns="0" rtlCol="0" anchor="ctr"/>
          <a:lstStyle/>
          <a:p>
            <a:pPr indent="0" marL="0">
              <a:lnSpc>
                <a:spcPct val="102000"/>
              </a:lnSpc>
              <a:buNone/>
            </a:pPr>
            <a:r>
              <a:rPr lang="en-US" sz="1180" dirty="0">
                <a:solidFill>
                  <a:srgbClr val="64748B"/>
                </a:solidFill>
                <a:latin typeface="Calibri" pitchFamily="34" charset="0"/>
                <a:ea typeface="Calibri" pitchFamily="34" charset="-122"/>
                <a:cs typeface="Calibri" pitchFamily="34" charset="-120"/>
              </a:rPr>
              <a:t>Break a generic analyze_document into extract_data_points, summarize_content, verify_claim. Rename to remove overlap.</a:t>
            </a:r>
            <a:endParaRPr lang="en-US" sz="1180" dirty="0"/>
          </a:p>
        </p:txBody>
      </p:sp>
      <p:sp>
        <p:nvSpPr>
          <p:cNvPr id="16" name="Shape 12"/>
          <p:cNvSpPr/>
          <p:nvPr/>
        </p:nvSpPr>
        <p:spPr>
          <a:xfrm>
            <a:off x="548640" y="4059936"/>
            <a:ext cx="11064240" cy="868680"/>
          </a:xfrm>
          <a:prstGeom prst="roundRect">
            <a:avLst>
              <a:gd name="adj" fmla="val 6316"/>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7" name="Shape 13"/>
          <p:cNvSpPr/>
          <p:nvPr/>
        </p:nvSpPr>
        <p:spPr>
          <a:xfrm>
            <a:off x="749808" y="4215384"/>
            <a:ext cx="566928" cy="566928"/>
          </a:xfrm>
          <a:prstGeom prst="ellipse">
            <a:avLst/>
          </a:prstGeom>
          <a:solidFill>
            <a:srgbClr val="8B5CF6"/>
          </a:solidFill>
          <a:ln/>
          <a:effectLst>
            <a:outerShdw sx="100000" sy="100000" kx="0" ky="0" algn="bl" rotWithShape="0" blurRad="88900" dist="38100" dir="5400000">
              <a:srgbClr val="000000">
                <a:alpha val="16000"/>
              </a:srgbClr>
            </a:outerShdw>
          </a:effectLst>
        </p:spPr>
      </p:sp>
      <p:pic>
        <p:nvPicPr>
          <p:cNvPr id="18" name="Image 2" descr="preencoded.png">    </p:cNvPr>
          <p:cNvPicPr>
            <a:picLocks noChangeAspect="1"/>
          </p:cNvPicPr>
          <p:nvPr/>
        </p:nvPicPr>
        <p:blipFill>
          <a:blip r:embed="rId3"/>
          <a:stretch>
            <a:fillRect/>
          </a:stretch>
        </p:blipFill>
        <p:spPr>
          <a:xfrm>
            <a:off x="897209" y="4362785"/>
            <a:ext cx="272125" cy="272125"/>
          </a:xfrm>
          <a:prstGeom prst="rect">
            <a:avLst/>
          </a:prstGeom>
        </p:spPr>
      </p:pic>
      <p:sp>
        <p:nvSpPr>
          <p:cNvPr id="19" name="Text 14"/>
          <p:cNvSpPr/>
          <p:nvPr/>
        </p:nvSpPr>
        <p:spPr>
          <a:xfrm>
            <a:off x="1508760" y="4178808"/>
            <a:ext cx="2651760" cy="640080"/>
          </a:xfrm>
          <a:prstGeom prst="rect">
            <a:avLst/>
          </a:prstGeom>
          <a:noFill/>
          <a:ln/>
        </p:spPr>
        <p:txBody>
          <a:bodyPr wrap="square" lIns="0" tIns="0" rIns="0" bIns="0" rtlCol="0" anchor="ctr"/>
          <a:lstStyle/>
          <a:p>
            <a:pPr indent="0" marL="0">
              <a:buNone/>
            </a:pPr>
            <a:r>
              <a:rPr lang="en-US" sz="1400" b="1" dirty="0">
                <a:solidFill>
                  <a:srgbClr val="12132E"/>
                </a:solidFill>
                <a:latin typeface="Calibri" pitchFamily="34" charset="0"/>
                <a:ea typeface="Calibri" pitchFamily="34" charset="-122"/>
                <a:cs typeface="Calibri" pitchFamily="34" charset="-120"/>
              </a:rPr>
              <a:t>Scope per agent</a:t>
            </a:r>
            <a:endParaRPr lang="en-US" sz="1400" dirty="0"/>
          </a:p>
        </p:txBody>
      </p:sp>
      <p:sp>
        <p:nvSpPr>
          <p:cNvPr id="20" name="Text 15"/>
          <p:cNvSpPr/>
          <p:nvPr/>
        </p:nvSpPr>
        <p:spPr>
          <a:xfrm>
            <a:off x="4251960" y="4151376"/>
            <a:ext cx="7178040" cy="713232"/>
          </a:xfrm>
          <a:prstGeom prst="rect">
            <a:avLst/>
          </a:prstGeom>
          <a:noFill/>
          <a:ln/>
        </p:spPr>
        <p:txBody>
          <a:bodyPr wrap="square" lIns="0" tIns="0" rIns="0" bIns="0" rtlCol="0" anchor="ctr"/>
          <a:lstStyle/>
          <a:p>
            <a:pPr indent="0" marL="0">
              <a:lnSpc>
                <a:spcPct val="102000"/>
              </a:lnSpc>
              <a:buNone/>
            </a:pPr>
            <a:r>
              <a:rPr lang="en-US" sz="1180" dirty="0">
                <a:solidFill>
                  <a:srgbClr val="64748B"/>
                </a:solidFill>
                <a:latin typeface="Calibri" pitchFamily="34" charset="0"/>
                <a:ea typeface="Calibri" pitchFamily="34" charset="-122"/>
                <a:cs typeface="Calibri" pitchFamily="34" charset="-120"/>
              </a:rPr>
              <a:t>~4–5 tools per role. Tools outside an agent's specialization get misused (a synthesis agent that web-searches).</a:t>
            </a:r>
            <a:endParaRPr lang="en-US" sz="1180" dirty="0"/>
          </a:p>
        </p:txBody>
      </p:sp>
      <p:sp>
        <p:nvSpPr>
          <p:cNvPr id="21" name="Shape 16"/>
          <p:cNvSpPr/>
          <p:nvPr/>
        </p:nvSpPr>
        <p:spPr>
          <a:xfrm>
            <a:off x="548640" y="5038344"/>
            <a:ext cx="11064240" cy="868680"/>
          </a:xfrm>
          <a:prstGeom prst="roundRect">
            <a:avLst>
              <a:gd name="adj" fmla="val 6316"/>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22" name="Shape 17"/>
          <p:cNvSpPr/>
          <p:nvPr/>
        </p:nvSpPr>
        <p:spPr>
          <a:xfrm>
            <a:off x="749808" y="5193792"/>
            <a:ext cx="566928" cy="566928"/>
          </a:xfrm>
          <a:prstGeom prst="ellipse">
            <a:avLst/>
          </a:prstGeom>
          <a:solidFill>
            <a:srgbClr val="F59E0B"/>
          </a:solidFill>
          <a:ln/>
          <a:effectLst>
            <a:outerShdw sx="100000" sy="100000" kx="0" ky="0" algn="bl" rotWithShape="0" blurRad="88900" dist="38100" dir="5400000">
              <a:srgbClr val="000000">
                <a:alpha val="16000"/>
              </a:srgbClr>
            </a:outerShdw>
          </a:effectLst>
        </p:spPr>
      </p:sp>
      <p:pic>
        <p:nvPicPr>
          <p:cNvPr id="23" name="Image 3" descr="preencoded.png">    </p:cNvPr>
          <p:cNvPicPr>
            <a:picLocks noChangeAspect="1"/>
          </p:cNvPicPr>
          <p:nvPr/>
        </p:nvPicPr>
        <p:blipFill>
          <a:blip r:embed="rId4"/>
          <a:stretch>
            <a:fillRect/>
          </a:stretch>
        </p:blipFill>
        <p:spPr>
          <a:xfrm>
            <a:off x="897209" y="5341193"/>
            <a:ext cx="272125" cy="272125"/>
          </a:xfrm>
          <a:prstGeom prst="rect">
            <a:avLst/>
          </a:prstGeom>
        </p:spPr>
      </p:pic>
      <p:sp>
        <p:nvSpPr>
          <p:cNvPr id="24" name="Text 18"/>
          <p:cNvSpPr/>
          <p:nvPr/>
        </p:nvSpPr>
        <p:spPr>
          <a:xfrm>
            <a:off x="1508760" y="5157216"/>
            <a:ext cx="2651760" cy="640080"/>
          </a:xfrm>
          <a:prstGeom prst="rect">
            <a:avLst/>
          </a:prstGeom>
          <a:noFill/>
          <a:ln/>
        </p:spPr>
        <p:txBody>
          <a:bodyPr wrap="square" lIns="0" tIns="0" rIns="0" bIns="0" rtlCol="0" anchor="ctr"/>
          <a:lstStyle/>
          <a:p>
            <a:pPr indent="0" marL="0">
              <a:buNone/>
            </a:pPr>
            <a:r>
              <a:rPr lang="en-US" sz="1400" b="1" dirty="0">
                <a:solidFill>
                  <a:srgbClr val="12132E"/>
                </a:solidFill>
                <a:latin typeface="Calibri" pitchFamily="34" charset="0"/>
                <a:ea typeface="Calibri" pitchFamily="34" charset="-122"/>
                <a:cs typeface="Calibri" pitchFamily="34" charset="-120"/>
              </a:rPr>
              <a:t>Poka-yoke the args</a:t>
            </a:r>
            <a:endParaRPr lang="en-US" sz="1400" dirty="0"/>
          </a:p>
        </p:txBody>
      </p:sp>
      <p:sp>
        <p:nvSpPr>
          <p:cNvPr id="25" name="Text 19"/>
          <p:cNvSpPr/>
          <p:nvPr/>
        </p:nvSpPr>
        <p:spPr>
          <a:xfrm>
            <a:off x="4251960" y="5129784"/>
            <a:ext cx="7178040" cy="713232"/>
          </a:xfrm>
          <a:prstGeom prst="rect">
            <a:avLst/>
          </a:prstGeom>
          <a:noFill/>
          <a:ln/>
        </p:spPr>
        <p:txBody>
          <a:bodyPr wrap="square" lIns="0" tIns="0" rIns="0" bIns="0" rtlCol="0" anchor="ctr"/>
          <a:lstStyle/>
          <a:p>
            <a:pPr indent="0" marL="0">
              <a:lnSpc>
                <a:spcPct val="102000"/>
              </a:lnSpc>
              <a:buNone/>
            </a:pPr>
            <a:r>
              <a:rPr lang="en-US" sz="1180" dirty="0">
                <a:solidFill>
                  <a:srgbClr val="64748B"/>
                </a:solidFill>
                <a:latin typeface="Calibri" pitchFamily="34" charset="0"/>
                <a:ea typeface="Calibri" pitchFamily="34" charset="-122"/>
                <a:cs typeface="Calibri" pitchFamily="34" charset="-120"/>
              </a:rPr>
              <a:t>Make mistakes impossible: require absolute paths, validate URLs, constrain enums. Anthropic spent more time on tools than prompts for SWE-bench.</a:t>
            </a:r>
            <a:endParaRPr lang="en-US" sz="1180" dirty="0"/>
          </a:p>
        </p:txBody>
      </p:sp>
      <p:sp>
        <p:nvSpPr>
          <p:cNvPr id="26" name="Text 20"/>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27" name="Text 21"/>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28" name="Text 22"/>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DOMAIN 2 · TASK 2.4–2.5</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Built-in tools, MCP, and context cost</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platform.claude.com/docs/en/agent-sdk/agent-loop#tool-execution</a:t>
            </a:r>
            <a:endParaRPr lang="en-US" sz="1050" dirty="0"/>
          </a:p>
        </p:txBody>
      </p:sp>
      <p:sp>
        <p:nvSpPr>
          <p:cNvPr id="5" name="Shape 3"/>
          <p:cNvSpPr/>
          <p:nvPr/>
        </p:nvSpPr>
        <p:spPr>
          <a:xfrm>
            <a:off x="548640" y="1417320"/>
            <a:ext cx="2697480" cy="1828800"/>
          </a:xfrm>
          <a:prstGeom prst="roundRect">
            <a:avLst>
              <a:gd name="adj" fmla="val 3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6" name="Shape 4"/>
          <p:cNvSpPr/>
          <p:nvPr/>
        </p:nvSpPr>
        <p:spPr>
          <a:xfrm>
            <a:off x="822960" y="1673352"/>
            <a:ext cx="658368" cy="658368"/>
          </a:xfrm>
          <a:prstGeom prst="ellipse">
            <a:avLst/>
          </a:prstGeom>
          <a:solidFill>
            <a:srgbClr val="4F46E5"/>
          </a:solidFill>
          <a:ln/>
          <a:effectLst>
            <a:outerShdw sx="100000" sy="100000" kx="0" ky="0" algn="bl" rotWithShape="0" blurRad="88900" dist="38100" dir="5400000">
              <a:srgbClr val="000000">
                <a:alpha val="16000"/>
              </a:srgbClr>
            </a:outerShdw>
          </a:effectLst>
        </p:spPr>
      </p:sp>
      <p:pic>
        <p:nvPicPr>
          <p:cNvPr id="7" name="Image 0" descr="preencoded.png">    </p:cNvPr>
          <p:cNvPicPr>
            <a:picLocks noChangeAspect="1"/>
          </p:cNvPicPr>
          <p:nvPr/>
        </p:nvPicPr>
        <p:blipFill>
          <a:blip r:embed="rId1"/>
          <a:stretch>
            <a:fillRect/>
          </a:stretch>
        </p:blipFill>
        <p:spPr>
          <a:xfrm>
            <a:off x="994136" y="1844528"/>
            <a:ext cx="316017" cy="316017"/>
          </a:xfrm>
          <a:prstGeom prst="rect">
            <a:avLst/>
          </a:prstGeom>
        </p:spPr>
      </p:pic>
      <p:sp>
        <p:nvSpPr>
          <p:cNvPr id="8" name="Text 5"/>
          <p:cNvSpPr/>
          <p:nvPr/>
        </p:nvSpPr>
        <p:spPr>
          <a:xfrm>
            <a:off x="804672" y="2441448"/>
            <a:ext cx="2240280" cy="365760"/>
          </a:xfrm>
          <a:prstGeom prst="rect">
            <a:avLst/>
          </a:prstGeom>
          <a:noFill/>
          <a:ln/>
        </p:spPr>
        <p:txBody>
          <a:bodyPr wrap="square" lIns="0" tIns="0" rIns="0" bIns="0" rtlCol="0" anchor="ctr"/>
          <a:lstStyle/>
          <a:p>
            <a:pPr indent="0" marL="0">
              <a:buNone/>
            </a:pPr>
            <a:r>
              <a:rPr lang="en-US" sz="1350" b="1" dirty="0">
                <a:solidFill>
                  <a:srgbClr val="12132E"/>
                </a:solidFill>
                <a:latin typeface="Calibri" pitchFamily="34" charset="0"/>
                <a:ea typeface="Calibri" pitchFamily="34" charset="-122"/>
                <a:cs typeface="Calibri" pitchFamily="34" charset="-120"/>
              </a:rPr>
              <a:t>File &amp; search</a:t>
            </a:r>
            <a:endParaRPr lang="en-US" sz="1350" dirty="0"/>
          </a:p>
        </p:txBody>
      </p:sp>
      <p:sp>
        <p:nvSpPr>
          <p:cNvPr id="9" name="Text 6"/>
          <p:cNvSpPr/>
          <p:nvPr/>
        </p:nvSpPr>
        <p:spPr>
          <a:xfrm>
            <a:off x="804672" y="2788920"/>
            <a:ext cx="2240280" cy="411480"/>
          </a:xfrm>
          <a:prstGeom prst="rect">
            <a:avLst/>
          </a:prstGeom>
          <a:noFill/>
          <a:ln/>
        </p:spPr>
        <p:txBody>
          <a:bodyPr wrap="square" lIns="0" tIns="0" rIns="0" bIns="0" rtlCol="0" anchor="ctr"/>
          <a:lstStyle/>
          <a:p>
            <a:pPr indent="0" marL="0">
              <a:lnSpc>
                <a:spcPct val="100000"/>
              </a:lnSpc>
              <a:buNone/>
            </a:pPr>
            <a:r>
              <a:rPr lang="en-US" sz="1000" dirty="0">
                <a:solidFill>
                  <a:srgbClr val="64748B"/>
                </a:solidFill>
                <a:latin typeface="Courier New" pitchFamily="34" charset="0"/>
                <a:ea typeface="Courier New" pitchFamily="34" charset="-122"/>
                <a:cs typeface="Courier New" pitchFamily="34" charset="-120"/>
              </a:rPr>
              <a:t>Read · Write · Edit · Glob · Grep</a:t>
            </a:r>
            <a:endParaRPr lang="en-US" sz="1000" dirty="0"/>
          </a:p>
        </p:txBody>
      </p:sp>
      <p:sp>
        <p:nvSpPr>
          <p:cNvPr id="10" name="Shape 7"/>
          <p:cNvSpPr/>
          <p:nvPr/>
        </p:nvSpPr>
        <p:spPr>
          <a:xfrm>
            <a:off x="3520440" y="1417320"/>
            <a:ext cx="2697480" cy="1828800"/>
          </a:xfrm>
          <a:prstGeom prst="roundRect">
            <a:avLst>
              <a:gd name="adj" fmla="val 3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1" name="Shape 8"/>
          <p:cNvSpPr/>
          <p:nvPr/>
        </p:nvSpPr>
        <p:spPr>
          <a:xfrm>
            <a:off x="3794760" y="1673352"/>
            <a:ext cx="658368" cy="658368"/>
          </a:xfrm>
          <a:prstGeom prst="ellipse">
            <a:avLst/>
          </a:prstGeom>
          <a:solidFill>
            <a:srgbClr val="14B8A6"/>
          </a:solidFill>
          <a:ln/>
          <a:effectLst>
            <a:outerShdw sx="100000" sy="100000" kx="0" ky="0" algn="bl" rotWithShape="0" blurRad="88900" dist="38100" dir="5400000">
              <a:srgbClr val="000000">
                <a:alpha val="16000"/>
              </a:srgbClr>
            </a:outerShdw>
          </a:effectLst>
        </p:spPr>
      </p:sp>
      <p:pic>
        <p:nvPicPr>
          <p:cNvPr id="12" name="Image 1" descr="preencoded.png">    </p:cNvPr>
          <p:cNvPicPr>
            <a:picLocks noChangeAspect="1"/>
          </p:cNvPicPr>
          <p:nvPr/>
        </p:nvPicPr>
        <p:blipFill>
          <a:blip r:embed="rId2"/>
          <a:stretch>
            <a:fillRect/>
          </a:stretch>
        </p:blipFill>
        <p:spPr>
          <a:xfrm>
            <a:off x="3965936" y="1844528"/>
            <a:ext cx="316017" cy="316017"/>
          </a:xfrm>
          <a:prstGeom prst="rect">
            <a:avLst/>
          </a:prstGeom>
        </p:spPr>
      </p:pic>
      <p:sp>
        <p:nvSpPr>
          <p:cNvPr id="13" name="Text 9"/>
          <p:cNvSpPr/>
          <p:nvPr/>
        </p:nvSpPr>
        <p:spPr>
          <a:xfrm>
            <a:off x="3776472" y="2441448"/>
            <a:ext cx="2240280" cy="365760"/>
          </a:xfrm>
          <a:prstGeom prst="rect">
            <a:avLst/>
          </a:prstGeom>
          <a:noFill/>
          <a:ln/>
        </p:spPr>
        <p:txBody>
          <a:bodyPr wrap="square" lIns="0" tIns="0" rIns="0" bIns="0" rtlCol="0" anchor="ctr"/>
          <a:lstStyle/>
          <a:p>
            <a:pPr indent="0" marL="0">
              <a:buNone/>
            </a:pPr>
            <a:r>
              <a:rPr lang="en-US" sz="1350" b="1" dirty="0">
                <a:solidFill>
                  <a:srgbClr val="12132E"/>
                </a:solidFill>
                <a:latin typeface="Calibri" pitchFamily="34" charset="0"/>
                <a:ea typeface="Calibri" pitchFamily="34" charset="-122"/>
                <a:cs typeface="Calibri" pitchFamily="34" charset="-120"/>
              </a:rPr>
              <a:t>Execution &amp; web</a:t>
            </a:r>
            <a:endParaRPr lang="en-US" sz="1350" dirty="0"/>
          </a:p>
        </p:txBody>
      </p:sp>
      <p:sp>
        <p:nvSpPr>
          <p:cNvPr id="14" name="Text 10"/>
          <p:cNvSpPr/>
          <p:nvPr/>
        </p:nvSpPr>
        <p:spPr>
          <a:xfrm>
            <a:off x="3776472" y="2788920"/>
            <a:ext cx="2240280" cy="411480"/>
          </a:xfrm>
          <a:prstGeom prst="rect">
            <a:avLst/>
          </a:prstGeom>
          <a:noFill/>
          <a:ln/>
        </p:spPr>
        <p:txBody>
          <a:bodyPr wrap="square" lIns="0" tIns="0" rIns="0" bIns="0" rtlCol="0" anchor="ctr"/>
          <a:lstStyle/>
          <a:p>
            <a:pPr indent="0" marL="0">
              <a:lnSpc>
                <a:spcPct val="100000"/>
              </a:lnSpc>
              <a:buNone/>
            </a:pPr>
            <a:r>
              <a:rPr lang="en-US" sz="1000" dirty="0">
                <a:solidFill>
                  <a:srgbClr val="64748B"/>
                </a:solidFill>
                <a:latin typeface="Courier New" pitchFamily="34" charset="0"/>
                <a:ea typeface="Courier New" pitchFamily="34" charset="-122"/>
                <a:cs typeface="Courier New" pitchFamily="34" charset="-120"/>
              </a:rPr>
              <a:t>Bash · WebSearch · WebFetch</a:t>
            </a:r>
            <a:endParaRPr lang="en-US" sz="1000" dirty="0"/>
          </a:p>
        </p:txBody>
      </p:sp>
      <p:sp>
        <p:nvSpPr>
          <p:cNvPr id="15" name="Shape 11"/>
          <p:cNvSpPr/>
          <p:nvPr/>
        </p:nvSpPr>
        <p:spPr>
          <a:xfrm>
            <a:off x="6492240" y="1417320"/>
            <a:ext cx="2697480" cy="1828800"/>
          </a:xfrm>
          <a:prstGeom prst="roundRect">
            <a:avLst>
              <a:gd name="adj" fmla="val 3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6" name="Shape 12"/>
          <p:cNvSpPr/>
          <p:nvPr/>
        </p:nvSpPr>
        <p:spPr>
          <a:xfrm>
            <a:off x="6766560" y="1673352"/>
            <a:ext cx="658368" cy="658368"/>
          </a:xfrm>
          <a:prstGeom prst="ellipse">
            <a:avLst/>
          </a:prstGeom>
          <a:solidFill>
            <a:srgbClr val="8B5CF6"/>
          </a:solidFill>
          <a:ln/>
          <a:effectLst>
            <a:outerShdw sx="100000" sy="100000" kx="0" ky="0" algn="bl" rotWithShape="0" blurRad="88900" dist="38100" dir="5400000">
              <a:srgbClr val="000000">
                <a:alpha val="16000"/>
              </a:srgbClr>
            </a:outerShdw>
          </a:effectLst>
        </p:spPr>
      </p:sp>
      <p:pic>
        <p:nvPicPr>
          <p:cNvPr id="17" name="Image 2" descr="preencoded.png">    </p:cNvPr>
          <p:cNvPicPr>
            <a:picLocks noChangeAspect="1"/>
          </p:cNvPicPr>
          <p:nvPr/>
        </p:nvPicPr>
        <p:blipFill>
          <a:blip r:embed="rId3"/>
          <a:stretch>
            <a:fillRect/>
          </a:stretch>
        </p:blipFill>
        <p:spPr>
          <a:xfrm>
            <a:off x="6937736" y="1844528"/>
            <a:ext cx="316017" cy="316017"/>
          </a:xfrm>
          <a:prstGeom prst="rect">
            <a:avLst/>
          </a:prstGeom>
        </p:spPr>
      </p:pic>
      <p:sp>
        <p:nvSpPr>
          <p:cNvPr id="18" name="Text 13"/>
          <p:cNvSpPr/>
          <p:nvPr/>
        </p:nvSpPr>
        <p:spPr>
          <a:xfrm>
            <a:off x="6748272" y="2441448"/>
            <a:ext cx="2240280" cy="365760"/>
          </a:xfrm>
          <a:prstGeom prst="rect">
            <a:avLst/>
          </a:prstGeom>
          <a:noFill/>
          <a:ln/>
        </p:spPr>
        <p:txBody>
          <a:bodyPr wrap="square" lIns="0" tIns="0" rIns="0" bIns="0" rtlCol="0" anchor="ctr"/>
          <a:lstStyle/>
          <a:p>
            <a:pPr indent="0" marL="0">
              <a:buNone/>
            </a:pPr>
            <a:r>
              <a:rPr lang="en-US" sz="1350" b="1" dirty="0">
                <a:solidFill>
                  <a:srgbClr val="12132E"/>
                </a:solidFill>
                <a:latin typeface="Calibri" pitchFamily="34" charset="0"/>
                <a:ea typeface="Calibri" pitchFamily="34" charset="-122"/>
                <a:cs typeface="Calibri" pitchFamily="34" charset="-120"/>
              </a:rPr>
              <a:t>Orchestration</a:t>
            </a:r>
            <a:endParaRPr lang="en-US" sz="1350" dirty="0"/>
          </a:p>
        </p:txBody>
      </p:sp>
      <p:sp>
        <p:nvSpPr>
          <p:cNvPr id="19" name="Text 14"/>
          <p:cNvSpPr/>
          <p:nvPr/>
        </p:nvSpPr>
        <p:spPr>
          <a:xfrm>
            <a:off x="6748272" y="2788920"/>
            <a:ext cx="2240280" cy="411480"/>
          </a:xfrm>
          <a:prstGeom prst="rect">
            <a:avLst/>
          </a:prstGeom>
          <a:noFill/>
          <a:ln/>
        </p:spPr>
        <p:txBody>
          <a:bodyPr wrap="square" lIns="0" tIns="0" rIns="0" bIns="0" rtlCol="0" anchor="ctr"/>
          <a:lstStyle/>
          <a:p>
            <a:pPr indent="0" marL="0">
              <a:lnSpc>
                <a:spcPct val="100000"/>
              </a:lnSpc>
              <a:buNone/>
            </a:pPr>
            <a:r>
              <a:rPr lang="en-US" sz="1000" dirty="0">
                <a:solidFill>
                  <a:srgbClr val="64748B"/>
                </a:solidFill>
                <a:latin typeface="Courier New" pitchFamily="34" charset="0"/>
                <a:ea typeface="Courier New" pitchFamily="34" charset="-122"/>
                <a:cs typeface="Courier New" pitchFamily="34" charset="-120"/>
              </a:rPr>
              <a:t>Agent · Skill · AskUserQuestion · TaskCreate/Update</a:t>
            </a:r>
            <a:endParaRPr lang="en-US" sz="1000" dirty="0"/>
          </a:p>
        </p:txBody>
      </p:sp>
      <p:sp>
        <p:nvSpPr>
          <p:cNvPr id="20" name="Shape 15"/>
          <p:cNvSpPr/>
          <p:nvPr/>
        </p:nvSpPr>
        <p:spPr>
          <a:xfrm>
            <a:off x="9464040" y="1417320"/>
            <a:ext cx="2697480" cy="1828800"/>
          </a:xfrm>
          <a:prstGeom prst="roundRect">
            <a:avLst>
              <a:gd name="adj" fmla="val 3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21" name="Shape 16"/>
          <p:cNvSpPr/>
          <p:nvPr/>
        </p:nvSpPr>
        <p:spPr>
          <a:xfrm>
            <a:off x="9738360" y="1673352"/>
            <a:ext cx="658368" cy="658368"/>
          </a:xfrm>
          <a:prstGeom prst="ellipse">
            <a:avLst/>
          </a:prstGeom>
          <a:solidFill>
            <a:srgbClr val="F59E0B"/>
          </a:solidFill>
          <a:ln/>
          <a:effectLst>
            <a:outerShdw sx="100000" sy="100000" kx="0" ky="0" algn="bl" rotWithShape="0" blurRad="88900" dist="38100" dir="5400000">
              <a:srgbClr val="000000">
                <a:alpha val="16000"/>
              </a:srgbClr>
            </a:outerShdw>
          </a:effectLst>
        </p:spPr>
      </p:sp>
      <p:pic>
        <p:nvPicPr>
          <p:cNvPr id="22" name="Image 3" descr="preencoded.png">    </p:cNvPr>
          <p:cNvPicPr>
            <a:picLocks noChangeAspect="1"/>
          </p:cNvPicPr>
          <p:nvPr/>
        </p:nvPicPr>
        <p:blipFill>
          <a:blip r:embed="rId4"/>
          <a:stretch>
            <a:fillRect/>
          </a:stretch>
        </p:blipFill>
        <p:spPr>
          <a:xfrm>
            <a:off x="9909536" y="1844528"/>
            <a:ext cx="316017" cy="316017"/>
          </a:xfrm>
          <a:prstGeom prst="rect">
            <a:avLst/>
          </a:prstGeom>
        </p:spPr>
      </p:pic>
      <p:sp>
        <p:nvSpPr>
          <p:cNvPr id="23" name="Text 17"/>
          <p:cNvSpPr/>
          <p:nvPr/>
        </p:nvSpPr>
        <p:spPr>
          <a:xfrm>
            <a:off x="9720072" y="2441448"/>
            <a:ext cx="2240280" cy="365760"/>
          </a:xfrm>
          <a:prstGeom prst="rect">
            <a:avLst/>
          </a:prstGeom>
          <a:noFill/>
          <a:ln/>
        </p:spPr>
        <p:txBody>
          <a:bodyPr wrap="square" lIns="0" tIns="0" rIns="0" bIns="0" rtlCol="0" anchor="ctr"/>
          <a:lstStyle/>
          <a:p>
            <a:pPr indent="0" marL="0">
              <a:buNone/>
            </a:pPr>
            <a:r>
              <a:rPr lang="en-US" sz="1350" b="1" dirty="0">
                <a:solidFill>
                  <a:srgbClr val="12132E"/>
                </a:solidFill>
                <a:latin typeface="Calibri" pitchFamily="34" charset="0"/>
                <a:ea typeface="Calibri" pitchFamily="34" charset="-122"/>
                <a:cs typeface="Calibri" pitchFamily="34" charset="-120"/>
              </a:rPr>
              <a:t>External / custom</a:t>
            </a:r>
            <a:endParaRPr lang="en-US" sz="1350" dirty="0"/>
          </a:p>
        </p:txBody>
      </p:sp>
      <p:sp>
        <p:nvSpPr>
          <p:cNvPr id="24" name="Text 18"/>
          <p:cNvSpPr/>
          <p:nvPr/>
        </p:nvSpPr>
        <p:spPr>
          <a:xfrm>
            <a:off x="9720072" y="2788920"/>
            <a:ext cx="2240280" cy="411480"/>
          </a:xfrm>
          <a:prstGeom prst="rect">
            <a:avLst/>
          </a:prstGeom>
          <a:noFill/>
          <a:ln/>
        </p:spPr>
        <p:txBody>
          <a:bodyPr wrap="square" lIns="0" tIns="0" rIns="0" bIns="0" rtlCol="0" anchor="ctr"/>
          <a:lstStyle/>
          <a:p>
            <a:pPr indent="0" marL="0">
              <a:lnSpc>
                <a:spcPct val="100000"/>
              </a:lnSpc>
              <a:buNone/>
            </a:pPr>
            <a:r>
              <a:rPr lang="en-US" sz="1000" dirty="0">
                <a:solidFill>
                  <a:srgbClr val="64748B"/>
                </a:solidFill>
                <a:latin typeface="Courier New" pitchFamily="34" charset="0"/>
                <a:ea typeface="Courier New" pitchFamily="34" charset="-122"/>
                <a:cs typeface="Courier New" pitchFamily="34" charset="-120"/>
              </a:rPr>
              <a:t>MCP servers + your @tool handlers</a:t>
            </a:r>
            <a:endParaRPr lang="en-US" sz="1000" dirty="0"/>
          </a:p>
        </p:txBody>
      </p:sp>
      <p:sp>
        <p:nvSpPr>
          <p:cNvPr id="25" name="Shape 19"/>
          <p:cNvSpPr/>
          <p:nvPr/>
        </p:nvSpPr>
        <p:spPr>
          <a:xfrm>
            <a:off x="548640" y="3566160"/>
            <a:ext cx="11064240" cy="2240280"/>
          </a:xfrm>
          <a:prstGeom prst="roundRect">
            <a:avLst>
              <a:gd name="adj" fmla="val 2449"/>
            </a:avLst>
          </a:prstGeom>
          <a:solidFill>
            <a:srgbClr val="F1F3FB"/>
          </a:solidFill>
          <a:ln/>
        </p:spPr>
      </p:sp>
      <p:sp>
        <p:nvSpPr>
          <p:cNvPr id="26" name="Text 20"/>
          <p:cNvSpPr/>
          <p:nvPr/>
        </p:nvSpPr>
        <p:spPr>
          <a:xfrm>
            <a:off x="777240" y="3703320"/>
            <a:ext cx="10607040" cy="457200"/>
          </a:xfrm>
          <a:prstGeom prst="rect">
            <a:avLst/>
          </a:prstGeom>
          <a:noFill/>
          <a:ln/>
        </p:spPr>
        <p:txBody>
          <a:bodyPr wrap="square" lIns="0" tIns="0" rIns="0" bIns="0" rtlCol="0" anchor="ctr"/>
          <a:lstStyle/>
          <a:p>
            <a:pPr indent="0" marL="0">
              <a:buNone/>
            </a:pPr>
            <a:r>
              <a:rPr lang="en-US" sz="1600" b="1" dirty="0">
                <a:solidFill>
                  <a:srgbClr val="12132E"/>
                </a:solidFill>
                <a:latin typeface="Calibri" pitchFamily="34" charset="0"/>
                <a:ea typeface="Calibri" pitchFamily="34" charset="-122"/>
                <a:cs typeface="Calibri" pitchFamily="34" charset="-120"/>
              </a:rPr>
              <a:t>Context is a budget you spend before the agent does any work</a:t>
            </a:r>
            <a:endParaRPr lang="en-US" sz="1600" dirty="0"/>
          </a:p>
        </p:txBody>
      </p:sp>
      <p:sp>
        <p:nvSpPr>
          <p:cNvPr id="27" name="Text 21"/>
          <p:cNvSpPr/>
          <p:nvPr/>
        </p:nvSpPr>
        <p:spPr>
          <a:xfrm>
            <a:off x="914400" y="4160520"/>
            <a:ext cx="10424160" cy="160020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1E293B"/>
                </a:solidFill>
                <a:latin typeface="Calibri" pitchFamily="34" charset="0"/>
                <a:ea typeface="Calibri" pitchFamily="34" charset="-122"/>
                <a:cs typeface="Calibri" pitchFamily="34" charset="-120"/>
              </a:rPr>
              <a:t>Every tool definition consumes context on every request — another reason to scope tightly.</a:t>
            </a:r>
            <a:endParaRPr lang="en-US" sz="1250" dirty="0"/>
          </a:p>
          <a:p>
            <a:pPr marL="342900" indent="-342900">
              <a:spcAft>
                <a:spcPts val="700"/>
              </a:spcAft>
              <a:buSzPct val="100000"/>
              <a:buChar char="•"/>
            </a:pPr>
            <a:r>
              <a:rPr lang="en-US" sz="1250" dirty="0">
                <a:solidFill>
                  <a:srgbClr val="1E293B"/>
                </a:solidFill>
                <a:latin typeface="Calibri" pitchFamily="34" charset="0"/>
                <a:ea typeface="Calibri" pitchFamily="34" charset="-122"/>
                <a:cs typeface="Calibri" pitchFamily="34" charset="-120"/>
              </a:rPr>
              <a:t>MCP tool search defers MCP schemas and loads them on demand; without it, each server adds all its schemas up front.</a:t>
            </a:r>
            <a:endParaRPr lang="en-US" sz="1250" dirty="0"/>
          </a:p>
          <a:p>
            <a:pPr marL="342900" indent="-342900">
              <a:spcAft>
                <a:spcPts val="700"/>
              </a:spcAft>
              <a:buSzPct val="100000"/>
              <a:buChar char="•"/>
            </a:pPr>
            <a:r>
              <a:rPr lang="en-US" sz="1250" dirty="0">
                <a:solidFill>
                  <a:srgbClr val="1E293B"/>
                </a:solidFill>
                <a:latin typeface="Calibri" pitchFamily="34" charset="0"/>
                <a:ea typeface="Calibri" pitchFamily="34" charset="-122"/>
                <a:cs typeface="Calibri" pitchFamily="34" charset="-120"/>
              </a:rPr>
              <a:t>Read-only tools (Read/Glob/Grep, MCP tools marked read-only) can run in parallel; state-changing tools run sequentially.</a:t>
            </a:r>
            <a:endParaRPr lang="en-US" sz="1250" dirty="0"/>
          </a:p>
          <a:p>
            <a:pPr marL="342900" indent="-342900">
              <a:spcAft>
                <a:spcPts val="700"/>
              </a:spcAft>
              <a:buSzPct val="100000"/>
              <a:buChar char="•"/>
            </a:pPr>
            <a:r>
              <a:rPr lang="en-US" sz="1250" dirty="0">
                <a:solidFill>
                  <a:srgbClr val="1E293B"/>
                </a:solidFill>
                <a:latin typeface="Calibri" pitchFamily="34" charset="0"/>
                <a:ea typeface="Calibri" pitchFamily="34" charset="-122"/>
                <a:cs typeface="Calibri" pitchFamily="34" charset="-120"/>
              </a:rPr>
              <a:t>Mark custom tools readOnlyHint to allow parallel execution.</a:t>
            </a:r>
            <a:endParaRPr lang="en-US" sz="1250" dirty="0"/>
          </a:p>
        </p:txBody>
      </p:sp>
      <p:sp>
        <p:nvSpPr>
          <p:cNvPr id="28" name="Text 22"/>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29" name="Text 23"/>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30" name="Text 24"/>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TASK 1.2</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Multi-agent orchestration: hub &amp; spoke</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platform.claude.com/docs/en/agent-sdk/subagents</a:t>
            </a:r>
            <a:endParaRPr lang="en-US" sz="1050" dirty="0"/>
          </a:p>
        </p:txBody>
      </p:sp>
      <p:sp>
        <p:nvSpPr>
          <p:cNvPr id="5" name="Text 3"/>
          <p:cNvSpPr/>
          <p:nvPr/>
        </p:nvSpPr>
        <p:spPr>
          <a:xfrm>
            <a:off x="548640" y="1371600"/>
            <a:ext cx="11064240" cy="731520"/>
          </a:xfrm>
          <a:prstGeom prst="rect">
            <a:avLst/>
          </a:prstGeom>
          <a:noFill/>
          <a:ln/>
        </p:spPr>
        <p:txBody>
          <a:bodyPr wrap="square" lIns="0" tIns="0" rIns="0" bIns="0" rtlCol="0" anchor="ctr"/>
          <a:lstStyle/>
          <a:p>
            <a:pPr indent="0" marL="0">
              <a:lnSpc>
                <a:spcPct val="106000"/>
              </a:lnSpc>
              <a:buNone/>
            </a:pPr>
            <a:r>
              <a:rPr lang="en-US" sz="1450" dirty="0">
                <a:solidFill>
                  <a:srgbClr val="1E293B"/>
                </a:solidFill>
                <a:latin typeface="Calibri" pitchFamily="34" charset="0"/>
                <a:ea typeface="Calibri" pitchFamily="34" charset="-122"/>
                <a:cs typeface="Calibri" pitchFamily="34" charset="-120"/>
              </a:rPr>
              <a:t>A coordinator owns ALL inter-agent communication, routing, and error handling. Subagents never talk to each other — everything flows through the hub for observability and control.</a:t>
            </a:r>
            <a:endParaRPr lang="en-US" sz="1450" dirty="0"/>
          </a:p>
        </p:txBody>
      </p:sp>
      <p:sp>
        <p:nvSpPr>
          <p:cNvPr id="6" name="Shape 4"/>
          <p:cNvSpPr/>
          <p:nvPr/>
        </p:nvSpPr>
        <p:spPr>
          <a:xfrm>
            <a:off x="5440680" y="3337560"/>
            <a:ext cx="2194560" cy="1097280"/>
          </a:xfrm>
          <a:prstGeom prst="roundRect">
            <a:avLst>
              <a:gd name="adj" fmla="val 8333"/>
            </a:avLst>
          </a:prstGeom>
          <a:solidFill>
            <a:srgbClr val="4F46E5"/>
          </a:solidFill>
          <a:ln/>
          <a:effectLst>
            <a:outerShdw sx="100000" sy="100000" kx="0" ky="0" algn="bl" rotWithShape="0" blurRad="88900" dist="38100" dir="5400000">
              <a:srgbClr val="000000">
                <a:alpha val="16000"/>
              </a:srgbClr>
            </a:outerShdw>
          </a:effectLst>
        </p:spPr>
      </p:sp>
      <p:sp>
        <p:nvSpPr>
          <p:cNvPr id="7" name="Text 5"/>
          <p:cNvSpPr/>
          <p:nvPr/>
        </p:nvSpPr>
        <p:spPr>
          <a:xfrm>
            <a:off x="5440680" y="3520440"/>
            <a:ext cx="21945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COORDINATOR</a:t>
            </a:r>
            <a:endParaRPr lang="en-US" sz="1400" dirty="0"/>
          </a:p>
        </p:txBody>
      </p:sp>
      <p:sp>
        <p:nvSpPr>
          <p:cNvPr id="8" name="Text 6"/>
          <p:cNvSpPr/>
          <p:nvPr/>
        </p:nvSpPr>
        <p:spPr>
          <a:xfrm>
            <a:off x="5440680" y="3886200"/>
            <a:ext cx="2194560" cy="457200"/>
          </a:xfrm>
          <a:prstGeom prst="rect">
            <a:avLst/>
          </a:prstGeom>
          <a:noFill/>
          <a:ln/>
        </p:spPr>
        <p:txBody>
          <a:bodyPr wrap="square" lIns="0" tIns="0" rIns="0" bIns="0" rtlCol="0" anchor="ctr"/>
          <a:lstStyle/>
          <a:p>
            <a:pPr algn="ctr" indent="0" marL="0">
              <a:buNone/>
            </a:pPr>
            <a:r>
              <a:rPr lang="en-US" sz="950" dirty="0">
                <a:solidFill>
                  <a:srgbClr val="E2E8F0"/>
                </a:solidFill>
                <a:latin typeface="Calibri" pitchFamily="34" charset="0"/>
                <a:ea typeface="Calibri" pitchFamily="34" charset="-122"/>
                <a:cs typeface="Calibri" pitchFamily="34" charset="-120"/>
              </a:rPr>
              <a:t>decompose · delegate · aggregate</a:t>
            </a:r>
            <a:endParaRPr lang="en-US" sz="950" dirty="0"/>
          </a:p>
        </p:txBody>
      </p:sp>
      <p:sp>
        <p:nvSpPr>
          <p:cNvPr id="9" name="Shape 7"/>
          <p:cNvSpPr/>
          <p:nvPr/>
        </p:nvSpPr>
        <p:spPr>
          <a:xfrm>
            <a:off x="1005840" y="2468880"/>
            <a:ext cx="2148840" cy="914400"/>
          </a:xfrm>
          <a:prstGeom prst="roundRect">
            <a:avLst>
              <a:gd name="adj" fmla="val 10000"/>
            </a:avLst>
          </a:prstGeom>
          <a:solidFill>
            <a:srgbClr val="FFFFFF"/>
          </a:solidFill>
          <a:ln w="25400">
            <a:solidFill>
              <a:srgbClr val="14B8A6"/>
            </a:solidFill>
            <a:prstDash val="solid"/>
          </a:ln>
          <a:effectLst>
            <a:outerShdw sx="100000" sy="100000" kx="0" ky="0" algn="bl" rotWithShape="0" blurRad="88900" dist="38100" dir="5400000">
              <a:srgbClr val="000000">
                <a:alpha val="16000"/>
              </a:srgbClr>
            </a:outerShdw>
          </a:effectLst>
        </p:spPr>
      </p:sp>
      <p:sp>
        <p:nvSpPr>
          <p:cNvPr id="10" name="Text 8"/>
          <p:cNvSpPr/>
          <p:nvPr/>
        </p:nvSpPr>
        <p:spPr>
          <a:xfrm>
            <a:off x="1005840" y="2633472"/>
            <a:ext cx="2148840" cy="365760"/>
          </a:xfrm>
          <a:prstGeom prst="rect">
            <a:avLst/>
          </a:prstGeom>
          <a:noFill/>
          <a:ln/>
        </p:spPr>
        <p:txBody>
          <a:bodyPr wrap="square" lIns="0" tIns="0" rIns="0" bIns="0" rtlCol="0" anchor="ctr"/>
          <a:lstStyle/>
          <a:p>
            <a:pPr algn="ctr" indent="0" marL="0">
              <a:buNone/>
            </a:pPr>
            <a:r>
              <a:rPr lang="en-US" sz="1300" b="1" dirty="0">
                <a:solidFill>
                  <a:srgbClr val="14B8A6"/>
                </a:solidFill>
                <a:latin typeface="Calibri" pitchFamily="34" charset="0"/>
                <a:ea typeface="Calibri" pitchFamily="34" charset="-122"/>
                <a:cs typeface="Calibri" pitchFamily="34" charset="-120"/>
              </a:rPr>
              <a:t>Web search</a:t>
            </a:r>
            <a:endParaRPr lang="en-US" sz="1300" dirty="0"/>
          </a:p>
        </p:txBody>
      </p:sp>
      <p:sp>
        <p:nvSpPr>
          <p:cNvPr id="11" name="Text 9"/>
          <p:cNvSpPr/>
          <p:nvPr/>
        </p:nvSpPr>
        <p:spPr>
          <a:xfrm>
            <a:off x="1005840" y="2971800"/>
            <a:ext cx="214884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subagent</a:t>
            </a:r>
            <a:endParaRPr lang="en-US" sz="1000" dirty="0"/>
          </a:p>
        </p:txBody>
      </p:sp>
      <p:sp>
        <p:nvSpPr>
          <p:cNvPr id="12" name="Shape 10"/>
          <p:cNvSpPr/>
          <p:nvPr/>
        </p:nvSpPr>
        <p:spPr>
          <a:xfrm>
            <a:off x="3154680" y="2926080"/>
            <a:ext cx="2286000" cy="960120"/>
          </a:xfrm>
          <a:prstGeom prst="line">
            <a:avLst/>
          </a:prstGeom>
          <a:noFill/>
          <a:ln w="19050">
            <a:solidFill>
              <a:srgbClr val="64748B"/>
            </a:solidFill>
            <a:prstDash val="dash"/>
            <a:headEnd type="oval"/>
            <a:tailEnd type="oval"/>
          </a:ln>
        </p:spPr>
      </p:sp>
      <p:sp>
        <p:nvSpPr>
          <p:cNvPr id="13" name="Shape 11"/>
          <p:cNvSpPr/>
          <p:nvPr/>
        </p:nvSpPr>
        <p:spPr>
          <a:xfrm>
            <a:off x="1005840" y="4617720"/>
            <a:ext cx="2148840" cy="914400"/>
          </a:xfrm>
          <a:prstGeom prst="roundRect">
            <a:avLst>
              <a:gd name="adj" fmla="val 10000"/>
            </a:avLst>
          </a:prstGeom>
          <a:solidFill>
            <a:srgbClr val="FFFFFF"/>
          </a:solidFill>
          <a:ln w="25400">
            <a:solidFill>
              <a:srgbClr val="8B5CF6"/>
            </a:solidFill>
            <a:prstDash val="solid"/>
          </a:ln>
          <a:effectLst>
            <a:outerShdw sx="100000" sy="100000" kx="0" ky="0" algn="bl" rotWithShape="0" blurRad="88900" dist="38100" dir="5400000">
              <a:srgbClr val="000000">
                <a:alpha val="16000"/>
              </a:srgbClr>
            </a:outerShdw>
          </a:effectLst>
        </p:spPr>
      </p:sp>
      <p:sp>
        <p:nvSpPr>
          <p:cNvPr id="14" name="Text 12"/>
          <p:cNvSpPr/>
          <p:nvPr/>
        </p:nvSpPr>
        <p:spPr>
          <a:xfrm>
            <a:off x="1005840" y="4782312"/>
            <a:ext cx="2148840" cy="365760"/>
          </a:xfrm>
          <a:prstGeom prst="rect">
            <a:avLst/>
          </a:prstGeom>
          <a:noFill/>
          <a:ln/>
        </p:spPr>
        <p:txBody>
          <a:bodyPr wrap="square" lIns="0" tIns="0" rIns="0" bIns="0" rtlCol="0" anchor="ctr"/>
          <a:lstStyle/>
          <a:p>
            <a:pPr algn="ctr" indent="0" marL="0">
              <a:buNone/>
            </a:pPr>
            <a:r>
              <a:rPr lang="en-US" sz="1300" b="1" dirty="0">
                <a:solidFill>
                  <a:srgbClr val="8B5CF6"/>
                </a:solidFill>
                <a:latin typeface="Calibri" pitchFamily="34" charset="0"/>
                <a:ea typeface="Calibri" pitchFamily="34" charset="-122"/>
                <a:cs typeface="Calibri" pitchFamily="34" charset="-120"/>
              </a:rPr>
              <a:t>Doc analysis</a:t>
            </a:r>
            <a:endParaRPr lang="en-US" sz="1300" dirty="0"/>
          </a:p>
        </p:txBody>
      </p:sp>
      <p:sp>
        <p:nvSpPr>
          <p:cNvPr id="15" name="Text 13"/>
          <p:cNvSpPr/>
          <p:nvPr/>
        </p:nvSpPr>
        <p:spPr>
          <a:xfrm>
            <a:off x="1005840" y="5120640"/>
            <a:ext cx="214884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subagent</a:t>
            </a:r>
            <a:endParaRPr lang="en-US" sz="1000" dirty="0"/>
          </a:p>
        </p:txBody>
      </p:sp>
      <p:sp>
        <p:nvSpPr>
          <p:cNvPr id="16" name="Shape 14"/>
          <p:cNvSpPr/>
          <p:nvPr/>
        </p:nvSpPr>
        <p:spPr>
          <a:xfrm>
            <a:off x="3154680" y="3886200"/>
            <a:ext cx="2286000" cy="1188720"/>
          </a:xfrm>
          <a:prstGeom prst="line">
            <a:avLst/>
          </a:prstGeom>
          <a:noFill/>
          <a:ln w="19050">
            <a:solidFill>
              <a:srgbClr val="64748B"/>
            </a:solidFill>
            <a:prstDash val="dash"/>
            <a:headEnd type="oval"/>
            <a:tailEnd type="oval"/>
          </a:ln>
        </p:spPr>
      </p:sp>
      <p:sp>
        <p:nvSpPr>
          <p:cNvPr id="17" name="Shape 15"/>
          <p:cNvSpPr/>
          <p:nvPr/>
        </p:nvSpPr>
        <p:spPr>
          <a:xfrm>
            <a:off x="9006840" y="2468880"/>
            <a:ext cx="2148840" cy="914400"/>
          </a:xfrm>
          <a:prstGeom prst="roundRect">
            <a:avLst>
              <a:gd name="adj" fmla="val 10000"/>
            </a:avLst>
          </a:prstGeom>
          <a:solidFill>
            <a:srgbClr val="FFFFFF"/>
          </a:solidFill>
          <a:ln w="25400">
            <a:solidFill>
              <a:srgbClr val="F59E0B"/>
            </a:solidFill>
            <a:prstDash val="solid"/>
          </a:ln>
          <a:effectLst>
            <a:outerShdw sx="100000" sy="100000" kx="0" ky="0" algn="bl" rotWithShape="0" blurRad="88900" dist="38100" dir="5400000">
              <a:srgbClr val="000000">
                <a:alpha val="16000"/>
              </a:srgbClr>
            </a:outerShdw>
          </a:effectLst>
        </p:spPr>
      </p:sp>
      <p:sp>
        <p:nvSpPr>
          <p:cNvPr id="18" name="Text 16"/>
          <p:cNvSpPr/>
          <p:nvPr/>
        </p:nvSpPr>
        <p:spPr>
          <a:xfrm>
            <a:off x="9006840" y="2633472"/>
            <a:ext cx="2148840" cy="365760"/>
          </a:xfrm>
          <a:prstGeom prst="rect">
            <a:avLst/>
          </a:prstGeom>
          <a:noFill/>
          <a:ln/>
        </p:spPr>
        <p:txBody>
          <a:bodyPr wrap="square" lIns="0" tIns="0" rIns="0" bIns="0" rtlCol="0" anchor="ctr"/>
          <a:lstStyle/>
          <a:p>
            <a:pPr algn="ctr" indent="0" marL="0">
              <a:buNone/>
            </a:pPr>
            <a:r>
              <a:rPr lang="en-US" sz="1300" b="1" dirty="0">
                <a:solidFill>
                  <a:srgbClr val="F59E0B"/>
                </a:solidFill>
                <a:latin typeface="Calibri" pitchFamily="34" charset="0"/>
                <a:ea typeface="Calibri" pitchFamily="34" charset="-122"/>
                <a:cs typeface="Calibri" pitchFamily="34" charset="-120"/>
              </a:rPr>
              <a:t>Synthesis</a:t>
            </a:r>
            <a:endParaRPr lang="en-US" sz="1300" dirty="0"/>
          </a:p>
        </p:txBody>
      </p:sp>
      <p:sp>
        <p:nvSpPr>
          <p:cNvPr id="19" name="Text 17"/>
          <p:cNvSpPr/>
          <p:nvPr/>
        </p:nvSpPr>
        <p:spPr>
          <a:xfrm>
            <a:off x="9006840" y="2971800"/>
            <a:ext cx="214884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subagent</a:t>
            </a:r>
            <a:endParaRPr lang="en-US" sz="1000" dirty="0"/>
          </a:p>
        </p:txBody>
      </p:sp>
      <p:sp>
        <p:nvSpPr>
          <p:cNvPr id="20" name="Shape 18"/>
          <p:cNvSpPr/>
          <p:nvPr/>
        </p:nvSpPr>
        <p:spPr>
          <a:xfrm>
            <a:off x="7635240" y="2926080"/>
            <a:ext cx="1371600" cy="960120"/>
          </a:xfrm>
          <a:prstGeom prst="line">
            <a:avLst/>
          </a:prstGeom>
          <a:noFill/>
          <a:ln w="19050">
            <a:solidFill>
              <a:srgbClr val="64748B"/>
            </a:solidFill>
            <a:prstDash val="dash"/>
            <a:headEnd type="oval"/>
            <a:tailEnd type="oval"/>
          </a:ln>
        </p:spPr>
      </p:sp>
      <p:sp>
        <p:nvSpPr>
          <p:cNvPr id="21" name="Shape 19"/>
          <p:cNvSpPr/>
          <p:nvPr/>
        </p:nvSpPr>
        <p:spPr>
          <a:xfrm>
            <a:off x="9006840" y="4617720"/>
            <a:ext cx="2148840" cy="914400"/>
          </a:xfrm>
          <a:prstGeom prst="roundRect">
            <a:avLst>
              <a:gd name="adj" fmla="val 10000"/>
            </a:avLst>
          </a:prstGeom>
          <a:solidFill>
            <a:srgbClr val="FFFFFF"/>
          </a:solidFill>
          <a:ln w="25400">
            <a:solidFill>
              <a:srgbClr val="F43F5E"/>
            </a:solidFill>
            <a:prstDash val="solid"/>
          </a:ln>
          <a:effectLst>
            <a:outerShdw sx="100000" sy="100000" kx="0" ky="0" algn="bl" rotWithShape="0" blurRad="88900" dist="38100" dir="5400000">
              <a:srgbClr val="000000">
                <a:alpha val="16000"/>
              </a:srgbClr>
            </a:outerShdw>
          </a:effectLst>
        </p:spPr>
      </p:sp>
      <p:sp>
        <p:nvSpPr>
          <p:cNvPr id="22" name="Text 20"/>
          <p:cNvSpPr/>
          <p:nvPr/>
        </p:nvSpPr>
        <p:spPr>
          <a:xfrm>
            <a:off x="9006840" y="4782312"/>
            <a:ext cx="2148840" cy="365760"/>
          </a:xfrm>
          <a:prstGeom prst="rect">
            <a:avLst/>
          </a:prstGeom>
          <a:noFill/>
          <a:ln/>
        </p:spPr>
        <p:txBody>
          <a:bodyPr wrap="square" lIns="0" tIns="0" rIns="0" bIns="0" rtlCol="0" anchor="ctr"/>
          <a:lstStyle/>
          <a:p>
            <a:pPr algn="ctr" indent="0" marL="0">
              <a:buNone/>
            </a:pPr>
            <a:r>
              <a:rPr lang="en-US" sz="1300" b="1" dirty="0">
                <a:solidFill>
                  <a:srgbClr val="F43F5E"/>
                </a:solidFill>
                <a:latin typeface="Calibri" pitchFamily="34" charset="0"/>
                <a:ea typeface="Calibri" pitchFamily="34" charset="-122"/>
                <a:cs typeface="Calibri" pitchFamily="34" charset="-120"/>
              </a:rPr>
              <a:t>Report gen</a:t>
            </a:r>
            <a:endParaRPr lang="en-US" sz="1300" dirty="0"/>
          </a:p>
        </p:txBody>
      </p:sp>
      <p:sp>
        <p:nvSpPr>
          <p:cNvPr id="23" name="Text 21"/>
          <p:cNvSpPr/>
          <p:nvPr/>
        </p:nvSpPr>
        <p:spPr>
          <a:xfrm>
            <a:off x="9006840" y="5120640"/>
            <a:ext cx="2148840" cy="274320"/>
          </a:xfrm>
          <a:prstGeom prst="rect">
            <a:avLst/>
          </a:prstGeom>
          <a:noFill/>
          <a:ln/>
        </p:spPr>
        <p:txBody>
          <a:bodyPr wrap="square" lIns="0" tIns="0" rIns="0" bIns="0"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subagent</a:t>
            </a:r>
            <a:endParaRPr lang="en-US" sz="1000" dirty="0"/>
          </a:p>
        </p:txBody>
      </p:sp>
      <p:sp>
        <p:nvSpPr>
          <p:cNvPr id="24" name="Shape 22"/>
          <p:cNvSpPr/>
          <p:nvPr/>
        </p:nvSpPr>
        <p:spPr>
          <a:xfrm>
            <a:off x="7635240" y="3886200"/>
            <a:ext cx="1371600" cy="1188720"/>
          </a:xfrm>
          <a:prstGeom prst="line">
            <a:avLst/>
          </a:prstGeom>
          <a:noFill/>
          <a:ln w="19050">
            <a:solidFill>
              <a:srgbClr val="64748B"/>
            </a:solidFill>
            <a:prstDash val="dash"/>
            <a:headEnd type="oval"/>
            <a:tailEnd type="oval"/>
          </a:ln>
        </p:spPr>
      </p:sp>
      <p:sp>
        <p:nvSpPr>
          <p:cNvPr id="25" name="Text 23"/>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26" name="Text 24"/>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27" name="Text 25"/>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TASK 1.2 · JUDGMENT</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What a good coordinator does</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exam guide · Task 1.2 + multi-agent-research-system</a:t>
            </a:r>
            <a:endParaRPr lang="en-US" sz="1050" dirty="0"/>
          </a:p>
        </p:txBody>
      </p:sp>
      <p:sp>
        <p:nvSpPr>
          <p:cNvPr id="5" name="Shape 3"/>
          <p:cNvSpPr/>
          <p:nvPr/>
        </p:nvSpPr>
        <p:spPr>
          <a:xfrm>
            <a:off x="548640" y="1417320"/>
            <a:ext cx="5394960" cy="1920240"/>
          </a:xfrm>
          <a:prstGeom prst="roundRect">
            <a:avLst>
              <a:gd name="adj" fmla="val 2857"/>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6" name="Shape 4"/>
          <p:cNvSpPr/>
          <p:nvPr/>
        </p:nvSpPr>
        <p:spPr>
          <a:xfrm>
            <a:off x="822960" y="1691640"/>
            <a:ext cx="713232" cy="713232"/>
          </a:xfrm>
          <a:prstGeom prst="ellipse">
            <a:avLst/>
          </a:prstGeom>
          <a:solidFill>
            <a:srgbClr val="4F46E5"/>
          </a:solidFill>
          <a:ln/>
          <a:effectLst>
            <a:outerShdw sx="100000" sy="100000" kx="0" ky="0" algn="bl" rotWithShape="0" blurRad="88900" dist="38100" dir="5400000">
              <a:srgbClr val="000000">
                <a:alpha val="16000"/>
              </a:srgbClr>
            </a:outerShdw>
          </a:effectLst>
        </p:spPr>
      </p:sp>
      <p:pic>
        <p:nvPicPr>
          <p:cNvPr id="7" name="Image 0" descr="preencoded.png">    </p:cNvPr>
          <p:cNvPicPr>
            <a:picLocks noChangeAspect="1"/>
          </p:cNvPicPr>
          <p:nvPr/>
        </p:nvPicPr>
        <p:blipFill>
          <a:blip r:embed="rId1"/>
          <a:stretch>
            <a:fillRect/>
          </a:stretch>
        </p:blipFill>
        <p:spPr>
          <a:xfrm>
            <a:off x="1008400" y="1877080"/>
            <a:ext cx="342351" cy="342351"/>
          </a:xfrm>
          <a:prstGeom prst="rect">
            <a:avLst/>
          </a:prstGeom>
        </p:spPr>
      </p:pic>
      <p:sp>
        <p:nvSpPr>
          <p:cNvPr id="8" name="Text 5"/>
          <p:cNvSpPr/>
          <p:nvPr/>
        </p:nvSpPr>
        <p:spPr>
          <a:xfrm>
            <a:off x="1719072" y="1709928"/>
            <a:ext cx="4023360" cy="457200"/>
          </a:xfrm>
          <a:prstGeom prst="rect">
            <a:avLst/>
          </a:prstGeom>
          <a:noFill/>
          <a:ln/>
        </p:spPr>
        <p:txBody>
          <a:bodyPr wrap="square" lIns="0" tIns="0" rIns="0" bIns="0" rtlCol="0" anchor="ctr"/>
          <a:lstStyle/>
          <a:p>
            <a:pPr indent="0" marL="0">
              <a:buNone/>
            </a:pPr>
            <a:r>
              <a:rPr lang="en-US" sz="1600" b="1" dirty="0">
                <a:solidFill>
                  <a:srgbClr val="12132E"/>
                </a:solidFill>
                <a:latin typeface="Calibri" pitchFamily="34" charset="0"/>
                <a:ea typeface="Calibri" pitchFamily="34" charset="-122"/>
                <a:cs typeface="Calibri" pitchFamily="34" charset="-120"/>
              </a:rPr>
              <a:t>Dynamic selection</a:t>
            </a:r>
            <a:endParaRPr lang="en-US" sz="1600" dirty="0"/>
          </a:p>
        </p:txBody>
      </p:sp>
      <p:sp>
        <p:nvSpPr>
          <p:cNvPr id="9" name="Text 6"/>
          <p:cNvSpPr/>
          <p:nvPr/>
        </p:nvSpPr>
        <p:spPr>
          <a:xfrm>
            <a:off x="822960" y="2404872"/>
            <a:ext cx="4846320" cy="822960"/>
          </a:xfrm>
          <a:prstGeom prst="rect">
            <a:avLst/>
          </a:prstGeom>
          <a:noFill/>
          <a:ln/>
        </p:spPr>
        <p:txBody>
          <a:bodyPr wrap="square" lIns="0" tIns="0" rIns="0" bIns="0" rtlCol="0" anchor="ctr"/>
          <a:lstStyle/>
          <a:p>
            <a:pPr indent="0" marL="0">
              <a:lnSpc>
                <a:spcPct val="106000"/>
              </a:lnSpc>
              <a:buNone/>
            </a:pPr>
            <a:r>
              <a:rPr lang="en-US" sz="1250" dirty="0">
                <a:solidFill>
                  <a:srgbClr val="64748B"/>
                </a:solidFill>
                <a:latin typeface="Calibri" pitchFamily="34" charset="0"/>
                <a:ea typeface="Calibri" pitchFamily="34" charset="-122"/>
                <a:cs typeface="Calibri" pitchFamily="34" charset="-120"/>
              </a:rPr>
              <a:t>Analyze the query and invoke only the subagents it needs — don't always run the full pipeline.</a:t>
            </a:r>
            <a:endParaRPr lang="en-US" sz="1250" dirty="0"/>
          </a:p>
        </p:txBody>
      </p:sp>
      <p:sp>
        <p:nvSpPr>
          <p:cNvPr id="10" name="Shape 7"/>
          <p:cNvSpPr/>
          <p:nvPr/>
        </p:nvSpPr>
        <p:spPr>
          <a:xfrm>
            <a:off x="6217920" y="1417320"/>
            <a:ext cx="5394960" cy="1920240"/>
          </a:xfrm>
          <a:prstGeom prst="roundRect">
            <a:avLst>
              <a:gd name="adj" fmla="val 2857"/>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1" name="Shape 8"/>
          <p:cNvSpPr/>
          <p:nvPr/>
        </p:nvSpPr>
        <p:spPr>
          <a:xfrm>
            <a:off x="6492240" y="1691640"/>
            <a:ext cx="713232" cy="713232"/>
          </a:xfrm>
          <a:prstGeom prst="ellipse">
            <a:avLst/>
          </a:prstGeom>
          <a:solidFill>
            <a:srgbClr val="14B8A6"/>
          </a:solidFill>
          <a:ln/>
          <a:effectLst>
            <a:outerShdw sx="100000" sy="100000" kx="0" ky="0" algn="bl" rotWithShape="0" blurRad="88900" dist="38100" dir="5400000">
              <a:srgbClr val="000000">
                <a:alpha val="16000"/>
              </a:srgbClr>
            </a:outerShdw>
          </a:effectLst>
        </p:spPr>
      </p:sp>
      <p:pic>
        <p:nvPicPr>
          <p:cNvPr id="12" name="Image 1" descr="preencoded.png">    </p:cNvPr>
          <p:cNvPicPr>
            <a:picLocks noChangeAspect="1"/>
          </p:cNvPicPr>
          <p:nvPr/>
        </p:nvPicPr>
        <p:blipFill>
          <a:blip r:embed="rId2"/>
          <a:stretch>
            <a:fillRect/>
          </a:stretch>
        </p:blipFill>
        <p:spPr>
          <a:xfrm>
            <a:off x="6677680" y="1877080"/>
            <a:ext cx="342351" cy="342351"/>
          </a:xfrm>
          <a:prstGeom prst="rect">
            <a:avLst/>
          </a:prstGeom>
        </p:spPr>
      </p:pic>
      <p:sp>
        <p:nvSpPr>
          <p:cNvPr id="13" name="Text 9"/>
          <p:cNvSpPr/>
          <p:nvPr/>
        </p:nvSpPr>
        <p:spPr>
          <a:xfrm>
            <a:off x="7388352" y="1709928"/>
            <a:ext cx="4023360" cy="457200"/>
          </a:xfrm>
          <a:prstGeom prst="rect">
            <a:avLst/>
          </a:prstGeom>
          <a:noFill/>
          <a:ln/>
        </p:spPr>
        <p:txBody>
          <a:bodyPr wrap="square" lIns="0" tIns="0" rIns="0" bIns="0" rtlCol="0" anchor="ctr"/>
          <a:lstStyle/>
          <a:p>
            <a:pPr indent="0" marL="0">
              <a:buNone/>
            </a:pPr>
            <a:r>
              <a:rPr lang="en-US" sz="1600" b="1" dirty="0">
                <a:solidFill>
                  <a:srgbClr val="12132E"/>
                </a:solidFill>
                <a:latin typeface="Calibri" pitchFamily="34" charset="0"/>
                <a:ea typeface="Calibri" pitchFamily="34" charset="-122"/>
                <a:cs typeface="Calibri" pitchFamily="34" charset="-120"/>
              </a:rPr>
              <a:t>Broad decomposition</a:t>
            </a:r>
            <a:endParaRPr lang="en-US" sz="1600" dirty="0"/>
          </a:p>
        </p:txBody>
      </p:sp>
      <p:sp>
        <p:nvSpPr>
          <p:cNvPr id="14" name="Text 10"/>
          <p:cNvSpPr/>
          <p:nvPr/>
        </p:nvSpPr>
        <p:spPr>
          <a:xfrm>
            <a:off x="6492240" y="2404872"/>
            <a:ext cx="4846320" cy="822960"/>
          </a:xfrm>
          <a:prstGeom prst="rect">
            <a:avLst/>
          </a:prstGeom>
          <a:noFill/>
          <a:ln/>
        </p:spPr>
        <p:txBody>
          <a:bodyPr wrap="square" lIns="0" tIns="0" rIns="0" bIns="0" rtlCol="0" anchor="ctr"/>
          <a:lstStyle/>
          <a:p>
            <a:pPr indent="0" marL="0">
              <a:lnSpc>
                <a:spcPct val="106000"/>
              </a:lnSpc>
              <a:buNone/>
            </a:pPr>
            <a:r>
              <a:rPr lang="en-US" sz="1250" dirty="0">
                <a:solidFill>
                  <a:srgbClr val="64748B"/>
                </a:solidFill>
                <a:latin typeface="Calibri" pitchFamily="34" charset="0"/>
                <a:ea typeface="Calibri" pitchFamily="34" charset="-122"/>
                <a:cs typeface="Calibri" pitchFamily="34" charset="-120"/>
              </a:rPr>
              <a:t>Partition the WHOLE topic into non-overlapping subtasks. Narrow decomposition silently drops coverage.</a:t>
            </a:r>
            <a:endParaRPr lang="en-US" sz="1250" dirty="0"/>
          </a:p>
        </p:txBody>
      </p:sp>
      <p:sp>
        <p:nvSpPr>
          <p:cNvPr id="15" name="Shape 11"/>
          <p:cNvSpPr/>
          <p:nvPr/>
        </p:nvSpPr>
        <p:spPr>
          <a:xfrm>
            <a:off x="548640" y="3611880"/>
            <a:ext cx="5394960" cy="1920240"/>
          </a:xfrm>
          <a:prstGeom prst="roundRect">
            <a:avLst>
              <a:gd name="adj" fmla="val 2857"/>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6" name="Shape 12"/>
          <p:cNvSpPr/>
          <p:nvPr/>
        </p:nvSpPr>
        <p:spPr>
          <a:xfrm>
            <a:off x="822960" y="3886200"/>
            <a:ext cx="713232" cy="713232"/>
          </a:xfrm>
          <a:prstGeom prst="ellipse">
            <a:avLst/>
          </a:prstGeom>
          <a:solidFill>
            <a:srgbClr val="8B5CF6"/>
          </a:solidFill>
          <a:ln/>
          <a:effectLst>
            <a:outerShdw sx="100000" sy="100000" kx="0" ky="0" algn="bl" rotWithShape="0" blurRad="88900" dist="38100" dir="5400000">
              <a:srgbClr val="000000">
                <a:alpha val="16000"/>
              </a:srgbClr>
            </a:outerShdw>
          </a:effectLst>
        </p:spPr>
      </p:sp>
      <p:pic>
        <p:nvPicPr>
          <p:cNvPr id="17" name="Image 2" descr="preencoded.png">    </p:cNvPr>
          <p:cNvPicPr>
            <a:picLocks noChangeAspect="1"/>
          </p:cNvPicPr>
          <p:nvPr/>
        </p:nvPicPr>
        <p:blipFill>
          <a:blip r:embed="rId3"/>
          <a:stretch>
            <a:fillRect/>
          </a:stretch>
        </p:blipFill>
        <p:spPr>
          <a:xfrm>
            <a:off x="1008400" y="4071640"/>
            <a:ext cx="342351" cy="342351"/>
          </a:xfrm>
          <a:prstGeom prst="rect">
            <a:avLst/>
          </a:prstGeom>
        </p:spPr>
      </p:pic>
      <p:sp>
        <p:nvSpPr>
          <p:cNvPr id="18" name="Text 13"/>
          <p:cNvSpPr/>
          <p:nvPr/>
        </p:nvSpPr>
        <p:spPr>
          <a:xfrm>
            <a:off x="1719072" y="3904488"/>
            <a:ext cx="4023360" cy="457200"/>
          </a:xfrm>
          <a:prstGeom prst="rect">
            <a:avLst/>
          </a:prstGeom>
          <a:noFill/>
          <a:ln/>
        </p:spPr>
        <p:txBody>
          <a:bodyPr wrap="square" lIns="0" tIns="0" rIns="0" bIns="0" rtlCol="0" anchor="ctr"/>
          <a:lstStyle/>
          <a:p>
            <a:pPr indent="0" marL="0">
              <a:buNone/>
            </a:pPr>
            <a:r>
              <a:rPr lang="en-US" sz="1600" b="1" dirty="0">
                <a:solidFill>
                  <a:srgbClr val="12132E"/>
                </a:solidFill>
                <a:latin typeface="Calibri" pitchFamily="34" charset="0"/>
                <a:ea typeface="Calibri" pitchFamily="34" charset="-122"/>
                <a:cs typeface="Calibri" pitchFamily="34" charset="-120"/>
              </a:rPr>
              <a:t>Iterative refinement</a:t>
            </a:r>
            <a:endParaRPr lang="en-US" sz="1600" dirty="0"/>
          </a:p>
        </p:txBody>
      </p:sp>
      <p:sp>
        <p:nvSpPr>
          <p:cNvPr id="19" name="Text 14"/>
          <p:cNvSpPr/>
          <p:nvPr/>
        </p:nvSpPr>
        <p:spPr>
          <a:xfrm>
            <a:off x="822960" y="4599432"/>
            <a:ext cx="4846320" cy="822960"/>
          </a:xfrm>
          <a:prstGeom prst="rect">
            <a:avLst/>
          </a:prstGeom>
          <a:noFill/>
          <a:ln/>
        </p:spPr>
        <p:txBody>
          <a:bodyPr wrap="square" lIns="0" tIns="0" rIns="0" bIns="0" rtlCol="0" anchor="ctr"/>
          <a:lstStyle/>
          <a:p>
            <a:pPr indent="0" marL="0">
              <a:lnSpc>
                <a:spcPct val="106000"/>
              </a:lnSpc>
              <a:buNone/>
            </a:pPr>
            <a:r>
              <a:rPr lang="en-US" sz="1250" dirty="0">
                <a:solidFill>
                  <a:srgbClr val="64748B"/>
                </a:solidFill>
                <a:latin typeface="Calibri" pitchFamily="34" charset="0"/>
                <a:ea typeface="Calibri" pitchFamily="34" charset="-122"/>
                <a:cs typeface="Calibri" pitchFamily="34" charset="-120"/>
              </a:rPr>
              <a:t>Evaluate synthesis for gaps, re-delegate targeted queries, re-synthesize until coverage is sufficient.</a:t>
            </a:r>
            <a:endParaRPr lang="en-US" sz="1250" dirty="0"/>
          </a:p>
        </p:txBody>
      </p:sp>
      <p:sp>
        <p:nvSpPr>
          <p:cNvPr id="20" name="Shape 15"/>
          <p:cNvSpPr/>
          <p:nvPr/>
        </p:nvSpPr>
        <p:spPr>
          <a:xfrm>
            <a:off x="6217920" y="3611880"/>
            <a:ext cx="5394960" cy="1920240"/>
          </a:xfrm>
          <a:prstGeom prst="roundRect">
            <a:avLst>
              <a:gd name="adj" fmla="val 2857"/>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21" name="Shape 16"/>
          <p:cNvSpPr/>
          <p:nvPr/>
        </p:nvSpPr>
        <p:spPr>
          <a:xfrm>
            <a:off x="6492240" y="3886200"/>
            <a:ext cx="713232" cy="713232"/>
          </a:xfrm>
          <a:prstGeom prst="ellipse">
            <a:avLst/>
          </a:prstGeom>
          <a:solidFill>
            <a:srgbClr val="F59E0B"/>
          </a:solidFill>
          <a:ln/>
          <a:effectLst>
            <a:outerShdw sx="100000" sy="100000" kx="0" ky="0" algn="bl" rotWithShape="0" blurRad="88900" dist="38100" dir="5400000">
              <a:srgbClr val="000000">
                <a:alpha val="16000"/>
              </a:srgbClr>
            </a:outerShdw>
          </a:effectLst>
        </p:spPr>
      </p:sp>
      <p:pic>
        <p:nvPicPr>
          <p:cNvPr id="22" name="Image 3" descr="preencoded.png">    </p:cNvPr>
          <p:cNvPicPr>
            <a:picLocks noChangeAspect="1"/>
          </p:cNvPicPr>
          <p:nvPr/>
        </p:nvPicPr>
        <p:blipFill>
          <a:blip r:embed="rId4"/>
          <a:stretch>
            <a:fillRect/>
          </a:stretch>
        </p:blipFill>
        <p:spPr>
          <a:xfrm>
            <a:off x="6677680" y="4071640"/>
            <a:ext cx="342351" cy="342351"/>
          </a:xfrm>
          <a:prstGeom prst="rect">
            <a:avLst/>
          </a:prstGeom>
        </p:spPr>
      </p:pic>
      <p:sp>
        <p:nvSpPr>
          <p:cNvPr id="23" name="Text 17"/>
          <p:cNvSpPr/>
          <p:nvPr/>
        </p:nvSpPr>
        <p:spPr>
          <a:xfrm>
            <a:off x="7388352" y="3904488"/>
            <a:ext cx="4023360" cy="457200"/>
          </a:xfrm>
          <a:prstGeom prst="rect">
            <a:avLst/>
          </a:prstGeom>
          <a:noFill/>
          <a:ln/>
        </p:spPr>
        <p:txBody>
          <a:bodyPr wrap="square" lIns="0" tIns="0" rIns="0" bIns="0" rtlCol="0" anchor="ctr"/>
          <a:lstStyle/>
          <a:p>
            <a:pPr indent="0" marL="0">
              <a:buNone/>
            </a:pPr>
            <a:r>
              <a:rPr lang="en-US" sz="1600" b="1" dirty="0">
                <a:solidFill>
                  <a:srgbClr val="12132E"/>
                </a:solidFill>
                <a:latin typeface="Calibri" pitchFamily="34" charset="0"/>
                <a:ea typeface="Calibri" pitchFamily="34" charset="-122"/>
                <a:cs typeface="Calibri" pitchFamily="34" charset="-120"/>
              </a:rPr>
              <a:t>Route everything</a:t>
            </a:r>
            <a:endParaRPr lang="en-US" sz="1600" dirty="0"/>
          </a:p>
        </p:txBody>
      </p:sp>
      <p:sp>
        <p:nvSpPr>
          <p:cNvPr id="24" name="Text 18"/>
          <p:cNvSpPr/>
          <p:nvPr/>
        </p:nvSpPr>
        <p:spPr>
          <a:xfrm>
            <a:off x="6492240" y="4599432"/>
            <a:ext cx="4846320" cy="822960"/>
          </a:xfrm>
          <a:prstGeom prst="rect">
            <a:avLst/>
          </a:prstGeom>
          <a:noFill/>
          <a:ln/>
        </p:spPr>
        <p:txBody>
          <a:bodyPr wrap="square" lIns="0" tIns="0" rIns="0" bIns="0" rtlCol="0" anchor="ctr"/>
          <a:lstStyle/>
          <a:p>
            <a:pPr indent="0" marL="0">
              <a:lnSpc>
                <a:spcPct val="106000"/>
              </a:lnSpc>
              <a:buNone/>
            </a:pPr>
            <a:r>
              <a:rPr lang="en-US" sz="1250" dirty="0">
                <a:solidFill>
                  <a:srgbClr val="64748B"/>
                </a:solidFill>
                <a:latin typeface="Calibri" pitchFamily="34" charset="0"/>
                <a:ea typeface="Calibri" pitchFamily="34" charset="-122"/>
                <a:cs typeface="Calibri" pitchFamily="34" charset="-120"/>
              </a:rPr>
              <a:t>All subagent comms go through the hub for observability and consistent error handling.</a:t>
            </a:r>
            <a:endParaRPr lang="en-US" sz="1250" dirty="0"/>
          </a:p>
        </p:txBody>
      </p:sp>
      <p:sp>
        <p:nvSpPr>
          <p:cNvPr id="25" name="Text 19"/>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26" name="Text 20"/>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27" name="Text 21"/>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03_COORDINATOR_SUBAGENTS.PY · TASK 1.3</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Walkthrough 3 — subagent delegation</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platform.claude.com/docs/en/agent-sdk/subagents</a:t>
            </a:r>
            <a:endParaRPr lang="en-US" sz="1050" dirty="0"/>
          </a:p>
        </p:txBody>
      </p:sp>
      <p:sp>
        <p:nvSpPr>
          <p:cNvPr id="5" name="Shape 3"/>
          <p:cNvSpPr/>
          <p:nvPr/>
        </p:nvSpPr>
        <p:spPr>
          <a:xfrm>
            <a:off x="548640" y="1417320"/>
            <a:ext cx="6949440" cy="4572000"/>
          </a:xfrm>
          <a:prstGeom prst="roundRect">
            <a:avLst>
              <a:gd name="adj" fmla="val 1600"/>
            </a:avLst>
          </a:prstGeom>
          <a:solidFill>
            <a:srgbClr val="11142B"/>
          </a:solidFill>
          <a:ln/>
          <a:effectLst>
            <a:outerShdw sx="100000" sy="100000" kx="0" ky="0" algn="bl" rotWithShape="0" blurRad="88900" dist="38100" dir="5400000">
              <a:srgbClr val="000000">
                <a:alpha val="16000"/>
              </a:srgbClr>
            </a:outerShdw>
          </a:effectLst>
        </p:spPr>
      </p:sp>
      <p:sp>
        <p:nvSpPr>
          <p:cNvPr id="6" name="Text 4"/>
          <p:cNvSpPr/>
          <p:nvPr/>
        </p:nvSpPr>
        <p:spPr>
          <a:xfrm>
            <a:off x="749808" y="1563624"/>
            <a:ext cx="6547104" cy="4279392"/>
          </a:xfrm>
          <a:prstGeom prst="rect">
            <a:avLst/>
          </a:prstGeom>
          <a:noFill/>
          <a:ln/>
        </p:spPr>
        <p:txBody>
          <a:bodyPr wrap="square" lIns="0" tIns="0" rIns="0" bIns="0" rtlCol="0" anchor="t"/>
          <a:lstStyle/>
          <a:p>
            <a:pPr indent="0" marL="0">
              <a:lnSpc>
                <a:spcPct val="102000"/>
              </a:lnSpc>
              <a:buNone/>
            </a:pPr>
            <a:r>
              <a:rPr lang="en-US" sz="1150" dirty="0">
                <a:solidFill>
                  <a:srgbClr val="E2E8F0"/>
                </a:solidFill>
                <a:latin typeface="Courier New" pitchFamily="34" charset="0"/>
                <a:ea typeface="Courier New" pitchFamily="34" charset="-122"/>
                <a:cs typeface="Courier New" pitchFamily="34" charset="-120"/>
              </a:rPr>
              <a:t>options = ClaudeAgentOptions(</a:t>
            </a:r>
            <a:endParaRPr lang="en-US" sz="1150" dirty="0"/>
          </a:p>
          <a:p>
            <a:pPr indent="0" marL="0">
              <a:lnSpc>
                <a:spcPct val="102000"/>
              </a:lnSpc>
              <a:buNone/>
            </a:pPr>
            <a:r>
              <a:rPr lang="en-US" sz="1150" dirty="0">
                <a:solidFill>
                  <a:srgbClr val="FCA5A5"/>
                </a:solidFill>
                <a:latin typeface="Courier New" pitchFamily="34" charset="0"/>
                <a:ea typeface="Courier New" pitchFamily="34" charset="-122"/>
                <a:cs typeface="Courier New" pitchFamily="34" charset="-120"/>
              </a:rPr>
              <a:t>  allowed_tools=["WebSearch","Task","Agent"],  # 1</a:t>
            </a:r>
            <a:endParaRPr lang="en-US" sz="1150" dirty="0"/>
          </a:p>
          <a:p>
            <a:pPr indent="0" marL="0">
              <a:lnSpc>
                <a:spcPct val="102000"/>
              </a:lnSpc>
              <a:buNone/>
            </a:pPr>
            <a:r>
              <a:rPr lang="en-US" sz="1150" dirty="0">
                <a:solidFill>
                  <a:srgbClr val="E2E8F0"/>
                </a:solidFill>
                <a:latin typeface="Courier New" pitchFamily="34" charset="0"/>
                <a:ea typeface="Courier New" pitchFamily="34" charset="-122"/>
                <a:cs typeface="Courier New" pitchFamily="34" charset="-120"/>
              </a:rPr>
              <a:t>  agents={</a:t>
            </a:r>
            <a:endParaRPr lang="en-US" sz="1150" dirty="0"/>
          </a:p>
          <a:p>
            <a:pPr indent="0" marL="0">
              <a:lnSpc>
                <a:spcPct val="102000"/>
              </a:lnSpc>
              <a:buNone/>
            </a:pPr>
            <a:r>
              <a:rPr lang="en-US" sz="1150" dirty="0">
                <a:solidFill>
                  <a:srgbClr val="A5B4FC"/>
                </a:solidFill>
                <a:latin typeface="Courier New" pitchFamily="34" charset="0"/>
                <a:ea typeface="Courier New" pitchFamily="34" charset="-122"/>
                <a:cs typeface="Courier New" pitchFamily="34" charset="-120"/>
              </a:rPr>
              <a:t>    "web-researcher": AgentDefinition(   # 2</a:t>
            </a:r>
            <a:endParaRPr lang="en-US" sz="1150" dirty="0"/>
          </a:p>
          <a:p>
            <a:pPr indent="0" marL="0">
              <a:lnSpc>
                <a:spcPct val="102000"/>
              </a:lnSpc>
              <a:buNone/>
            </a:pPr>
            <a:r>
              <a:rPr lang="en-US" sz="1150" dirty="0">
                <a:solidFill>
                  <a:srgbClr val="E2E8F0"/>
                </a:solidFill>
                <a:latin typeface="Courier New" pitchFamily="34" charset="0"/>
                <a:ea typeface="Courier New" pitchFamily="34" charset="-122"/>
                <a:cs typeface="Courier New" pitchFamily="34" charset="-120"/>
              </a:rPr>
              <a:t>      description="Searches ONE subtopic; cited.",</a:t>
            </a:r>
            <a:endParaRPr lang="en-US" sz="1150" dirty="0"/>
          </a:p>
          <a:p>
            <a:pPr indent="0" marL="0">
              <a:lnSpc>
                <a:spcPct val="102000"/>
              </a:lnSpc>
              <a:buNone/>
            </a:pPr>
            <a:r>
              <a:rPr lang="en-US" sz="1150" dirty="0">
                <a:solidFill>
                  <a:srgbClr val="E2E8F0"/>
                </a:solidFill>
                <a:latin typeface="Courier New" pitchFamily="34" charset="0"/>
                <a:ea typeface="Courier New" pitchFamily="34" charset="-122"/>
                <a:cs typeface="Courier New" pitchFamily="34" charset="-120"/>
              </a:rPr>
              <a:t>      prompt="Return claim+excerpt+URL+date...",</a:t>
            </a:r>
            <a:endParaRPr lang="en-US" sz="1150" dirty="0"/>
          </a:p>
          <a:p>
            <a:pPr indent="0" marL="0">
              <a:lnSpc>
                <a:spcPct val="102000"/>
              </a:lnSpc>
              <a:buNone/>
            </a:pPr>
            <a:r>
              <a:rPr lang="en-US" sz="1150" dirty="0">
                <a:solidFill>
                  <a:srgbClr val="5EEAD4"/>
                </a:solidFill>
                <a:latin typeface="Courier New" pitchFamily="34" charset="0"/>
                <a:ea typeface="Courier New" pitchFamily="34" charset="-122"/>
                <a:cs typeface="Courier New" pitchFamily="34" charset="-120"/>
              </a:rPr>
              <a:t>      tools=["WebSearch","Read"],   # 3 scoped</a:t>
            </a:r>
            <a:endParaRPr lang="en-US" sz="1150" dirty="0"/>
          </a:p>
          <a:p>
            <a:pPr indent="0" marL="0">
              <a:lnSpc>
                <a:spcPct val="102000"/>
              </a:lnSpc>
              <a:buNone/>
            </a:pPr>
            <a:r>
              <a:rPr lang="en-US" sz="1150" dirty="0">
                <a:solidFill>
                  <a:srgbClr val="E2E8F0"/>
                </a:solidFill>
                <a:latin typeface="Courier New" pitchFamily="34" charset="0"/>
                <a:ea typeface="Courier New" pitchFamily="34" charset="-122"/>
                <a:cs typeface="Courier New" pitchFamily="34" charset="-120"/>
              </a:rPr>
              <a:t>      model="sonnet", effort="medium"),</a:t>
            </a:r>
            <a:endParaRPr lang="en-US" sz="1150" dirty="0"/>
          </a:p>
          <a:p>
            <a:pPr indent="0" marL="0">
              <a:lnSpc>
                <a:spcPct val="102000"/>
              </a:lnSpc>
              <a:buNone/>
            </a:pPr>
            <a:r>
              <a:rPr lang="en-US" sz="1150" dirty="0">
                <a:solidFill>
                  <a:srgbClr val="A5B4FC"/>
                </a:solidFill>
                <a:latin typeface="Courier New" pitchFamily="34" charset="0"/>
                <a:ea typeface="Courier New" pitchFamily="34" charset="-122"/>
                <a:cs typeface="Courier New" pitchFamily="34" charset="-120"/>
              </a:rPr>
              <a:t>    "synthesizer": AgentDefinition(</a:t>
            </a:r>
            <a:endParaRPr lang="en-US" sz="1150" dirty="0"/>
          </a:p>
          <a:p>
            <a:pPr indent="0" marL="0">
              <a:lnSpc>
                <a:spcPct val="102000"/>
              </a:lnSpc>
              <a:buNone/>
            </a:pPr>
            <a:r>
              <a:rPr lang="en-US" sz="1150" dirty="0">
                <a:solidFill>
                  <a:srgbClr val="E2E8F0"/>
                </a:solidFill>
                <a:latin typeface="Courier New" pitchFamily="34" charset="0"/>
                <a:ea typeface="Courier New" pitchFamily="34" charset="-122"/>
                <a:cs typeface="Courier New" pitchFamily="34" charset="-120"/>
              </a:rPr>
              <a:t>      description="Combines findings into report.",</a:t>
            </a:r>
            <a:endParaRPr lang="en-US" sz="1150" dirty="0"/>
          </a:p>
          <a:p>
            <a:pPr indent="0" marL="0">
              <a:lnSpc>
                <a:spcPct val="102000"/>
              </a:lnSpc>
              <a:buNone/>
            </a:pPr>
            <a:r>
              <a:rPr lang="en-US" sz="1150" dirty="0">
                <a:solidFill>
                  <a:srgbClr val="5EEAD4"/>
                </a:solidFill>
                <a:latin typeface="Courier New" pitchFamily="34" charset="0"/>
                <a:ea typeface="Courier New" pitchFamily="34" charset="-122"/>
                <a:cs typeface="Courier New" pitchFamily="34" charset="-120"/>
              </a:rPr>
              <a:t>      tools=["Read"]),   # scoped: no web</a:t>
            </a:r>
            <a:endParaRPr lang="en-US" sz="1150" dirty="0"/>
          </a:p>
          <a:p>
            <a:pPr indent="0" marL="0">
              <a:lnSpc>
                <a:spcPct val="102000"/>
              </a:lnSpc>
              <a:buNone/>
            </a:pPr>
            <a:r>
              <a:rPr lang="en-US" sz="1150" dirty="0">
                <a:solidFill>
                  <a:srgbClr val="E2E8F0"/>
                </a:solidFill>
                <a:latin typeface="Courier New" pitchFamily="34" charset="0"/>
                <a:ea typeface="Courier New" pitchFamily="34" charset="-122"/>
                <a:cs typeface="Courier New" pitchFamily="34" charset="-120"/>
              </a:rPr>
              <a:t>  })</a:t>
            </a:r>
            <a:endParaRPr lang="en-US" sz="1150" dirty="0"/>
          </a:p>
        </p:txBody>
      </p:sp>
      <p:sp>
        <p:nvSpPr>
          <p:cNvPr id="7" name="Shape 5"/>
          <p:cNvSpPr/>
          <p:nvPr/>
        </p:nvSpPr>
        <p:spPr>
          <a:xfrm>
            <a:off x="7726680" y="1417320"/>
            <a:ext cx="3886200" cy="1371600"/>
          </a:xfrm>
          <a:prstGeom prst="roundRect">
            <a:avLst>
              <a:gd name="adj" fmla="val 4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8" name="Shape 6"/>
          <p:cNvSpPr/>
          <p:nvPr/>
        </p:nvSpPr>
        <p:spPr>
          <a:xfrm>
            <a:off x="7882128" y="1600200"/>
            <a:ext cx="457200" cy="457200"/>
          </a:xfrm>
          <a:prstGeom prst="ellipse">
            <a:avLst/>
          </a:prstGeom>
          <a:solidFill>
            <a:srgbClr val="F43F5E"/>
          </a:solidFill>
          <a:ln/>
        </p:spPr>
      </p:sp>
      <p:sp>
        <p:nvSpPr>
          <p:cNvPr id="9" name="Text 7"/>
          <p:cNvSpPr/>
          <p:nvPr/>
        </p:nvSpPr>
        <p:spPr>
          <a:xfrm>
            <a:off x="7882128" y="160020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8458200" y="1618488"/>
            <a:ext cx="3017520" cy="411480"/>
          </a:xfrm>
          <a:prstGeom prst="rect">
            <a:avLst/>
          </a:prstGeom>
          <a:noFill/>
          <a:ln/>
        </p:spPr>
        <p:txBody>
          <a:bodyPr wrap="square" lIns="0" tIns="0" rIns="0" bIns="0" rtlCol="0" anchor="ctr"/>
          <a:lstStyle/>
          <a:p>
            <a:pPr indent="0" marL="0">
              <a:buNone/>
            </a:pPr>
            <a:r>
              <a:rPr lang="en-US" sz="1300" b="1" dirty="0">
                <a:solidFill>
                  <a:srgbClr val="12132E"/>
                </a:solidFill>
                <a:latin typeface="Calibri" pitchFamily="34" charset="0"/>
                <a:ea typeface="Calibri" pitchFamily="34" charset="-122"/>
                <a:cs typeface="Calibri" pitchFamily="34" charset="-120"/>
              </a:rPr>
              <a:t>Include the spawn tool</a:t>
            </a:r>
            <a:endParaRPr lang="en-US" sz="1300" dirty="0"/>
          </a:p>
        </p:txBody>
      </p:sp>
      <p:sp>
        <p:nvSpPr>
          <p:cNvPr id="11" name="Text 9"/>
          <p:cNvSpPr/>
          <p:nvPr/>
        </p:nvSpPr>
        <p:spPr>
          <a:xfrm>
            <a:off x="7882128" y="2093976"/>
            <a:ext cx="3566160" cy="640080"/>
          </a:xfrm>
          <a:prstGeom prst="rect">
            <a:avLst/>
          </a:prstGeom>
          <a:noFill/>
          <a:ln/>
        </p:spPr>
        <p:txBody>
          <a:bodyPr wrap="square" lIns="0" tIns="0" rIns="0" bIns="0" rtlCol="0" anchor="ctr"/>
          <a:lstStyle/>
          <a:p>
            <a:pPr indent="0" marL="0">
              <a:lnSpc>
                <a:spcPct val="104000"/>
              </a:lnSpc>
              <a:buNone/>
            </a:pPr>
            <a:r>
              <a:rPr lang="en-US" sz="1100" dirty="0">
                <a:solidFill>
                  <a:srgbClr val="64748B"/>
                </a:solidFill>
                <a:latin typeface="Calibri" pitchFamily="34" charset="0"/>
                <a:ea typeface="Calibri" pitchFamily="34" charset="-122"/>
                <a:cs typeface="Calibri" pitchFamily="34" charset="-120"/>
              </a:rPr>
              <a:t>Coordinator allowed_tools MUST list Task/Agent.</a:t>
            </a:r>
            <a:endParaRPr lang="en-US" sz="1100" dirty="0"/>
          </a:p>
        </p:txBody>
      </p:sp>
      <p:sp>
        <p:nvSpPr>
          <p:cNvPr id="12" name="Shape 10"/>
          <p:cNvSpPr/>
          <p:nvPr/>
        </p:nvSpPr>
        <p:spPr>
          <a:xfrm>
            <a:off x="7726680" y="2971800"/>
            <a:ext cx="3886200" cy="1371600"/>
          </a:xfrm>
          <a:prstGeom prst="roundRect">
            <a:avLst>
              <a:gd name="adj" fmla="val 4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3" name="Shape 11"/>
          <p:cNvSpPr/>
          <p:nvPr/>
        </p:nvSpPr>
        <p:spPr>
          <a:xfrm>
            <a:off x="7882128" y="3154680"/>
            <a:ext cx="457200" cy="457200"/>
          </a:xfrm>
          <a:prstGeom prst="ellipse">
            <a:avLst/>
          </a:prstGeom>
          <a:solidFill>
            <a:srgbClr val="4F46E5"/>
          </a:solidFill>
          <a:ln/>
        </p:spPr>
      </p:sp>
      <p:sp>
        <p:nvSpPr>
          <p:cNvPr id="14" name="Text 12"/>
          <p:cNvSpPr/>
          <p:nvPr/>
        </p:nvSpPr>
        <p:spPr>
          <a:xfrm>
            <a:off x="7882128" y="31546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3"/>
          <p:cNvSpPr/>
          <p:nvPr/>
        </p:nvSpPr>
        <p:spPr>
          <a:xfrm>
            <a:off x="8458200" y="3172968"/>
            <a:ext cx="3017520" cy="411480"/>
          </a:xfrm>
          <a:prstGeom prst="rect">
            <a:avLst/>
          </a:prstGeom>
          <a:noFill/>
          <a:ln/>
        </p:spPr>
        <p:txBody>
          <a:bodyPr wrap="square" lIns="0" tIns="0" rIns="0" bIns="0" rtlCol="0" anchor="ctr"/>
          <a:lstStyle/>
          <a:p>
            <a:pPr indent="0" marL="0">
              <a:buNone/>
            </a:pPr>
            <a:r>
              <a:rPr lang="en-US" sz="1300" b="1" dirty="0">
                <a:solidFill>
                  <a:srgbClr val="12132E"/>
                </a:solidFill>
                <a:latin typeface="Calibri" pitchFamily="34" charset="0"/>
                <a:ea typeface="Calibri" pitchFamily="34" charset="-122"/>
                <a:cs typeface="Calibri" pitchFamily="34" charset="-120"/>
              </a:rPr>
              <a:t>AgentDefinition</a:t>
            </a:r>
            <a:endParaRPr lang="en-US" sz="1300" dirty="0"/>
          </a:p>
        </p:txBody>
      </p:sp>
      <p:sp>
        <p:nvSpPr>
          <p:cNvPr id="16" name="Text 14"/>
          <p:cNvSpPr/>
          <p:nvPr/>
        </p:nvSpPr>
        <p:spPr>
          <a:xfrm>
            <a:off x="7882128" y="3648456"/>
            <a:ext cx="3566160" cy="640080"/>
          </a:xfrm>
          <a:prstGeom prst="rect">
            <a:avLst/>
          </a:prstGeom>
          <a:noFill/>
          <a:ln/>
        </p:spPr>
        <p:txBody>
          <a:bodyPr wrap="square" lIns="0" tIns="0" rIns="0" bIns="0" rtlCol="0" anchor="ctr"/>
          <a:lstStyle/>
          <a:p>
            <a:pPr indent="0" marL="0">
              <a:lnSpc>
                <a:spcPct val="104000"/>
              </a:lnSpc>
              <a:buNone/>
            </a:pPr>
            <a:r>
              <a:rPr lang="en-US" sz="1100" dirty="0">
                <a:solidFill>
                  <a:srgbClr val="64748B"/>
                </a:solidFill>
                <a:latin typeface="Calibri" pitchFamily="34" charset="0"/>
                <a:ea typeface="Calibri" pitchFamily="34" charset="-122"/>
                <a:cs typeface="Calibri" pitchFamily="34" charset="-120"/>
              </a:rPr>
              <a:t>description, prompt, tools, model, effort, skills, mcpServers.</a:t>
            </a:r>
            <a:endParaRPr lang="en-US" sz="1100" dirty="0"/>
          </a:p>
        </p:txBody>
      </p:sp>
      <p:sp>
        <p:nvSpPr>
          <p:cNvPr id="17" name="Shape 15"/>
          <p:cNvSpPr/>
          <p:nvPr/>
        </p:nvSpPr>
        <p:spPr>
          <a:xfrm>
            <a:off x="7726680" y="4526280"/>
            <a:ext cx="3886200" cy="1371600"/>
          </a:xfrm>
          <a:prstGeom prst="roundRect">
            <a:avLst>
              <a:gd name="adj" fmla="val 4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8" name="Shape 16"/>
          <p:cNvSpPr/>
          <p:nvPr/>
        </p:nvSpPr>
        <p:spPr>
          <a:xfrm>
            <a:off x="7882128" y="4709160"/>
            <a:ext cx="457200" cy="457200"/>
          </a:xfrm>
          <a:prstGeom prst="ellipse">
            <a:avLst/>
          </a:prstGeom>
          <a:solidFill>
            <a:srgbClr val="14B8A6"/>
          </a:solidFill>
          <a:ln/>
        </p:spPr>
      </p:sp>
      <p:sp>
        <p:nvSpPr>
          <p:cNvPr id="19" name="Text 17"/>
          <p:cNvSpPr/>
          <p:nvPr/>
        </p:nvSpPr>
        <p:spPr>
          <a:xfrm>
            <a:off x="7882128" y="47091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8458200" y="4727448"/>
            <a:ext cx="3017520" cy="411480"/>
          </a:xfrm>
          <a:prstGeom prst="rect">
            <a:avLst/>
          </a:prstGeom>
          <a:noFill/>
          <a:ln/>
        </p:spPr>
        <p:txBody>
          <a:bodyPr wrap="square" lIns="0" tIns="0" rIns="0" bIns="0" rtlCol="0" anchor="ctr"/>
          <a:lstStyle/>
          <a:p>
            <a:pPr indent="0" marL="0">
              <a:buNone/>
            </a:pPr>
            <a:r>
              <a:rPr lang="en-US" sz="1300" b="1" dirty="0">
                <a:solidFill>
                  <a:srgbClr val="12132E"/>
                </a:solidFill>
                <a:latin typeface="Calibri" pitchFamily="34" charset="0"/>
                <a:ea typeface="Calibri" pitchFamily="34" charset="-122"/>
                <a:cs typeface="Calibri" pitchFamily="34" charset="-120"/>
              </a:rPr>
              <a:t>Scope per role</a:t>
            </a:r>
            <a:endParaRPr lang="en-US" sz="1300" dirty="0"/>
          </a:p>
        </p:txBody>
      </p:sp>
      <p:sp>
        <p:nvSpPr>
          <p:cNvPr id="21" name="Text 19"/>
          <p:cNvSpPr/>
          <p:nvPr/>
        </p:nvSpPr>
        <p:spPr>
          <a:xfrm>
            <a:off x="7882128" y="5202936"/>
            <a:ext cx="3566160" cy="640080"/>
          </a:xfrm>
          <a:prstGeom prst="rect">
            <a:avLst/>
          </a:prstGeom>
          <a:noFill/>
          <a:ln/>
        </p:spPr>
        <p:txBody>
          <a:bodyPr wrap="square" lIns="0" tIns="0" rIns="0" bIns="0" rtlCol="0" anchor="ctr"/>
          <a:lstStyle/>
          <a:p>
            <a:pPr indent="0" marL="0">
              <a:lnSpc>
                <a:spcPct val="104000"/>
              </a:lnSpc>
              <a:buNone/>
            </a:pPr>
            <a:r>
              <a:rPr lang="en-US" sz="1100" dirty="0">
                <a:solidFill>
                  <a:srgbClr val="64748B"/>
                </a:solidFill>
                <a:latin typeface="Calibri" pitchFamily="34" charset="0"/>
                <a:ea typeface="Calibri" pitchFamily="34" charset="-122"/>
                <a:cs typeface="Calibri" pitchFamily="34" charset="-120"/>
              </a:rPr>
              <a:t>Researcher searches; synthesizer can only Read.</a:t>
            </a:r>
            <a:endParaRPr lang="en-US" sz="1100" dirty="0"/>
          </a:p>
        </p:txBody>
      </p:sp>
      <p:sp>
        <p:nvSpPr>
          <p:cNvPr id="22" name="Text 20"/>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23" name="Text 21"/>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24" name="Text 22"/>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TASK 1.3 · CRITICAL</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Subagents run with isolated context</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subagents#what-subagents-inherit</a:t>
            </a:r>
            <a:endParaRPr lang="en-US" sz="1050" dirty="0"/>
          </a:p>
        </p:txBody>
      </p:sp>
      <p:sp>
        <p:nvSpPr>
          <p:cNvPr id="5" name="Text 3"/>
          <p:cNvSpPr/>
          <p:nvPr/>
        </p:nvSpPr>
        <p:spPr>
          <a:xfrm>
            <a:off x="548640" y="1371600"/>
            <a:ext cx="11064240" cy="822960"/>
          </a:xfrm>
          <a:prstGeom prst="rect">
            <a:avLst/>
          </a:prstGeom>
          <a:noFill/>
          <a:ln/>
        </p:spPr>
        <p:txBody>
          <a:bodyPr wrap="square" lIns="0" tIns="0" rIns="0" bIns="0" rtlCol="0" anchor="ctr"/>
          <a:lstStyle/>
          <a:p>
            <a:pPr indent="0" marL="0">
              <a:lnSpc>
                <a:spcPct val="106000"/>
              </a:lnSpc>
              <a:buNone/>
            </a:pPr>
            <a:r>
              <a:rPr lang="en-US" sz="1450" dirty="0">
                <a:solidFill>
                  <a:srgbClr val="1E293B"/>
                </a:solidFill>
                <a:latin typeface="Calibri" pitchFamily="34" charset="0"/>
                <a:ea typeface="Calibri" pitchFamily="34" charset="-122"/>
                <a:cs typeface="Calibri" pitchFamily="34" charset="-120"/>
              </a:rPr>
              <a:t>A subagent starts a FRESH conversation. The only channel from parent to child is the spawn prompt string — pass every file path, finding, and decision it needs directly in that prompt. Only the subagent's final message returns to the parent.</a:t>
            </a:r>
            <a:endParaRPr lang="en-US" sz="1450" dirty="0"/>
          </a:p>
        </p:txBody>
      </p:sp>
      <p:sp>
        <p:nvSpPr>
          <p:cNvPr id="6" name="Shape 4"/>
          <p:cNvSpPr/>
          <p:nvPr/>
        </p:nvSpPr>
        <p:spPr>
          <a:xfrm>
            <a:off x="548640" y="2377440"/>
            <a:ext cx="5394960" cy="2697480"/>
          </a:xfrm>
          <a:prstGeom prst="roundRect">
            <a:avLst>
              <a:gd name="adj" fmla="val 2034"/>
            </a:avLst>
          </a:prstGeom>
          <a:solidFill>
            <a:srgbClr val="ECFDF5"/>
          </a:solidFill>
          <a:ln/>
          <a:effectLst>
            <a:outerShdw sx="100000" sy="100000" kx="0" ky="0" algn="bl" rotWithShape="0" blurRad="88900" dist="38100" dir="5400000">
              <a:srgbClr val="000000">
                <a:alpha val="16000"/>
              </a:srgbClr>
            </a:outerShdw>
          </a:effectLst>
        </p:spPr>
      </p:sp>
      <p:sp>
        <p:nvSpPr>
          <p:cNvPr id="7" name="Shape 5"/>
          <p:cNvSpPr/>
          <p:nvPr/>
        </p:nvSpPr>
        <p:spPr>
          <a:xfrm>
            <a:off x="777240" y="2606040"/>
            <a:ext cx="566928" cy="566928"/>
          </a:xfrm>
          <a:prstGeom prst="ellipse">
            <a:avLst/>
          </a:prstGeom>
          <a:solidFill>
            <a:srgbClr val="14B8A6"/>
          </a:solidFill>
          <a:ln/>
          <a:effectLst>
            <a:outerShdw sx="100000" sy="100000" kx="0" ky="0" algn="bl" rotWithShape="0" blurRad="88900" dist="38100" dir="5400000">
              <a:srgbClr val="000000">
                <a:alpha val="16000"/>
              </a:srgbClr>
            </a:outerShdw>
          </a:effectLst>
        </p:spPr>
      </p:sp>
      <p:pic>
        <p:nvPicPr>
          <p:cNvPr id="8" name="Image 0" descr="preencoded.png">    </p:cNvPr>
          <p:cNvPicPr>
            <a:picLocks noChangeAspect="1"/>
          </p:cNvPicPr>
          <p:nvPr/>
        </p:nvPicPr>
        <p:blipFill>
          <a:blip r:embed="rId1"/>
          <a:stretch>
            <a:fillRect/>
          </a:stretch>
        </p:blipFill>
        <p:spPr>
          <a:xfrm>
            <a:off x="924641" y="2753441"/>
            <a:ext cx="272125" cy="272125"/>
          </a:xfrm>
          <a:prstGeom prst="rect">
            <a:avLst/>
          </a:prstGeom>
        </p:spPr>
      </p:pic>
      <p:sp>
        <p:nvSpPr>
          <p:cNvPr id="9" name="Text 6"/>
          <p:cNvSpPr/>
          <p:nvPr/>
        </p:nvSpPr>
        <p:spPr>
          <a:xfrm>
            <a:off x="1463040" y="2651760"/>
            <a:ext cx="4114800" cy="457200"/>
          </a:xfrm>
          <a:prstGeom prst="rect">
            <a:avLst/>
          </a:prstGeom>
          <a:noFill/>
          <a:ln/>
        </p:spPr>
        <p:txBody>
          <a:bodyPr wrap="square" lIns="0" tIns="0" rIns="0" bIns="0" rtlCol="0" anchor="ctr"/>
          <a:lstStyle/>
          <a:p>
            <a:pPr indent="0" marL="0">
              <a:buNone/>
            </a:pPr>
            <a:r>
              <a:rPr lang="en-US" sz="1600" b="1" dirty="0">
                <a:solidFill>
                  <a:srgbClr val="047857"/>
                </a:solidFill>
                <a:latin typeface="Calibri" pitchFamily="34" charset="0"/>
                <a:ea typeface="Calibri" pitchFamily="34" charset="-122"/>
                <a:cs typeface="Calibri" pitchFamily="34" charset="-120"/>
              </a:rPr>
              <a:t>Subagent RECEIVES</a:t>
            </a:r>
            <a:endParaRPr lang="en-US" sz="1600" dirty="0"/>
          </a:p>
        </p:txBody>
      </p:sp>
      <p:sp>
        <p:nvSpPr>
          <p:cNvPr id="10" name="Text 7"/>
          <p:cNvSpPr/>
          <p:nvPr/>
        </p:nvSpPr>
        <p:spPr>
          <a:xfrm>
            <a:off x="914400" y="3246120"/>
            <a:ext cx="4846320" cy="173736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1E293B"/>
                </a:solidFill>
                <a:latin typeface="Calibri" pitchFamily="34" charset="0"/>
                <a:ea typeface="Calibri" pitchFamily="34" charset="-122"/>
                <a:cs typeface="Calibri" pitchFamily="34" charset="-120"/>
              </a:rPr>
              <a:t>Its own system prompt (AgentDefinition.prompt)</a:t>
            </a:r>
            <a:endParaRPr lang="en-US" sz="1250" dirty="0"/>
          </a:p>
          <a:p>
            <a:pPr marL="342900" indent="-342900">
              <a:spcAft>
                <a:spcPts val="700"/>
              </a:spcAft>
              <a:buSzPct val="100000"/>
              <a:buChar char="•"/>
            </a:pPr>
            <a:r>
              <a:rPr lang="en-US" sz="1250" dirty="0">
                <a:solidFill>
                  <a:srgbClr val="1E293B"/>
                </a:solidFill>
                <a:latin typeface="Calibri" pitchFamily="34" charset="0"/>
                <a:ea typeface="Calibri" pitchFamily="34" charset="-122"/>
                <a:cs typeface="Calibri" pitchFamily="34" charset="-120"/>
              </a:rPr>
              <a:t>The spawn prompt string from the parent</a:t>
            </a:r>
            <a:endParaRPr lang="en-US" sz="1250" dirty="0"/>
          </a:p>
          <a:p>
            <a:pPr marL="342900" indent="-342900">
              <a:spcAft>
                <a:spcPts val="700"/>
              </a:spcAft>
              <a:buSzPct val="100000"/>
              <a:buChar char="•"/>
            </a:pPr>
            <a:r>
              <a:rPr lang="en-US" sz="1250" dirty="0">
                <a:solidFill>
                  <a:srgbClr val="1E293B"/>
                </a:solidFill>
                <a:latin typeface="Calibri" pitchFamily="34" charset="0"/>
                <a:ea typeface="Calibri" pitchFamily="34" charset="-122"/>
                <a:cs typeface="Calibri" pitchFamily="34" charset="-120"/>
              </a:rPr>
              <a:t>Tool definitions (all, or the scoped subset)</a:t>
            </a:r>
            <a:endParaRPr lang="en-US" sz="1250" dirty="0"/>
          </a:p>
          <a:p>
            <a:pPr marL="342900" indent="-342900">
              <a:spcAft>
                <a:spcPts val="700"/>
              </a:spcAft>
              <a:buSzPct val="100000"/>
              <a:buChar char="•"/>
            </a:pPr>
            <a:r>
              <a:rPr lang="en-US" sz="1250" dirty="0">
                <a:solidFill>
                  <a:srgbClr val="1E293B"/>
                </a:solidFill>
                <a:latin typeface="Calibri" pitchFamily="34" charset="0"/>
                <a:ea typeface="Calibri" pitchFamily="34" charset="-122"/>
                <a:cs typeface="Calibri" pitchFamily="34" charset="-120"/>
              </a:rPr>
              <a:t>Project CLAUDE.md (if setting sources enabled)</a:t>
            </a:r>
            <a:endParaRPr lang="en-US" sz="1250" dirty="0"/>
          </a:p>
        </p:txBody>
      </p:sp>
      <p:sp>
        <p:nvSpPr>
          <p:cNvPr id="11" name="Shape 8"/>
          <p:cNvSpPr/>
          <p:nvPr/>
        </p:nvSpPr>
        <p:spPr>
          <a:xfrm>
            <a:off x="6217920" y="2377440"/>
            <a:ext cx="5394960" cy="2697480"/>
          </a:xfrm>
          <a:prstGeom prst="roundRect">
            <a:avLst>
              <a:gd name="adj" fmla="val 2034"/>
            </a:avLst>
          </a:prstGeom>
          <a:solidFill>
            <a:srgbClr val="FEF2F2"/>
          </a:solidFill>
          <a:ln/>
          <a:effectLst>
            <a:outerShdw sx="100000" sy="100000" kx="0" ky="0" algn="bl" rotWithShape="0" blurRad="88900" dist="38100" dir="5400000">
              <a:srgbClr val="000000">
                <a:alpha val="16000"/>
              </a:srgbClr>
            </a:outerShdw>
          </a:effectLst>
        </p:spPr>
      </p:sp>
      <p:sp>
        <p:nvSpPr>
          <p:cNvPr id="12" name="Shape 9"/>
          <p:cNvSpPr/>
          <p:nvPr/>
        </p:nvSpPr>
        <p:spPr>
          <a:xfrm>
            <a:off x="6446520" y="2606040"/>
            <a:ext cx="566928" cy="566928"/>
          </a:xfrm>
          <a:prstGeom prst="ellipse">
            <a:avLst/>
          </a:prstGeom>
          <a:solidFill>
            <a:srgbClr val="F43F5E"/>
          </a:solidFill>
          <a:ln/>
          <a:effectLst>
            <a:outerShdw sx="100000" sy="100000" kx="0" ky="0" algn="bl" rotWithShape="0" blurRad="88900" dist="38100" dir="5400000">
              <a:srgbClr val="000000">
                <a:alpha val="16000"/>
              </a:srgbClr>
            </a:outerShdw>
          </a:effectLst>
        </p:spPr>
      </p:sp>
      <p:pic>
        <p:nvPicPr>
          <p:cNvPr id="13" name="Image 1" descr="preencoded.png">    </p:cNvPr>
          <p:cNvPicPr>
            <a:picLocks noChangeAspect="1"/>
          </p:cNvPicPr>
          <p:nvPr/>
        </p:nvPicPr>
        <p:blipFill>
          <a:blip r:embed="rId2"/>
          <a:stretch>
            <a:fillRect/>
          </a:stretch>
        </p:blipFill>
        <p:spPr>
          <a:xfrm>
            <a:off x="6593921" y="2753441"/>
            <a:ext cx="272125" cy="272125"/>
          </a:xfrm>
          <a:prstGeom prst="rect">
            <a:avLst/>
          </a:prstGeom>
        </p:spPr>
      </p:pic>
      <p:sp>
        <p:nvSpPr>
          <p:cNvPr id="14" name="Text 10"/>
          <p:cNvSpPr/>
          <p:nvPr/>
        </p:nvSpPr>
        <p:spPr>
          <a:xfrm>
            <a:off x="7132320" y="2651760"/>
            <a:ext cx="4297680" cy="457200"/>
          </a:xfrm>
          <a:prstGeom prst="rect">
            <a:avLst/>
          </a:prstGeom>
          <a:noFill/>
          <a:ln/>
        </p:spPr>
        <p:txBody>
          <a:bodyPr wrap="square" lIns="0" tIns="0" rIns="0" bIns="0" rtlCol="0" anchor="ctr"/>
          <a:lstStyle/>
          <a:p>
            <a:pPr indent="0" marL="0">
              <a:buNone/>
            </a:pPr>
            <a:r>
              <a:rPr lang="en-US" sz="1600" b="1" dirty="0">
                <a:solidFill>
                  <a:srgbClr val="B91C1C"/>
                </a:solidFill>
                <a:latin typeface="Calibri" pitchFamily="34" charset="0"/>
                <a:ea typeface="Calibri" pitchFamily="34" charset="-122"/>
                <a:cs typeface="Calibri" pitchFamily="34" charset="-120"/>
              </a:rPr>
              <a:t>Subagent does NOT receive</a:t>
            </a:r>
            <a:endParaRPr lang="en-US" sz="1600" dirty="0"/>
          </a:p>
        </p:txBody>
      </p:sp>
      <p:sp>
        <p:nvSpPr>
          <p:cNvPr id="15" name="Text 11"/>
          <p:cNvSpPr/>
          <p:nvPr/>
        </p:nvSpPr>
        <p:spPr>
          <a:xfrm>
            <a:off x="6583680" y="3246120"/>
            <a:ext cx="4846320" cy="1737360"/>
          </a:xfrm>
          <a:prstGeom prst="rect">
            <a:avLst/>
          </a:prstGeom>
          <a:noFill/>
          <a:ln/>
        </p:spPr>
        <p:txBody>
          <a:bodyPr wrap="square" lIns="0" tIns="0" rIns="0" bIns="0" rtlCol="0" anchor="ctr"/>
          <a:lstStyle/>
          <a:p>
            <a:pPr marL="342900" indent="-342900">
              <a:spcAft>
                <a:spcPts val="700"/>
              </a:spcAft>
              <a:buSzPct val="100000"/>
              <a:buChar char="•"/>
            </a:pPr>
            <a:r>
              <a:rPr lang="en-US" sz="1250" dirty="0">
                <a:solidFill>
                  <a:srgbClr val="1E293B"/>
                </a:solidFill>
                <a:latin typeface="Calibri" pitchFamily="34" charset="0"/>
                <a:ea typeface="Calibri" pitchFamily="34" charset="-122"/>
                <a:cs typeface="Calibri" pitchFamily="34" charset="-120"/>
              </a:rPr>
              <a:t>The parent's conversation history or tool results</a:t>
            </a:r>
            <a:endParaRPr lang="en-US" sz="1250" dirty="0"/>
          </a:p>
          <a:p>
            <a:pPr marL="342900" indent="-342900">
              <a:spcAft>
                <a:spcPts val="700"/>
              </a:spcAft>
              <a:buSzPct val="100000"/>
              <a:buChar char="•"/>
            </a:pPr>
            <a:r>
              <a:rPr lang="en-US" sz="1250" dirty="0">
                <a:solidFill>
                  <a:srgbClr val="1E293B"/>
                </a:solidFill>
                <a:latin typeface="Calibri" pitchFamily="34" charset="0"/>
                <a:ea typeface="Calibri" pitchFamily="34" charset="-122"/>
                <a:cs typeface="Calibri" pitchFamily="34" charset="-120"/>
              </a:rPr>
              <a:t>The parent's system prompt</a:t>
            </a:r>
            <a:endParaRPr lang="en-US" sz="1250" dirty="0"/>
          </a:p>
          <a:p>
            <a:pPr marL="342900" indent="-342900">
              <a:spcAft>
                <a:spcPts val="700"/>
              </a:spcAft>
              <a:buSzPct val="100000"/>
              <a:buChar char="•"/>
            </a:pPr>
            <a:r>
              <a:rPr lang="en-US" sz="1250" dirty="0">
                <a:solidFill>
                  <a:srgbClr val="1E293B"/>
                </a:solidFill>
                <a:latin typeface="Calibri" pitchFamily="34" charset="0"/>
                <a:ea typeface="Calibri" pitchFamily="34" charset="-122"/>
                <a:cs typeface="Calibri" pitchFamily="34" charset="-120"/>
              </a:rPr>
              <a:t>Skills (unless listed in the definition)</a:t>
            </a:r>
            <a:endParaRPr lang="en-US" sz="1250" dirty="0"/>
          </a:p>
          <a:p>
            <a:pPr marL="342900" indent="-342900">
              <a:spcAft>
                <a:spcPts val="700"/>
              </a:spcAft>
              <a:buSzPct val="100000"/>
              <a:buChar char="•"/>
            </a:pPr>
            <a:r>
              <a:rPr lang="en-US" sz="1250" dirty="0">
                <a:solidFill>
                  <a:srgbClr val="1E293B"/>
                </a:solidFill>
                <a:latin typeface="Calibri" pitchFamily="34" charset="0"/>
                <a:ea typeface="Calibri" pitchFamily="34" charset="-122"/>
                <a:cs typeface="Calibri" pitchFamily="34" charset="-120"/>
              </a:rPr>
              <a:t>Any shared live memory between invocations</a:t>
            </a:r>
            <a:endParaRPr lang="en-US" sz="1250" dirty="0"/>
          </a:p>
        </p:txBody>
      </p:sp>
      <p:sp>
        <p:nvSpPr>
          <p:cNvPr id="16" name="Text 12"/>
          <p:cNvSpPr/>
          <p:nvPr/>
        </p:nvSpPr>
        <p:spPr>
          <a:xfrm>
            <a:off x="548640" y="5257800"/>
            <a:ext cx="11064240" cy="502920"/>
          </a:xfrm>
          <a:prstGeom prst="rect">
            <a:avLst/>
          </a:prstGeom>
          <a:noFill/>
          <a:ln/>
        </p:spPr>
        <p:txBody>
          <a:bodyPr wrap="square" lIns="0" tIns="0" rIns="0" bIns="0" rtlCol="0" anchor="ctr"/>
          <a:lstStyle/>
          <a:p>
            <a:pPr indent="0" marL="0">
              <a:lnSpc>
                <a:spcPct val="104000"/>
              </a:lnSpc>
              <a:buNone/>
            </a:pPr>
            <a:r>
              <a:rPr lang="en-US" sz="1250" i="1" dirty="0">
                <a:solidFill>
                  <a:srgbClr val="4F46E5"/>
                </a:solidFill>
                <a:latin typeface="Calibri" pitchFamily="34" charset="0"/>
                <a:ea typeface="Calibri" pitchFamily="34" charset="-122"/>
                <a:cs typeface="Calibri" pitchFamily="34" charset="-120"/>
              </a:rPr>
              <a:t>Context isolation is the FEATURE: a subagent can read 30 files and only a concise summary returns — the parent's context stays lean. Subagents also cannot spawn their own subagents.</a:t>
            </a:r>
            <a:endParaRPr lang="en-US" sz="1250" dirty="0"/>
          </a:p>
        </p:txBody>
      </p:sp>
      <p:sp>
        <p:nvSpPr>
          <p:cNvPr id="17" name="Text 13"/>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18" name="Text 14"/>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19" name="Text 15"/>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TASK 1.3 · GOTCHA</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Spawning: the Task→Agent rename + parallelism</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subagents#detecting-subagent-invocation</a:t>
            </a:r>
            <a:endParaRPr lang="en-US" sz="1050" dirty="0"/>
          </a:p>
        </p:txBody>
      </p:sp>
      <p:sp>
        <p:nvSpPr>
          <p:cNvPr id="5" name="Shape 3"/>
          <p:cNvSpPr/>
          <p:nvPr/>
        </p:nvSpPr>
        <p:spPr>
          <a:xfrm>
            <a:off x="548640" y="1371600"/>
            <a:ext cx="11064240" cy="1371600"/>
          </a:xfrm>
          <a:prstGeom prst="roundRect">
            <a:avLst>
              <a:gd name="adj" fmla="val 4000"/>
            </a:avLst>
          </a:prstGeom>
          <a:solidFill>
            <a:srgbClr val="FFFBEB"/>
          </a:solidFill>
          <a:ln/>
          <a:effectLst>
            <a:outerShdw sx="100000" sy="100000" kx="0" ky="0" algn="bl" rotWithShape="0" blurRad="88900" dist="38100" dir="5400000">
              <a:srgbClr val="000000">
                <a:alpha val="16000"/>
              </a:srgbClr>
            </a:outerShdw>
          </a:effectLst>
        </p:spPr>
      </p:sp>
      <p:sp>
        <p:nvSpPr>
          <p:cNvPr id="6" name="Shape 4"/>
          <p:cNvSpPr/>
          <p:nvPr/>
        </p:nvSpPr>
        <p:spPr>
          <a:xfrm>
            <a:off x="777240" y="1600200"/>
            <a:ext cx="685800" cy="685800"/>
          </a:xfrm>
          <a:prstGeom prst="ellipse">
            <a:avLst/>
          </a:prstGeom>
          <a:solidFill>
            <a:srgbClr val="F59E0B"/>
          </a:solidFill>
          <a:ln/>
          <a:effectLst>
            <a:outerShdw sx="100000" sy="100000" kx="0" ky="0" algn="bl" rotWithShape="0" blurRad="88900" dist="38100" dir="5400000">
              <a:srgbClr val="000000">
                <a:alpha val="16000"/>
              </a:srgbClr>
            </a:outerShdw>
          </a:effectLst>
        </p:spPr>
      </p:sp>
      <p:pic>
        <p:nvPicPr>
          <p:cNvPr id="7" name="Image 0" descr="preencoded.png">    </p:cNvPr>
          <p:cNvPicPr>
            <a:picLocks noChangeAspect="1"/>
          </p:cNvPicPr>
          <p:nvPr/>
        </p:nvPicPr>
        <p:blipFill>
          <a:blip r:embed="rId1"/>
          <a:stretch>
            <a:fillRect/>
          </a:stretch>
        </p:blipFill>
        <p:spPr>
          <a:xfrm>
            <a:off x="955548" y="1778508"/>
            <a:ext cx="329184" cy="329184"/>
          </a:xfrm>
          <a:prstGeom prst="rect">
            <a:avLst/>
          </a:prstGeom>
        </p:spPr>
      </p:pic>
      <p:sp>
        <p:nvSpPr>
          <p:cNvPr id="8" name="Text 5"/>
          <p:cNvSpPr/>
          <p:nvPr/>
        </p:nvSpPr>
        <p:spPr>
          <a:xfrm>
            <a:off x="1691640" y="1581912"/>
            <a:ext cx="4572000" cy="411480"/>
          </a:xfrm>
          <a:prstGeom prst="rect">
            <a:avLst/>
          </a:prstGeom>
          <a:noFill/>
          <a:ln/>
        </p:spPr>
        <p:txBody>
          <a:bodyPr wrap="square" lIns="0" tIns="0" rIns="0" bIns="0" rtlCol="0" anchor="ctr"/>
          <a:lstStyle/>
          <a:p>
            <a:pPr indent="0" marL="0">
              <a:buNone/>
            </a:pPr>
            <a:r>
              <a:rPr lang="en-US" sz="1600" b="1" dirty="0">
                <a:solidFill>
                  <a:srgbClr val="92400E"/>
                </a:solidFill>
                <a:latin typeface="Calibri" pitchFamily="34" charset="0"/>
                <a:ea typeface="Calibri" pitchFamily="34" charset="-122"/>
                <a:cs typeface="Calibri" pitchFamily="34" charset="-120"/>
              </a:rPr>
              <a:t>Know both names</a:t>
            </a:r>
            <a:endParaRPr lang="en-US" sz="1600" dirty="0"/>
          </a:p>
        </p:txBody>
      </p:sp>
      <p:sp>
        <p:nvSpPr>
          <p:cNvPr id="9" name="Text 6"/>
          <p:cNvSpPr/>
          <p:nvPr/>
        </p:nvSpPr>
        <p:spPr>
          <a:xfrm>
            <a:off x="1691640" y="2011680"/>
            <a:ext cx="9601200" cy="685800"/>
          </a:xfrm>
          <a:prstGeom prst="rect">
            <a:avLst/>
          </a:prstGeom>
          <a:noFill/>
          <a:ln/>
        </p:spPr>
        <p:txBody>
          <a:bodyPr wrap="square" lIns="0" tIns="0" rIns="0" bIns="0" rtlCol="0" anchor="ctr"/>
          <a:lstStyle/>
          <a:p>
            <a:pPr indent="0" marL="0">
              <a:lnSpc>
                <a:spcPct val="105000"/>
              </a:lnSpc>
              <a:buNone/>
            </a:pPr>
            <a:r>
              <a:rPr lang="en-US" sz="1250" dirty="0">
                <a:solidFill>
                  <a:srgbClr val="1E293B"/>
                </a:solidFill>
                <a:latin typeface="Calibri" pitchFamily="34" charset="0"/>
                <a:ea typeface="Calibri" pitchFamily="34" charset="-122"/>
                <a:cs typeface="Calibri" pitchFamily="34" charset="-120"/>
              </a:rPr>
              <a:t>The exam guide calls the spawn tool </a:t>
            </a:r>
            <a:pPr indent="0" marL="0">
              <a:lnSpc>
                <a:spcPct val="105000"/>
              </a:lnSpc>
              <a:buNone/>
            </a:pPr>
            <a:r>
              <a:rPr lang="en-US" sz="1250" b="1" dirty="0">
                <a:solidFill>
                  <a:srgbClr val="F43F5E"/>
                </a:solidFill>
                <a:latin typeface="Courier New" pitchFamily="34" charset="0"/>
                <a:ea typeface="Courier New" pitchFamily="34" charset="-122"/>
                <a:cs typeface="Courier New" pitchFamily="34" charset="-120"/>
              </a:rPr>
              <a:t>Task</a:t>
            </a:r>
            <a:pPr indent="0" marL="0">
              <a:lnSpc>
                <a:spcPct val="105000"/>
              </a:lnSpc>
              <a:buNone/>
            </a:pPr>
            <a:r>
              <a:rPr lang="en-US" sz="1250" dirty="0">
                <a:solidFill>
                  <a:srgbClr val="1E293B"/>
                </a:solidFill>
                <a:latin typeface="Calibri" pitchFamily="34" charset="0"/>
                <a:ea typeface="Calibri" pitchFamily="34" charset="-122"/>
                <a:cs typeface="Calibri" pitchFamily="34" charset="-120"/>
              </a:rPr>
              <a:t> and requires allowedTools to include </a:t>
            </a:r>
            <a:pPr indent="0" marL="0">
              <a:lnSpc>
                <a:spcPct val="105000"/>
              </a:lnSpc>
              <a:buNone/>
            </a:pPr>
            <a:r>
              <a:rPr lang="en-US" sz="1250" dirty="0">
                <a:solidFill>
                  <a:srgbClr val="F43F5E"/>
                </a:solidFill>
                <a:latin typeface="Courier New" pitchFamily="34" charset="0"/>
                <a:ea typeface="Courier New" pitchFamily="34" charset="-122"/>
                <a:cs typeface="Courier New" pitchFamily="34" charset="-120"/>
              </a:rPr>
              <a:t>"Task"</a:t>
            </a:r>
            <a:pPr indent="0" marL="0">
              <a:lnSpc>
                <a:spcPct val="105000"/>
              </a:lnSpc>
              <a:buNone/>
            </a:pPr>
            <a:r>
              <a:rPr lang="en-US" sz="1250" dirty="0">
                <a:solidFill>
                  <a:srgbClr val="1E293B"/>
                </a:solidFill>
                <a:latin typeface="Calibri" pitchFamily="34" charset="0"/>
                <a:ea typeface="Calibri" pitchFamily="34" charset="-122"/>
                <a:cs typeface="Calibri" pitchFamily="34" charset="-120"/>
              </a:rPr>
              <a:t>. It was renamed to </a:t>
            </a:r>
            <a:pPr indent="0" marL="0">
              <a:lnSpc>
                <a:spcPct val="105000"/>
              </a:lnSpc>
              <a:buNone/>
            </a:pPr>
            <a:r>
              <a:rPr lang="en-US" sz="1250" b="1" dirty="0">
                <a:solidFill>
                  <a:srgbClr val="4F46E5"/>
                </a:solidFill>
                <a:latin typeface="Courier New" pitchFamily="34" charset="0"/>
                <a:ea typeface="Courier New" pitchFamily="34" charset="-122"/>
                <a:cs typeface="Courier New" pitchFamily="34" charset="-120"/>
              </a:rPr>
              <a:t>Agent</a:t>
            </a:r>
            <a:pPr indent="0" marL="0">
              <a:lnSpc>
                <a:spcPct val="105000"/>
              </a:lnSpc>
              <a:buNone/>
            </a:pPr>
            <a:r>
              <a:rPr lang="en-US" sz="1250" dirty="0">
                <a:solidFill>
                  <a:srgbClr val="1E293B"/>
                </a:solidFill>
                <a:latin typeface="Calibri" pitchFamily="34" charset="0"/>
                <a:ea typeface="Calibri" pitchFamily="34" charset="-122"/>
                <a:cs typeface="Calibri" pitchFamily="34" charset="-120"/>
              </a:rPr>
              <a:t> in Claude Code v2.1.63; current SDKs emit "Agent" in tool_use blocks but still list "Task" in system:init. </a:t>
            </a:r>
            <a:pPr indent="0" marL="0">
              <a:lnSpc>
                <a:spcPct val="105000"/>
              </a:lnSpc>
              <a:buNone/>
            </a:pPr>
            <a:r>
              <a:rPr lang="en-US" sz="1250" b="1" dirty="0">
                <a:solidFill>
                  <a:srgbClr val="12132E"/>
                </a:solidFill>
                <a:latin typeface="Calibri" pitchFamily="34" charset="0"/>
                <a:ea typeface="Calibri" pitchFamily="34" charset="-122"/>
                <a:cs typeface="Calibri" pitchFamily="34" charset="-120"/>
              </a:rPr>
              <a:t>Include and match BOTH.</a:t>
            </a:r>
            <a:endParaRPr lang="en-US" sz="1250" dirty="0"/>
          </a:p>
        </p:txBody>
      </p:sp>
      <p:sp>
        <p:nvSpPr>
          <p:cNvPr id="10" name="Text 7"/>
          <p:cNvSpPr/>
          <p:nvPr/>
        </p:nvSpPr>
        <p:spPr>
          <a:xfrm>
            <a:off x="548640" y="3017520"/>
            <a:ext cx="11064240" cy="457200"/>
          </a:xfrm>
          <a:prstGeom prst="rect">
            <a:avLst/>
          </a:prstGeom>
          <a:noFill/>
          <a:ln/>
        </p:spPr>
        <p:txBody>
          <a:bodyPr wrap="square" lIns="0" tIns="0" rIns="0" bIns="0" rtlCol="0" anchor="ctr"/>
          <a:lstStyle/>
          <a:p>
            <a:pPr indent="0" marL="0">
              <a:buNone/>
            </a:pPr>
            <a:r>
              <a:rPr lang="en-US" sz="1500" b="1" dirty="0">
                <a:solidFill>
                  <a:srgbClr val="12132E"/>
                </a:solidFill>
                <a:latin typeface="Calibri" pitchFamily="34" charset="0"/>
                <a:ea typeface="Calibri" pitchFamily="34" charset="-122"/>
                <a:cs typeface="Calibri" pitchFamily="34" charset="-120"/>
              </a:rPr>
              <a:t>Spawn in parallel — emit multiple spawn calls in ONE coordinator response</a:t>
            </a:r>
            <a:endParaRPr lang="en-US" sz="1500" dirty="0"/>
          </a:p>
        </p:txBody>
      </p:sp>
      <p:sp>
        <p:nvSpPr>
          <p:cNvPr id="11" name="Shape 8"/>
          <p:cNvSpPr/>
          <p:nvPr/>
        </p:nvSpPr>
        <p:spPr>
          <a:xfrm>
            <a:off x="548640" y="3566160"/>
            <a:ext cx="5394960" cy="2240280"/>
          </a:xfrm>
          <a:prstGeom prst="roundRect">
            <a:avLst>
              <a:gd name="adj" fmla="val 2449"/>
            </a:avLst>
          </a:prstGeom>
          <a:solidFill>
            <a:srgbClr val="ECFDF5"/>
          </a:solidFill>
          <a:ln/>
          <a:effectLst>
            <a:outerShdw sx="100000" sy="100000" kx="0" ky="0" algn="bl" rotWithShape="0" blurRad="88900" dist="38100" dir="5400000">
              <a:srgbClr val="000000">
                <a:alpha val="16000"/>
              </a:srgbClr>
            </a:outerShdw>
          </a:effectLst>
        </p:spPr>
      </p:sp>
      <p:sp>
        <p:nvSpPr>
          <p:cNvPr id="12" name="Text 9"/>
          <p:cNvSpPr/>
          <p:nvPr/>
        </p:nvSpPr>
        <p:spPr>
          <a:xfrm>
            <a:off x="777240" y="3749040"/>
            <a:ext cx="4572000" cy="365760"/>
          </a:xfrm>
          <a:prstGeom prst="rect">
            <a:avLst/>
          </a:prstGeom>
          <a:noFill/>
          <a:ln/>
        </p:spPr>
        <p:txBody>
          <a:bodyPr wrap="square" lIns="0" tIns="0" rIns="0" bIns="0" rtlCol="0" anchor="ctr"/>
          <a:lstStyle/>
          <a:p>
            <a:pPr indent="0" marL="0">
              <a:buNone/>
            </a:pPr>
            <a:r>
              <a:rPr lang="en-US" sz="1400" b="1" dirty="0">
                <a:solidFill>
                  <a:srgbClr val="047857"/>
                </a:solidFill>
                <a:latin typeface="Calibri" pitchFamily="34" charset="0"/>
                <a:ea typeface="Calibri" pitchFamily="34" charset="-122"/>
                <a:cs typeface="Calibri" pitchFamily="34" charset="-120"/>
              </a:rPr>
              <a:t>Parallel ✓</a:t>
            </a:r>
            <a:endParaRPr lang="en-US" sz="1400" dirty="0"/>
          </a:p>
        </p:txBody>
      </p:sp>
      <p:sp>
        <p:nvSpPr>
          <p:cNvPr id="13" name="Text 10"/>
          <p:cNvSpPr/>
          <p:nvPr/>
        </p:nvSpPr>
        <p:spPr>
          <a:xfrm>
            <a:off x="777240" y="4160520"/>
            <a:ext cx="4937760" cy="914400"/>
          </a:xfrm>
          <a:prstGeom prst="rect">
            <a:avLst/>
          </a:prstGeom>
          <a:noFill/>
          <a:ln/>
        </p:spPr>
        <p:txBody>
          <a:bodyPr wrap="square" lIns="0" tIns="0" rIns="0" bIns="0" rtlCol="0" anchor="ctr"/>
          <a:lstStyle/>
          <a:p>
            <a:pPr indent="0" marL="0">
              <a:lnSpc>
                <a:spcPct val="107000"/>
              </a:lnSpc>
              <a:buNone/>
            </a:pPr>
            <a:r>
              <a:rPr lang="en-US" sz="1250" dirty="0">
                <a:solidFill>
                  <a:srgbClr val="1E293B"/>
                </a:solidFill>
                <a:latin typeface="Calibri" pitchFamily="34" charset="0"/>
                <a:ea typeface="Calibri" pitchFamily="34" charset="-122"/>
                <a:cs typeface="Calibri" pitchFamily="34" charset="-120"/>
              </a:rPr>
              <a:t>One turn → 3 spawn calls → run concurrently. Big latency win for independent searches.</a:t>
            </a:r>
            <a:endParaRPr lang="en-US" sz="1250" dirty="0"/>
          </a:p>
        </p:txBody>
      </p:sp>
      <p:sp>
        <p:nvSpPr>
          <p:cNvPr id="14" name="Shape 11"/>
          <p:cNvSpPr/>
          <p:nvPr/>
        </p:nvSpPr>
        <p:spPr>
          <a:xfrm>
            <a:off x="777240" y="5120640"/>
            <a:ext cx="4937760" cy="457200"/>
          </a:xfrm>
          <a:prstGeom prst="roundRect">
            <a:avLst>
              <a:gd name="adj" fmla="val 16000"/>
            </a:avLst>
          </a:prstGeom>
          <a:solidFill>
            <a:srgbClr val="11142B"/>
          </a:solidFill>
          <a:ln/>
          <a:effectLst>
            <a:outerShdw sx="100000" sy="100000" kx="0" ky="0" algn="bl" rotWithShape="0" blurRad="88900" dist="38100" dir="5400000">
              <a:srgbClr val="000000">
                <a:alpha val="16000"/>
              </a:srgbClr>
            </a:outerShdw>
          </a:effectLst>
        </p:spPr>
      </p:sp>
      <p:sp>
        <p:nvSpPr>
          <p:cNvPr id="15" name="Text 12"/>
          <p:cNvSpPr/>
          <p:nvPr/>
        </p:nvSpPr>
        <p:spPr>
          <a:xfrm>
            <a:off x="978408" y="5266944"/>
            <a:ext cx="4535424" cy="164592"/>
          </a:xfrm>
          <a:prstGeom prst="rect">
            <a:avLst/>
          </a:prstGeom>
          <a:noFill/>
          <a:ln/>
        </p:spPr>
        <p:txBody>
          <a:bodyPr wrap="square" lIns="0" tIns="0" rIns="0" bIns="0" rtlCol="0" anchor="t"/>
          <a:lstStyle/>
          <a:p>
            <a:pPr indent="0" marL="0">
              <a:lnSpc>
                <a:spcPct val="102000"/>
              </a:lnSpc>
              <a:buNone/>
            </a:pPr>
            <a:r>
              <a:rPr lang="en-US" sz="1050" dirty="0">
                <a:solidFill>
                  <a:srgbClr val="6EE7B7"/>
                </a:solidFill>
                <a:latin typeface="Courier New" pitchFamily="34" charset="0"/>
                <a:ea typeface="Courier New" pitchFamily="34" charset="-122"/>
                <a:cs typeface="Courier New" pitchFamily="34" charset="-120"/>
              </a:rPr>
              <a:t>[Task(a), Task(b), Task(c)]  # single response</a:t>
            </a:r>
            <a:endParaRPr lang="en-US" sz="1050" dirty="0"/>
          </a:p>
        </p:txBody>
      </p:sp>
      <p:sp>
        <p:nvSpPr>
          <p:cNvPr id="16" name="Shape 13"/>
          <p:cNvSpPr/>
          <p:nvPr/>
        </p:nvSpPr>
        <p:spPr>
          <a:xfrm>
            <a:off x="6217920" y="3566160"/>
            <a:ext cx="5394960" cy="2240280"/>
          </a:xfrm>
          <a:prstGeom prst="roundRect">
            <a:avLst>
              <a:gd name="adj" fmla="val 2449"/>
            </a:avLst>
          </a:prstGeom>
          <a:solidFill>
            <a:srgbClr val="FEF2F2"/>
          </a:solidFill>
          <a:ln/>
          <a:effectLst>
            <a:outerShdw sx="100000" sy="100000" kx="0" ky="0" algn="bl" rotWithShape="0" blurRad="88900" dist="38100" dir="5400000">
              <a:srgbClr val="000000">
                <a:alpha val="16000"/>
              </a:srgbClr>
            </a:outerShdw>
          </a:effectLst>
        </p:spPr>
      </p:sp>
      <p:sp>
        <p:nvSpPr>
          <p:cNvPr id="17" name="Text 14"/>
          <p:cNvSpPr/>
          <p:nvPr/>
        </p:nvSpPr>
        <p:spPr>
          <a:xfrm>
            <a:off x="6446520" y="3749040"/>
            <a:ext cx="4572000" cy="365760"/>
          </a:xfrm>
          <a:prstGeom prst="rect">
            <a:avLst/>
          </a:prstGeom>
          <a:noFill/>
          <a:ln/>
        </p:spPr>
        <p:txBody>
          <a:bodyPr wrap="square" lIns="0" tIns="0" rIns="0" bIns="0" rtlCol="0" anchor="ctr"/>
          <a:lstStyle/>
          <a:p>
            <a:pPr indent="0" marL="0">
              <a:buNone/>
            </a:pPr>
            <a:r>
              <a:rPr lang="en-US" sz="1400" b="1" dirty="0">
                <a:solidFill>
                  <a:srgbClr val="B91C1C"/>
                </a:solidFill>
                <a:latin typeface="Calibri" pitchFamily="34" charset="0"/>
                <a:ea typeface="Calibri" pitchFamily="34" charset="-122"/>
                <a:cs typeface="Calibri" pitchFamily="34" charset="-120"/>
              </a:rPr>
              <a:t>Sequential ✗</a:t>
            </a:r>
            <a:endParaRPr lang="en-US" sz="1400" dirty="0"/>
          </a:p>
        </p:txBody>
      </p:sp>
      <p:sp>
        <p:nvSpPr>
          <p:cNvPr id="18" name="Text 15"/>
          <p:cNvSpPr/>
          <p:nvPr/>
        </p:nvSpPr>
        <p:spPr>
          <a:xfrm>
            <a:off x="6446520" y="4160520"/>
            <a:ext cx="4937760" cy="914400"/>
          </a:xfrm>
          <a:prstGeom prst="rect">
            <a:avLst/>
          </a:prstGeom>
          <a:noFill/>
          <a:ln/>
        </p:spPr>
        <p:txBody>
          <a:bodyPr wrap="square" lIns="0" tIns="0" rIns="0" bIns="0" rtlCol="0" anchor="ctr"/>
          <a:lstStyle/>
          <a:p>
            <a:pPr indent="0" marL="0">
              <a:lnSpc>
                <a:spcPct val="107000"/>
              </a:lnSpc>
              <a:buNone/>
            </a:pPr>
            <a:r>
              <a:rPr lang="en-US" sz="1250" dirty="0">
                <a:solidFill>
                  <a:srgbClr val="1E293B"/>
                </a:solidFill>
                <a:latin typeface="Calibri" pitchFamily="34" charset="0"/>
                <a:ea typeface="Calibri" pitchFamily="34" charset="-122"/>
                <a:cs typeface="Calibri" pitchFamily="34" charset="-120"/>
              </a:rPr>
              <a:t>One spawn per turn forces round-trips and slows the whole pipeline unnecessarily.</a:t>
            </a:r>
            <a:endParaRPr lang="en-US" sz="1250" dirty="0"/>
          </a:p>
        </p:txBody>
      </p:sp>
      <p:sp>
        <p:nvSpPr>
          <p:cNvPr id="19" name="Shape 16"/>
          <p:cNvSpPr/>
          <p:nvPr/>
        </p:nvSpPr>
        <p:spPr>
          <a:xfrm>
            <a:off x="6446520" y="5120640"/>
            <a:ext cx="4937760" cy="457200"/>
          </a:xfrm>
          <a:prstGeom prst="roundRect">
            <a:avLst>
              <a:gd name="adj" fmla="val 16000"/>
            </a:avLst>
          </a:prstGeom>
          <a:solidFill>
            <a:srgbClr val="11142B"/>
          </a:solidFill>
          <a:ln/>
          <a:effectLst>
            <a:outerShdw sx="100000" sy="100000" kx="0" ky="0" algn="bl" rotWithShape="0" blurRad="88900" dist="38100" dir="5400000">
              <a:srgbClr val="000000">
                <a:alpha val="16000"/>
              </a:srgbClr>
            </a:outerShdw>
          </a:effectLst>
        </p:spPr>
      </p:sp>
      <p:sp>
        <p:nvSpPr>
          <p:cNvPr id="20" name="Text 17"/>
          <p:cNvSpPr/>
          <p:nvPr/>
        </p:nvSpPr>
        <p:spPr>
          <a:xfrm>
            <a:off x="6647688" y="5266944"/>
            <a:ext cx="4535424" cy="164592"/>
          </a:xfrm>
          <a:prstGeom prst="rect">
            <a:avLst/>
          </a:prstGeom>
          <a:noFill/>
          <a:ln/>
        </p:spPr>
        <p:txBody>
          <a:bodyPr wrap="square" lIns="0" tIns="0" rIns="0" bIns="0" rtlCol="0" anchor="t"/>
          <a:lstStyle/>
          <a:p>
            <a:pPr indent="0" marL="0">
              <a:lnSpc>
                <a:spcPct val="102000"/>
              </a:lnSpc>
              <a:buNone/>
            </a:pPr>
            <a:r>
              <a:rPr lang="en-US" sz="1050" dirty="0">
                <a:solidFill>
                  <a:srgbClr val="FCA5A5"/>
                </a:solidFill>
                <a:latin typeface="Courier New" pitchFamily="34" charset="0"/>
                <a:ea typeface="Courier New" pitchFamily="34" charset="-122"/>
                <a:cs typeface="Courier New" pitchFamily="34" charset="-120"/>
              </a:rPr>
              <a:t>turn1: Task(a); turn2: Task(b); ...</a:t>
            </a:r>
            <a:endParaRPr lang="en-US" sz="1050" dirty="0"/>
          </a:p>
        </p:txBody>
      </p:sp>
      <p:sp>
        <p:nvSpPr>
          <p:cNvPr id="21" name="Text 18"/>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22" name="Text 19"/>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23" name="Text 20"/>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TASK 1.3 / 5.6</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Passing context &amp; preserving provenance</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exam guide · Tasks 1.3 &amp; 5.6</a:t>
            </a:r>
            <a:endParaRPr lang="en-US" sz="1050" dirty="0"/>
          </a:p>
        </p:txBody>
      </p:sp>
      <p:sp>
        <p:nvSpPr>
          <p:cNvPr id="5" name="Shape 3"/>
          <p:cNvSpPr/>
          <p:nvPr/>
        </p:nvSpPr>
        <p:spPr>
          <a:xfrm>
            <a:off x="548640" y="1417320"/>
            <a:ext cx="5394960" cy="1920240"/>
          </a:xfrm>
          <a:prstGeom prst="roundRect">
            <a:avLst>
              <a:gd name="adj" fmla="val 2857"/>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6" name="Shape 4"/>
          <p:cNvSpPr/>
          <p:nvPr/>
        </p:nvSpPr>
        <p:spPr>
          <a:xfrm>
            <a:off x="822960" y="1691640"/>
            <a:ext cx="713232" cy="713232"/>
          </a:xfrm>
          <a:prstGeom prst="ellipse">
            <a:avLst/>
          </a:prstGeom>
          <a:solidFill>
            <a:srgbClr val="4F46E5"/>
          </a:solidFill>
          <a:ln/>
          <a:effectLst>
            <a:outerShdw sx="100000" sy="100000" kx="0" ky="0" algn="bl" rotWithShape="0" blurRad="88900" dist="38100" dir="5400000">
              <a:srgbClr val="000000">
                <a:alpha val="16000"/>
              </a:srgbClr>
            </a:outerShdw>
          </a:effectLst>
        </p:spPr>
      </p:sp>
      <p:pic>
        <p:nvPicPr>
          <p:cNvPr id="7" name="Image 0" descr="preencoded.png">    </p:cNvPr>
          <p:cNvPicPr>
            <a:picLocks noChangeAspect="1"/>
          </p:cNvPicPr>
          <p:nvPr/>
        </p:nvPicPr>
        <p:blipFill>
          <a:blip r:embed="rId1"/>
          <a:stretch>
            <a:fillRect/>
          </a:stretch>
        </p:blipFill>
        <p:spPr>
          <a:xfrm>
            <a:off x="1008400" y="1877080"/>
            <a:ext cx="342351" cy="342351"/>
          </a:xfrm>
          <a:prstGeom prst="rect">
            <a:avLst/>
          </a:prstGeom>
        </p:spPr>
      </p:pic>
      <p:sp>
        <p:nvSpPr>
          <p:cNvPr id="8" name="Text 5"/>
          <p:cNvSpPr/>
          <p:nvPr/>
        </p:nvSpPr>
        <p:spPr>
          <a:xfrm>
            <a:off x="1719072" y="1673352"/>
            <a:ext cx="4023360" cy="640080"/>
          </a:xfrm>
          <a:prstGeom prst="rect">
            <a:avLst/>
          </a:prstGeom>
          <a:noFill/>
          <a:ln/>
        </p:spPr>
        <p:txBody>
          <a:bodyPr wrap="square" lIns="0" tIns="0" rIns="0" bIns="0" rtlCol="0" anchor="ctr"/>
          <a:lstStyle/>
          <a:p>
            <a:pPr indent="0" marL="0">
              <a:buNone/>
            </a:pPr>
            <a:r>
              <a:rPr lang="en-US" sz="1500" b="1" dirty="0">
                <a:solidFill>
                  <a:srgbClr val="12132E"/>
                </a:solidFill>
                <a:latin typeface="Calibri" pitchFamily="34" charset="0"/>
                <a:ea typeface="Calibri" pitchFamily="34" charset="-122"/>
                <a:cs typeface="Calibri" pitchFamily="34" charset="-120"/>
              </a:rPr>
              <a:t>Pass complete findings</a:t>
            </a:r>
            <a:endParaRPr lang="en-US" sz="1500" dirty="0"/>
          </a:p>
        </p:txBody>
      </p:sp>
      <p:sp>
        <p:nvSpPr>
          <p:cNvPr id="9" name="Text 6"/>
          <p:cNvSpPr/>
          <p:nvPr/>
        </p:nvSpPr>
        <p:spPr>
          <a:xfrm>
            <a:off x="822960" y="2404872"/>
            <a:ext cx="4846320" cy="822960"/>
          </a:xfrm>
          <a:prstGeom prst="rect">
            <a:avLst/>
          </a:prstGeom>
          <a:noFill/>
          <a:ln/>
        </p:spPr>
        <p:txBody>
          <a:bodyPr wrap="square" lIns="0" tIns="0" rIns="0" bIns="0" rtlCol="0" anchor="ctr"/>
          <a:lstStyle/>
          <a:p>
            <a:pPr indent="0" marL="0">
              <a:lnSpc>
                <a:spcPct val="106000"/>
              </a:lnSpc>
              <a:buNone/>
            </a:pPr>
            <a:r>
              <a:rPr lang="en-US" sz="1250" dirty="0">
                <a:solidFill>
                  <a:srgbClr val="64748B"/>
                </a:solidFill>
                <a:latin typeface="Calibri" pitchFamily="34" charset="0"/>
                <a:ea typeface="Calibri" pitchFamily="34" charset="-122"/>
                <a:cs typeface="Calibri" pitchFamily="34" charset="-120"/>
              </a:rPr>
              <a:t>Include prior agents' outputs directly in the next subagent's prompt (search + analysis → synthesis).</a:t>
            </a:r>
            <a:endParaRPr lang="en-US" sz="1250" dirty="0"/>
          </a:p>
        </p:txBody>
      </p:sp>
      <p:sp>
        <p:nvSpPr>
          <p:cNvPr id="10" name="Shape 7"/>
          <p:cNvSpPr/>
          <p:nvPr/>
        </p:nvSpPr>
        <p:spPr>
          <a:xfrm>
            <a:off x="6217920" y="1417320"/>
            <a:ext cx="5394960" cy="1920240"/>
          </a:xfrm>
          <a:prstGeom prst="roundRect">
            <a:avLst>
              <a:gd name="adj" fmla="val 2857"/>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1" name="Shape 8"/>
          <p:cNvSpPr/>
          <p:nvPr/>
        </p:nvSpPr>
        <p:spPr>
          <a:xfrm>
            <a:off x="6492240" y="1691640"/>
            <a:ext cx="713232" cy="713232"/>
          </a:xfrm>
          <a:prstGeom prst="ellipse">
            <a:avLst/>
          </a:prstGeom>
          <a:solidFill>
            <a:srgbClr val="14B8A6"/>
          </a:solidFill>
          <a:ln/>
          <a:effectLst>
            <a:outerShdw sx="100000" sy="100000" kx="0" ky="0" algn="bl" rotWithShape="0" blurRad="88900" dist="38100" dir="5400000">
              <a:srgbClr val="000000">
                <a:alpha val="16000"/>
              </a:srgbClr>
            </a:outerShdw>
          </a:effectLst>
        </p:spPr>
      </p:sp>
      <p:pic>
        <p:nvPicPr>
          <p:cNvPr id="12" name="Image 1" descr="preencoded.png">    </p:cNvPr>
          <p:cNvPicPr>
            <a:picLocks noChangeAspect="1"/>
          </p:cNvPicPr>
          <p:nvPr/>
        </p:nvPicPr>
        <p:blipFill>
          <a:blip r:embed="rId2"/>
          <a:stretch>
            <a:fillRect/>
          </a:stretch>
        </p:blipFill>
        <p:spPr>
          <a:xfrm>
            <a:off x="6677680" y="1877080"/>
            <a:ext cx="342351" cy="342351"/>
          </a:xfrm>
          <a:prstGeom prst="rect">
            <a:avLst/>
          </a:prstGeom>
        </p:spPr>
      </p:pic>
      <p:sp>
        <p:nvSpPr>
          <p:cNvPr id="13" name="Text 9"/>
          <p:cNvSpPr/>
          <p:nvPr/>
        </p:nvSpPr>
        <p:spPr>
          <a:xfrm>
            <a:off x="7388352" y="1673352"/>
            <a:ext cx="4023360" cy="640080"/>
          </a:xfrm>
          <a:prstGeom prst="rect">
            <a:avLst/>
          </a:prstGeom>
          <a:noFill/>
          <a:ln/>
        </p:spPr>
        <p:txBody>
          <a:bodyPr wrap="square" lIns="0" tIns="0" rIns="0" bIns="0" rtlCol="0" anchor="ctr"/>
          <a:lstStyle/>
          <a:p>
            <a:pPr indent="0" marL="0">
              <a:buNone/>
            </a:pPr>
            <a:r>
              <a:rPr lang="en-US" sz="1500" b="1" dirty="0">
                <a:solidFill>
                  <a:srgbClr val="12132E"/>
                </a:solidFill>
                <a:latin typeface="Calibri" pitchFamily="34" charset="0"/>
                <a:ea typeface="Calibri" pitchFamily="34" charset="-122"/>
                <a:cs typeface="Calibri" pitchFamily="34" charset="-120"/>
              </a:rPr>
              <a:t>Separate content from metadata</a:t>
            </a:r>
            <a:endParaRPr lang="en-US" sz="1500" dirty="0"/>
          </a:p>
        </p:txBody>
      </p:sp>
      <p:sp>
        <p:nvSpPr>
          <p:cNvPr id="14" name="Text 10"/>
          <p:cNvSpPr/>
          <p:nvPr/>
        </p:nvSpPr>
        <p:spPr>
          <a:xfrm>
            <a:off x="6492240" y="2404872"/>
            <a:ext cx="4846320" cy="822960"/>
          </a:xfrm>
          <a:prstGeom prst="rect">
            <a:avLst/>
          </a:prstGeom>
          <a:noFill/>
          <a:ln/>
        </p:spPr>
        <p:txBody>
          <a:bodyPr wrap="square" lIns="0" tIns="0" rIns="0" bIns="0" rtlCol="0" anchor="ctr"/>
          <a:lstStyle/>
          <a:p>
            <a:pPr indent="0" marL="0">
              <a:lnSpc>
                <a:spcPct val="106000"/>
              </a:lnSpc>
              <a:buNone/>
            </a:pPr>
            <a:r>
              <a:rPr lang="en-US" sz="1250" dirty="0">
                <a:solidFill>
                  <a:srgbClr val="64748B"/>
                </a:solidFill>
                <a:latin typeface="Calibri" pitchFamily="34" charset="0"/>
                <a:ea typeface="Calibri" pitchFamily="34" charset="-122"/>
                <a:cs typeface="Calibri" pitchFamily="34" charset="-120"/>
              </a:rPr>
              <a:t>Carry source URL, doc name, page, and date alongside each claim so attribution survives synthesis.</a:t>
            </a:r>
            <a:endParaRPr lang="en-US" sz="1250" dirty="0"/>
          </a:p>
        </p:txBody>
      </p:sp>
      <p:sp>
        <p:nvSpPr>
          <p:cNvPr id="15" name="Shape 11"/>
          <p:cNvSpPr/>
          <p:nvPr/>
        </p:nvSpPr>
        <p:spPr>
          <a:xfrm>
            <a:off x="548640" y="3611880"/>
            <a:ext cx="5394960" cy="1920240"/>
          </a:xfrm>
          <a:prstGeom prst="roundRect">
            <a:avLst>
              <a:gd name="adj" fmla="val 2857"/>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6" name="Shape 12"/>
          <p:cNvSpPr/>
          <p:nvPr/>
        </p:nvSpPr>
        <p:spPr>
          <a:xfrm>
            <a:off x="822960" y="3886200"/>
            <a:ext cx="713232" cy="713232"/>
          </a:xfrm>
          <a:prstGeom prst="ellipse">
            <a:avLst/>
          </a:prstGeom>
          <a:solidFill>
            <a:srgbClr val="8B5CF6"/>
          </a:solidFill>
          <a:ln/>
          <a:effectLst>
            <a:outerShdw sx="100000" sy="100000" kx="0" ky="0" algn="bl" rotWithShape="0" blurRad="88900" dist="38100" dir="5400000">
              <a:srgbClr val="000000">
                <a:alpha val="16000"/>
              </a:srgbClr>
            </a:outerShdw>
          </a:effectLst>
        </p:spPr>
      </p:sp>
      <p:pic>
        <p:nvPicPr>
          <p:cNvPr id="17" name="Image 2" descr="preencoded.png">    </p:cNvPr>
          <p:cNvPicPr>
            <a:picLocks noChangeAspect="1"/>
          </p:cNvPicPr>
          <p:nvPr/>
        </p:nvPicPr>
        <p:blipFill>
          <a:blip r:embed="rId3"/>
          <a:stretch>
            <a:fillRect/>
          </a:stretch>
        </p:blipFill>
        <p:spPr>
          <a:xfrm>
            <a:off x="1008400" y="4071640"/>
            <a:ext cx="342351" cy="342351"/>
          </a:xfrm>
          <a:prstGeom prst="rect">
            <a:avLst/>
          </a:prstGeom>
        </p:spPr>
      </p:pic>
      <p:sp>
        <p:nvSpPr>
          <p:cNvPr id="18" name="Text 13"/>
          <p:cNvSpPr/>
          <p:nvPr/>
        </p:nvSpPr>
        <p:spPr>
          <a:xfrm>
            <a:off x="1719072" y="3867912"/>
            <a:ext cx="4023360" cy="640080"/>
          </a:xfrm>
          <a:prstGeom prst="rect">
            <a:avLst/>
          </a:prstGeom>
          <a:noFill/>
          <a:ln/>
        </p:spPr>
        <p:txBody>
          <a:bodyPr wrap="square" lIns="0" tIns="0" rIns="0" bIns="0" rtlCol="0" anchor="ctr"/>
          <a:lstStyle/>
          <a:p>
            <a:pPr indent="0" marL="0">
              <a:buNone/>
            </a:pPr>
            <a:r>
              <a:rPr lang="en-US" sz="1500" b="1" dirty="0">
                <a:solidFill>
                  <a:srgbClr val="12132E"/>
                </a:solidFill>
                <a:latin typeface="Calibri" pitchFamily="34" charset="0"/>
                <a:ea typeface="Calibri" pitchFamily="34" charset="-122"/>
                <a:cs typeface="Calibri" pitchFamily="34" charset="-120"/>
              </a:rPr>
              <a:t>Goals over procedures</a:t>
            </a:r>
            <a:endParaRPr lang="en-US" sz="1500" dirty="0"/>
          </a:p>
        </p:txBody>
      </p:sp>
      <p:sp>
        <p:nvSpPr>
          <p:cNvPr id="19" name="Text 14"/>
          <p:cNvSpPr/>
          <p:nvPr/>
        </p:nvSpPr>
        <p:spPr>
          <a:xfrm>
            <a:off x="822960" y="4599432"/>
            <a:ext cx="4846320" cy="822960"/>
          </a:xfrm>
          <a:prstGeom prst="rect">
            <a:avLst/>
          </a:prstGeom>
          <a:noFill/>
          <a:ln/>
        </p:spPr>
        <p:txBody>
          <a:bodyPr wrap="square" lIns="0" tIns="0" rIns="0" bIns="0" rtlCol="0" anchor="ctr"/>
          <a:lstStyle/>
          <a:p>
            <a:pPr indent="0" marL="0">
              <a:lnSpc>
                <a:spcPct val="106000"/>
              </a:lnSpc>
              <a:buNone/>
            </a:pPr>
            <a:r>
              <a:rPr lang="en-US" sz="1250" dirty="0">
                <a:solidFill>
                  <a:srgbClr val="64748B"/>
                </a:solidFill>
                <a:latin typeface="Calibri" pitchFamily="34" charset="0"/>
                <a:ea typeface="Calibri" pitchFamily="34" charset="-122"/>
                <a:cs typeface="Calibri" pitchFamily="34" charset="-120"/>
              </a:rPr>
              <a:t>Coordinator prompts state research goals &amp; quality criteria, not rigid scripts — so subagents adapt.</a:t>
            </a:r>
            <a:endParaRPr lang="en-US" sz="1250" dirty="0"/>
          </a:p>
        </p:txBody>
      </p:sp>
      <p:sp>
        <p:nvSpPr>
          <p:cNvPr id="20" name="Shape 15"/>
          <p:cNvSpPr/>
          <p:nvPr/>
        </p:nvSpPr>
        <p:spPr>
          <a:xfrm>
            <a:off x="6217920" y="3611880"/>
            <a:ext cx="5394960" cy="1920240"/>
          </a:xfrm>
          <a:prstGeom prst="roundRect">
            <a:avLst>
              <a:gd name="adj" fmla="val 2857"/>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21" name="Shape 16"/>
          <p:cNvSpPr/>
          <p:nvPr/>
        </p:nvSpPr>
        <p:spPr>
          <a:xfrm>
            <a:off x="6492240" y="3886200"/>
            <a:ext cx="713232" cy="713232"/>
          </a:xfrm>
          <a:prstGeom prst="ellipse">
            <a:avLst/>
          </a:prstGeom>
          <a:solidFill>
            <a:srgbClr val="F59E0B"/>
          </a:solidFill>
          <a:ln/>
          <a:effectLst>
            <a:outerShdw sx="100000" sy="100000" kx="0" ky="0" algn="bl" rotWithShape="0" blurRad="88900" dist="38100" dir="5400000">
              <a:srgbClr val="000000">
                <a:alpha val="16000"/>
              </a:srgbClr>
            </a:outerShdw>
          </a:effectLst>
        </p:spPr>
      </p:sp>
      <p:pic>
        <p:nvPicPr>
          <p:cNvPr id="22" name="Image 3" descr="preencoded.png">    </p:cNvPr>
          <p:cNvPicPr>
            <a:picLocks noChangeAspect="1"/>
          </p:cNvPicPr>
          <p:nvPr/>
        </p:nvPicPr>
        <p:blipFill>
          <a:blip r:embed="rId4"/>
          <a:stretch>
            <a:fillRect/>
          </a:stretch>
        </p:blipFill>
        <p:spPr>
          <a:xfrm>
            <a:off x="6677680" y="4071640"/>
            <a:ext cx="342351" cy="342351"/>
          </a:xfrm>
          <a:prstGeom prst="rect">
            <a:avLst/>
          </a:prstGeom>
        </p:spPr>
      </p:pic>
      <p:sp>
        <p:nvSpPr>
          <p:cNvPr id="23" name="Text 17"/>
          <p:cNvSpPr/>
          <p:nvPr/>
        </p:nvSpPr>
        <p:spPr>
          <a:xfrm>
            <a:off x="7388352" y="3867912"/>
            <a:ext cx="4023360" cy="640080"/>
          </a:xfrm>
          <a:prstGeom prst="rect">
            <a:avLst/>
          </a:prstGeom>
          <a:noFill/>
          <a:ln/>
        </p:spPr>
        <p:txBody>
          <a:bodyPr wrap="square" lIns="0" tIns="0" rIns="0" bIns="0" rtlCol="0" anchor="ctr"/>
          <a:lstStyle/>
          <a:p>
            <a:pPr indent="0" marL="0">
              <a:buNone/>
            </a:pPr>
            <a:r>
              <a:rPr lang="en-US" sz="1500" b="1" dirty="0">
                <a:solidFill>
                  <a:srgbClr val="12132E"/>
                </a:solidFill>
                <a:latin typeface="Calibri" pitchFamily="34" charset="0"/>
                <a:ea typeface="Calibri" pitchFamily="34" charset="-122"/>
                <a:cs typeface="Calibri" pitchFamily="34" charset="-120"/>
              </a:rPr>
              <a:t>Structured handoffs</a:t>
            </a:r>
            <a:endParaRPr lang="en-US" sz="1500" dirty="0"/>
          </a:p>
        </p:txBody>
      </p:sp>
      <p:sp>
        <p:nvSpPr>
          <p:cNvPr id="24" name="Text 18"/>
          <p:cNvSpPr/>
          <p:nvPr/>
        </p:nvSpPr>
        <p:spPr>
          <a:xfrm>
            <a:off x="6492240" y="4599432"/>
            <a:ext cx="4846320" cy="822960"/>
          </a:xfrm>
          <a:prstGeom prst="rect">
            <a:avLst/>
          </a:prstGeom>
          <a:noFill/>
          <a:ln/>
        </p:spPr>
        <p:txBody>
          <a:bodyPr wrap="square" lIns="0" tIns="0" rIns="0" bIns="0" rtlCol="0" anchor="ctr"/>
          <a:lstStyle/>
          <a:p>
            <a:pPr indent="0" marL="0">
              <a:lnSpc>
                <a:spcPct val="106000"/>
              </a:lnSpc>
              <a:buNone/>
            </a:pPr>
            <a:r>
              <a:rPr lang="en-US" sz="1250" dirty="0">
                <a:solidFill>
                  <a:srgbClr val="64748B"/>
                </a:solidFill>
                <a:latin typeface="Calibri" pitchFamily="34" charset="0"/>
                <a:ea typeface="Calibri" pitchFamily="34" charset="-122"/>
                <a:cs typeface="Calibri" pitchFamily="34" charset="-120"/>
              </a:rPr>
              <a:t>On escalation, compile a summary (IDs, root cause, recommended action) for humans without the transcript.</a:t>
            </a:r>
            <a:endParaRPr lang="en-US" sz="1250" dirty="0"/>
          </a:p>
        </p:txBody>
      </p:sp>
      <p:sp>
        <p:nvSpPr>
          <p:cNvPr id="25" name="Text 19"/>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26" name="Text 20"/>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27" name="Text 21"/>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SAMPLE QUESTION 7</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Failure mode: narrow decomposition</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exam guide · Sample Q7</a:t>
            </a:r>
            <a:endParaRPr lang="en-US" sz="1050" dirty="0"/>
          </a:p>
        </p:txBody>
      </p:sp>
      <p:sp>
        <p:nvSpPr>
          <p:cNvPr id="5" name="Shape 3"/>
          <p:cNvSpPr/>
          <p:nvPr/>
        </p:nvSpPr>
        <p:spPr>
          <a:xfrm>
            <a:off x="548640" y="1371600"/>
            <a:ext cx="11064240" cy="1234440"/>
          </a:xfrm>
          <a:prstGeom prst="roundRect">
            <a:avLst>
              <a:gd name="adj" fmla="val 4444"/>
            </a:avLst>
          </a:prstGeom>
          <a:solidFill>
            <a:srgbClr val="F1F3FB"/>
          </a:solidFill>
          <a:ln/>
        </p:spPr>
      </p:sp>
      <p:sp>
        <p:nvSpPr>
          <p:cNvPr id="6" name="Text 4"/>
          <p:cNvSpPr/>
          <p:nvPr/>
        </p:nvSpPr>
        <p:spPr>
          <a:xfrm>
            <a:off x="822960" y="1508760"/>
            <a:ext cx="10515600" cy="960120"/>
          </a:xfrm>
          <a:prstGeom prst="rect">
            <a:avLst/>
          </a:prstGeom>
          <a:noFill/>
          <a:ln/>
        </p:spPr>
        <p:txBody>
          <a:bodyPr wrap="square" lIns="0" tIns="0" rIns="0" bIns="0" rtlCol="0" anchor="ctr"/>
          <a:lstStyle/>
          <a:p>
            <a:pPr indent="0" marL="0">
              <a:lnSpc>
                <a:spcPct val="106000"/>
              </a:lnSpc>
              <a:buNone/>
            </a:pPr>
            <a:r>
              <a:rPr lang="en-US" sz="1350" b="1" dirty="0">
                <a:solidFill>
                  <a:srgbClr val="4F46E5"/>
                </a:solidFill>
                <a:latin typeface="Calibri" pitchFamily="34" charset="0"/>
                <a:ea typeface="Calibri" pitchFamily="34" charset="-122"/>
                <a:cs typeface="Calibri" pitchFamily="34" charset="-120"/>
              </a:rPr>
              <a:t>Scenario:  </a:t>
            </a:r>
            <a:pPr indent="0" marL="0">
              <a:lnSpc>
                <a:spcPct val="106000"/>
              </a:lnSpc>
              <a:buNone/>
            </a:pPr>
            <a:r>
              <a:rPr lang="en-US" sz="1350" dirty="0">
                <a:solidFill>
                  <a:srgbClr val="1E293B"/>
                </a:solidFill>
                <a:latin typeface="Calibri" pitchFamily="34" charset="0"/>
                <a:ea typeface="Calibri" pitchFamily="34" charset="-122"/>
                <a:cs typeface="Calibri" pitchFamily="34" charset="-120"/>
              </a:rPr>
              <a:t>Topic “impact of AI on creative industries.” Every subagent succeeds, yet reports cover only visual arts. Logs show the coordinator split it into </a:t>
            </a:r>
            <a:pPr indent="0" marL="0">
              <a:lnSpc>
                <a:spcPct val="106000"/>
              </a:lnSpc>
              <a:buNone/>
            </a:pPr>
            <a:r>
              <a:rPr lang="en-US" sz="1350" i="1" dirty="0">
                <a:solidFill>
                  <a:srgbClr val="12132E"/>
                </a:solidFill>
                <a:latin typeface="Calibri" pitchFamily="34" charset="0"/>
                <a:ea typeface="Calibri" pitchFamily="34" charset="-122"/>
                <a:cs typeface="Calibri" pitchFamily="34" charset="-120"/>
              </a:rPr>
              <a:t>digital art, graphic design, photography</a:t>
            </a:r>
            <a:pPr indent="0" marL="0">
              <a:lnSpc>
                <a:spcPct val="106000"/>
              </a:lnSpc>
              <a:buNone/>
            </a:pPr>
            <a:r>
              <a:rPr lang="en-US" sz="1350" dirty="0">
                <a:solidFill>
                  <a:srgbClr val="1E293B"/>
                </a:solidFill>
                <a:latin typeface="Calibri" pitchFamily="34" charset="0"/>
                <a:ea typeface="Calibri" pitchFamily="34" charset="-122"/>
                <a:cs typeface="Calibri" pitchFamily="34" charset="-120"/>
              </a:rPr>
              <a:t> — music, writing, and film were never assigned.</a:t>
            </a:r>
            <a:endParaRPr lang="en-US" sz="1350" dirty="0"/>
          </a:p>
        </p:txBody>
      </p:sp>
      <p:sp>
        <p:nvSpPr>
          <p:cNvPr id="7" name="Shape 5"/>
          <p:cNvSpPr/>
          <p:nvPr/>
        </p:nvSpPr>
        <p:spPr>
          <a:xfrm>
            <a:off x="640080" y="2926080"/>
            <a:ext cx="640080" cy="640080"/>
          </a:xfrm>
          <a:prstGeom prst="ellipse">
            <a:avLst/>
          </a:prstGeom>
          <a:solidFill>
            <a:srgbClr val="14B8A6"/>
          </a:solidFill>
          <a:ln/>
          <a:effectLst>
            <a:outerShdw sx="100000" sy="100000" kx="0" ky="0" algn="bl" rotWithShape="0" blurRad="88900" dist="38100" dir="5400000">
              <a:srgbClr val="000000">
                <a:alpha val="16000"/>
              </a:srgbClr>
            </a:outerShdw>
          </a:effectLst>
        </p:spPr>
      </p:sp>
      <p:pic>
        <p:nvPicPr>
          <p:cNvPr id="8" name="Image 0" descr="preencoded.png">    </p:cNvPr>
          <p:cNvPicPr>
            <a:picLocks noChangeAspect="1"/>
          </p:cNvPicPr>
          <p:nvPr/>
        </p:nvPicPr>
        <p:blipFill>
          <a:blip r:embed="rId1"/>
          <a:stretch>
            <a:fillRect/>
          </a:stretch>
        </p:blipFill>
        <p:spPr>
          <a:xfrm>
            <a:off x="806501" y="3092501"/>
            <a:ext cx="307238" cy="307238"/>
          </a:xfrm>
          <a:prstGeom prst="rect">
            <a:avLst/>
          </a:prstGeom>
        </p:spPr>
      </p:pic>
      <p:sp>
        <p:nvSpPr>
          <p:cNvPr id="9" name="Text 6"/>
          <p:cNvSpPr/>
          <p:nvPr/>
        </p:nvSpPr>
        <p:spPr>
          <a:xfrm>
            <a:off x="1463040" y="2926080"/>
            <a:ext cx="10058400" cy="640080"/>
          </a:xfrm>
          <a:prstGeom prst="rect">
            <a:avLst/>
          </a:prstGeom>
          <a:noFill/>
          <a:ln/>
        </p:spPr>
        <p:txBody>
          <a:bodyPr wrap="square" lIns="0" tIns="0" rIns="0" bIns="0" rtlCol="0" anchor="ctr"/>
          <a:lstStyle/>
          <a:p>
            <a:pPr indent="0" marL="0">
              <a:buNone/>
            </a:pPr>
            <a:r>
              <a:rPr lang="en-US" sz="1400" b="1" dirty="0">
                <a:solidFill>
                  <a:srgbClr val="047857"/>
                </a:solidFill>
                <a:latin typeface="Calibri" pitchFamily="34" charset="0"/>
                <a:ea typeface="Calibri" pitchFamily="34" charset="-122"/>
                <a:cs typeface="Calibri" pitchFamily="34" charset="-120"/>
              </a:rPr>
              <a:t>Root cause: </a:t>
            </a:r>
            <a:pPr indent="0" marL="0">
              <a:buNone/>
            </a:pPr>
            <a:r>
              <a:rPr lang="en-US" sz="1400" dirty="0">
                <a:solidFill>
                  <a:srgbClr val="1E293B"/>
                </a:solidFill>
                <a:latin typeface="Calibri" pitchFamily="34" charset="0"/>
                <a:ea typeface="Calibri" pitchFamily="34" charset="-122"/>
                <a:cs typeface="Calibri" pitchFamily="34" charset="-120"/>
              </a:rPr>
              <a:t>the coordinator's task decomposition was too narrow. The subagents executed correctly within the scope they were given.</a:t>
            </a:r>
            <a:endParaRPr lang="en-US" sz="1400" dirty="0"/>
          </a:p>
        </p:txBody>
      </p:sp>
      <p:sp>
        <p:nvSpPr>
          <p:cNvPr id="10" name="Text 7"/>
          <p:cNvSpPr/>
          <p:nvPr/>
        </p:nvSpPr>
        <p:spPr>
          <a:xfrm>
            <a:off x="548640" y="3794760"/>
            <a:ext cx="5486400" cy="365760"/>
          </a:xfrm>
          <a:prstGeom prst="rect">
            <a:avLst/>
          </a:prstGeom>
          <a:noFill/>
          <a:ln/>
        </p:spPr>
        <p:txBody>
          <a:bodyPr wrap="square" lIns="0" tIns="0" rIns="0" bIns="0" rtlCol="0" anchor="ctr"/>
          <a:lstStyle/>
          <a:p>
            <a:pPr indent="0" marL="0">
              <a:buNone/>
            </a:pPr>
            <a:r>
              <a:rPr lang="en-US" sz="1400" b="1" dirty="0">
                <a:solidFill>
                  <a:srgbClr val="12132E"/>
                </a:solidFill>
                <a:latin typeface="Calibri" pitchFamily="34" charset="0"/>
                <a:ea typeface="Calibri" pitchFamily="34" charset="-122"/>
                <a:cs typeface="Calibri" pitchFamily="34" charset="-120"/>
              </a:rPr>
              <a:t>Why not the distractors</a:t>
            </a:r>
            <a:endParaRPr lang="en-US" sz="1400" dirty="0"/>
          </a:p>
        </p:txBody>
      </p:sp>
      <p:sp>
        <p:nvSpPr>
          <p:cNvPr id="11" name="Text 8"/>
          <p:cNvSpPr/>
          <p:nvPr/>
        </p:nvSpPr>
        <p:spPr>
          <a:xfrm>
            <a:off x="822960" y="4206240"/>
            <a:ext cx="10607040" cy="137160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64748B"/>
                </a:solidFill>
                <a:latin typeface="Calibri" pitchFamily="34" charset="0"/>
                <a:ea typeface="Calibri" pitchFamily="34" charset="-122"/>
                <a:cs typeface="Calibri" pitchFamily="34" charset="-120"/>
              </a:rPr>
              <a:t>Synthesis agent — it faithfully synthesized what it was given</a:t>
            </a:r>
            <a:endParaRPr lang="en-US" sz="1300" dirty="0"/>
          </a:p>
          <a:p>
            <a:pPr marL="342900" indent="-342900">
              <a:spcAft>
                <a:spcPts val="800"/>
              </a:spcAft>
              <a:buSzPct val="100000"/>
              <a:buChar char="•"/>
            </a:pPr>
            <a:r>
              <a:rPr lang="en-US" sz="1300" dirty="0">
                <a:solidFill>
                  <a:srgbClr val="64748B"/>
                </a:solidFill>
                <a:latin typeface="Calibri" pitchFamily="34" charset="0"/>
                <a:ea typeface="Calibri" pitchFamily="34" charset="-122"/>
                <a:cs typeface="Calibri" pitchFamily="34" charset="-120"/>
              </a:rPr>
              <a:t>Web-search agent — it found relevant articles for its assigned slices</a:t>
            </a:r>
            <a:endParaRPr lang="en-US" sz="1300" dirty="0"/>
          </a:p>
          <a:p>
            <a:pPr marL="342900" indent="-342900">
              <a:spcAft>
                <a:spcPts val="800"/>
              </a:spcAft>
              <a:buSzPct val="100000"/>
              <a:buChar char="•"/>
            </a:pPr>
            <a:r>
              <a:rPr lang="en-US" sz="1300" dirty="0">
                <a:solidFill>
                  <a:srgbClr val="64748B"/>
                </a:solidFill>
                <a:latin typeface="Calibri" pitchFamily="34" charset="0"/>
                <a:ea typeface="Calibri" pitchFamily="34" charset="-122"/>
                <a:cs typeface="Calibri" pitchFamily="34" charset="-120"/>
              </a:rPr>
              <a:t>Doc-analysis agent — it summarized correctly within scope</a:t>
            </a:r>
            <a:endParaRPr lang="en-US" sz="1300" dirty="0"/>
          </a:p>
        </p:txBody>
      </p:sp>
      <p:sp>
        <p:nvSpPr>
          <p:cNvPr id="12" name="Text 9"/>
          <p:cNvSpPr/>
          <p:nvPr/>
        </p:nvSpPr>
        <p:spPr>
          <a:xfrm>
            <a:off x="548640" y="5623560"/>
            <a:ext cx="11064240" cy="365760"/>
          </a:xfrm>
          <a:prstGeom prst="rect">
            <a:avLst/>
          </a:prstGeom>
          <a:noFill/>
          <a:ln/>
        </p:spPr>
        <p:txBody>
          <a:bodyPr wrap="square" lIns="0" tIns="0" rIns="0" bIns="0" rtlCol="0" anchor="ctr"/>
          <a:lstStyle/>
          <a:p>
            <a:pPr indent="0" marL="0">
              <a:buNone/>
            </a:pPr>
            <a:r>
              <a:rPr lang="en-US" sz="1250" i="1" dirty="0">
                <a:solidFill>
                  <a:srgbClr val="4F46E5"/>
                </a:solidFill>
                <a:latin typeface="Calibri" pitchFamily="34" charset="0"/>
                <a:ea typeface="Calibri" pitchFamily="34" charset="-122"/>
                <a:cs typeface="Calibri" pitchFamily="34" charset="-120"/>
              </a:rPr>
              <a:t>Diagnostic heuristic: when every worker succeeds but coverage is wrong, suspect the decomposition — not the workers.</a:t>
            </a:r>
            <a:endParaRPr lang="en-US" sz="1250" dirty="0"/>
          </a:p>
        </p:txBody>
      </p:sp>
      <p:sp>
        <p:nvSpPr>
          <p:cNvPr id="13" name="Text 10"/>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14" name="Text 11"/>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15" name="Text 12"/>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TASK 1.5</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Lifecycle hooks — control points</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platform.claude.com/docs/en/agent-sdk/hooks</a:t>
            </a:r>
            <a:endParaRPr lang="en-US" sz="1050" dirty="0"/>
          </a:p>
        </p:txBody>
      </p:sp>
      <p:sp>
        <p:nvSpPr>
          <p:cNvPr id="5" name="Text 3"/>
          <p:cNvSpPr/>
          <p:nvPr/>
        </p:nvSpPr>
        <p:spPr>
          <a:xfrm>
            <a:off x="548640" y="1371600"/>
            <a:ext cx="11064240" cy="594360"/>
          </a:xfrm>
          <a:prstGeom prst="rect">
            <a:avLst/>
          </a:prstGeom>
          <a:noFill/>
          <a:ln/>
        </p:spPr>
        <p:txBody>
          <a:bodyPr wrap="square" lIns="0" tIns="0" rIns="0" bIns="0" rtlCol="0" anchor="ctr"/>
          <a:lstStyle/>
          <a:p>
            <a:pPr indent="0" marL="0">
              <a:buNone/>
            </a:pPr>
            <a:r>
              <a:rPr lang="en-US" sz="1450" dirty="0">
                <a:solidFill>
                  <a:srgbClr val="1E293B"/>
                </a:solidFill>
                <a:latin typeface="Calibri" pitchFamily="34" charset="0"/>
                <a:ea typeface="Calibri" pitchFamily="34" charset="-122"/>
                <a:cs typeface="Calibri" pitchFamily="34" charset="-120"/>
              </a:rPr>
              <a:t>Hooks are callbacks that fire at agent events. They run in YOUR process (not the model's context) and give deterministic control where prompts can only ask nicely.</a:t>
            </a:r>
            <a:endParaRPr lang="en-US" sz="1450" dirty="0"/>
          </a:p>
        </p:txBody>
      </p:sp>
      <p:sp>
        <p:nvSpPr>
          <p:cNvPr id="6" name="Text 4"/>
          <p:cNvSpPr/>
          <p:nvPr/>
        </p:nvSpPr>
        <p:spPr>
          <a:xfrm>
            <a:off x="685800" y="2057400"/>
            <a:ext cx="2377440" cy="320040"/>
          </a:xfrm>
          <a:prstGeom prst="rect">
            <a:avLst/>
          </a:prstGeom>
          <a:noFill/>
          <a:ln/>
        </p:spPr>
        <p:txBody>
          <a:bodyPr wrap="square" lIns="0" tIns="0" rIns="0" bIns="0" rtlCol="0" anchor="ctr"/>
          <a:lstStyle/>
          <a:p>
            <a:pPr indent="0" marL="0">
              <a:buNone/>
            </a:pPr>
            <a:r>
              <a:rPr lang="en-US" sz="1100" b="1" spc="100" kern="0" dirty="0">
                <a:solidFill>
                  <a:srgbClr val="64748B"/>
                </a:solidFill>
                <a:latin typeface="Calibri" pitchFamily="34" charset="0"/>
                <a:ea typeface="Calibri" pitchFamily="34" charset="-122"/>
                <a:cs typeface="Calibri" pitchFamily="34" charset="-120"/>
              </a:rPr>
              <a:t>EVENT</a:t>
            </a:r>
            <a:endParaRPr lang="en-US" sz="1100" dirty="0"/>
          </a:p>
        </p:txBody>
      </p:sp>
      <p:sp>
        <p:nvSpPr>
          <p:cNvPr id="7" name="Text 5"/>
          <p:cNvSpPr/>
          <p:nvPr/>
        </p:nvSpPr>
        <p:spPr>
          <a:xfrm>
            <a:off x="3200400" y="2057400"/>
            <a:ext cx="2377440" cy="320040"/>
          </a:xfrm>
          <a:prstGeom prst="rect">
            <a:avLst/>
          </a:prstGeom>
          <a:noFill/>
          <a:ln/>
        </p:spPr>
        <p:txBody>
          <a:bodyPr wrap="square" lIns="0" tIns="0" rIns="0" bIns="0" rtlCol="0" anchor="ctr"/>
          <a:lstStyle/>
          <a:p>
            <a:pPr indent="0" marL="0">
              <a:buNone/>
            </a:pPr>
            <a:r>
              <a:rPr lang="en-US" sz="1100" b="1" spc="100" kern="0" dirty="0">
                <a:solidFill>
                  <a:srgbClr val="64748B"/>
                </a:solidFill>
                <a:latin typeface="Calibri" pitchFamily="34" charset="0"/>
                <a:ea typeface="Calibri" pitchFamily="34" charset="-122"/>
                <a:cs typeface="Calibri" pitchFamily="34" charset="-120"/>
              </a:rPr>
              <a:t>FIRES</a:t>
            </a:r>
            <a:endParaRPr lang="en-US" sz="1100" dirty="0"/>
          </a:p>
        </p:txBody>
      </p:sp>
      <p:sp>
        <p:nvSpPr>
          <p:cNvPr id="8" name="Text 6"/>
          <p:cNvSpPr/>
          <p:nvPr/>
        </p:nvSpPr>
        <p:spPr>
          <a:xfrm>
            <a:off x="5760720" y="2057400"/>
            <a:ext cx="5760720" cy="320040"/>
          </a:xfrm>
          <a:prstGeom prst="rect">
            <a:avLst/>
          </a:prstGeom>
          <a:noFill/>
          <a:ln/>
        </p:spPr>
        <p:txBody>
          <a:bodyPr wrap="square" lIns="0" tIns="0" rIns="0" bIns="0" rtlCol="0" anchor="ctr"/>
          <a:lstStyle/>
          <a:p>
            <a:pPr indent="0" marL="0">
              <a:buNone/>
            </a:pPr>
            <a:r>
              <a:rPr lang="en-US" sz="1100" b="1" spc="100" kern="0" dirty="0">
                <a:solidFill>
                  <a:srgbClr val="64748B"/>
                </a:solidFill>
                <a:latin typeface="Calibri" pitchFamily="34" charset="0"/>
                <a:ea typeface="Calibri" pitchFamily="34" charset="-122"/>
                <a:cs typeface="Calibri" pitchFamily="34" charset="-120"/>
              </a:rPr>
              <a:t>USE FOR</a:t>
            </a:r>
            <a:endParaRPr lang="en-US" sz="1100" dirty="0"/>
          </a:p>
        </p:txBody>
      </p:sp>
      <p:sp>
        <p:nvSpPr>
          <p:cNvPr id="9" name="Shape 7"/>
          <p:cNvSpPr/>
          <p:nvPr/>
        </p:nvSpPr>
        <p:spPr>
          <a:xfrm>
            <a:off x="548640" y="2468880"/>
            <a:ext cx="11064240" cy="640080"/>
          </a:xfrm>
          <a:prstGeom prst="roundRect">
            <a:avLst>
              <a:gd name="adj" fmla="val 7143"/>
            </a:avLst>
          </a:prstGeom>
          <a:solidFill>
            <a:srgbClr val="FFFFFF"/>
          </a:solidFill>
          <a:ln w="12700">
            <a:solidFill>
              <a:srgbClr val="E2E8F0"/>
            </a:solidFill>
            <a:prstDash val="solid"/>
          </a:ln>
        </p:spPr>
      </p:sp>
      <p:sp>
        <p:nvSpPr>
          <p:cNvPr id="10" name="Shape 8"/>
          <p:cNvSpPr/>
          <p:nvPr/>
        </p:nvSpPr>
        <p:spPr>
          <a:xfrm>
            <a:off x="713232" y="2697480"/>
            <a:ext cx="182880" cy="182880"/>
          </a:xfrm>
          <a:prstGeom prst="ellipse">
            <a:avLst/>
          </a:prstGeom>
          <a:solidFill>
            <a:srgbClr val="F43F5E"/>
          </a:solidFill>
          <a:ln/>
        </p:spPr>
      </p:sp>
      <p:sp>
        <p:nvSpPr>
          <p:cNvPr id="11" name="Text 9"/>
          <p:cNvSpPr/>
          <p:nvPr/>
        </p:nvSpPr>
        <p:spPr>
          <a:xfrm>
            <a:off x="1005840" y="2468880"/>
            <a:ext cx="2103120" cy="640080"/>
          </a:xfrm>
          <a:prstGeom prst="rect">
            <a:avLst/>
          </a:prstGeom>
          <a:noFill/>
          <a:ln/>
        </p:spPr>
        <p:txBody>
          <a:bodyPr wrap="square" lIns="0" tIns="0" rIns="0" bIns="0" rtlCol="0" anchor="ctr"/>
          <a:lstStyle/>
          <a:p>
            <a:pPr indent="0" marL="0">
              <a:buNone/>
            </a:pPr>
            <a:r>
              <a:rPr lang="en-US" sz="1250" b="1" dirty="0">
                <a:solidFill>
                  <a:srgbClr val="F43F5E"/>
                </a:solidFill>
                <a:latin typeface="Courier New" pitchFamily="34" charset="0"/>
                <a:ea typeface="Courier New" pitchFamily="34" charset="-122"/>
                <a:cs typeface="Courier New" pitchFamily="34" charset="-120"/>
              </a:rPr>
              <a:t>PreToolUse</a:t>
            </a:r>
            <a:endParaRPr lang="en-US" sz="1250" dirty="0"/>
          </a:p>
        </p:txBody>
      </p:sp>
      <p:sp>
        <p:nvSpPr>
          <p:cNvPr id="12" name="Text 10"/>
          <p:cNvSpPr/>
          <p:nvPr/>
        </p:nvSpPr>
        <p:spPr>
          <a:xfrm>
            <a:off x="3200400" y="2468880"/>
            <a:ext cx="2468880" cy="64008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Before a tool runs</a:t>
            </a:r>
            <a:endParaRPr lang="en-US" sz="1200" dirty="0"/>
          </a:p>
        </p:txBody>
      </p:sp>
      <p:sp>
        <p:nvSpPr>
          <p:cNvPr id="13" name="Text 11"/>
          <p:cNvSpPr/>
          <p:nvPr/>
        </p:nvSpPr>
        <p:spPr>
          <a:xfrm>
            <a:off x="5760720" y="2468880"/>
            <a:ext cx="5715000" cy="64008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Allow / deny / modify input — block refunds &gt; $500</a:t>
            </a:r>
            <a:endParaRPr lang="en-US" sz="1200" dirty="0"/>
          </a:p>
        </p:txBody>
      </p:sp>
      <p:sp>
        <p:nvSpPr>
          <p:cNvPr id="14" name="Shape 12"/>
          <p:cNvSpPr/>
          <p:nvPr/>
        </p:nvSpPr>
        <p:spPr>
          <a:xfrm>
            <a:off x="548640" y="3218688"/>
            <a:ext cx="11064240" cy="640080"/>
          </a:xfrm>
          <a:prstGeom prst="roundRect">
            <a:avLst>
              <a:gd name="adj" fmla="val 7143"/>
            </a:avLst>
          </a:prstGeom>
          <a:solidFill>
            <a:srgbClr val="F8FAFC"/>
          </a:solidFill>
          <a:ln w="12700">
            <a:solidFill>
              <a:srgbClr val="E2E8F0"/>
            </a:solidFill>
            <a:prstDash val="solid"/>
          </a:ln>
        </p:spPr>
      </p:sp>
      <p:sp>
        <p:nvSpPr>
          <p:cNvPr id="15" name="Shape 13"/>
          <p:cNvSpPr/>
          <p:nvPr/>
        </p:nvSpPr>
        <p:spPr>
          <a:xfrm>
            <a:off x="713232" y="3447288"/>
            <a:ext cx="182880" cy="182880"/>
          </a:xfrm>
          <a:prstGeom prst="ellipse">
            <a:avLst/>
          </a:prstGeom>
          <a:solidFill>
            <a:srgbClr val="14B8A6"/>
          </a:solidFill>
          <a:ln/>
        </p:spPr>
      </p:sp>
      <p:sp>
        <p:nvSpPr>
          <p:cNvPr id="16" name="Text 14"/>
          <p:cNvSpPr/>
          <p:nvPr/>
        </p:nvSpPr>
        <p:spPr>
          <a:xfrm>
            <a:off x="1005840" y="3218688"/>
            <a:ext cx="2103120" cy="640080"/>
          </a:xfrm>
          <a:prstGeom prst="rect">
            <a:avLst/>
          </a:prstGeom>
          <a:noFill/>
          <a:ln/>
        </p:spPr>
        <p:txBody>
          <a:bodyPr wrap="square" lIns="0" tIns="0" rIns="0" bIns="0" rtlCol="0" anchor="ctr"/>
          <a:lstStyle/>
          <a:p>
            <a:pPr indent="0" marL="0">
              <a:buNone/>
            </a:pPr>
            <a:r>
              <a:rPr lang="en-US" sz="1250" b="1" dirty="0">
                <a:solidFill>
                  <a:srgbClr val="14B8A6"/>
                </a:solidFill>
                <a:latin typeface="Courier New" pitchFamily="34" charset="0"/>
                <a:ea typeface="Courier New" pitchFamily="34" charset="-122"/>
                <a:cs typeface="Courier New" pitchFamily="34" charset="-120"/>
              </a:rPr>
              <a:t>PostToolUse</a:t>
            </a:r>
            <a:endParaRPr lang="en-US" sz="1250" dirty="0"/>
          </a:p>
        </p:txBody>
      </p:sp>
      <p:sp>
        <p:nvSpPr>
          <p:cNvPr id="17" name="Text 15"/>
          <p:cNvSpPr/>
          <p:nvPr/>
        </p:nvSpPr>
        <p:spPr>
          <a:xfrm>
            <a:off x="3200400" y="3218688"/>
            <a:ext cx="2468880" cy="64008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After a tool returns</a:t>
            </a:r>
            <a:endParaRPr lang="en-US" sz="1200" dirty="0"/>
          </a:p>
        </p:txBody>
      </p:sp>
      <p:sp>
        <p:nvSpPr>
          <p:cNvPr id="18" name="Text 16"/>
          <p:cNvSpPr/>
          <p:nvPr/>
        </p:nvSpPr>
        <p:spPr>
          <a:xfrm>
            <a:off x="5760720" y="3218688"/>
            <a:ext cx="5715000" cy="64008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Normalize data, append context, replace output</a:t>
            </a:r>
            <a:endParaRPr lang="en-US" sz="1200" dirty="0"/>
          </a:p>
        </p:txBody>
      </p:sp>
      <p:sp>
        <p:nvSpPr>
          <p:cNvPr id="19" name="Shape 17"/>
          <p:cNvSpPr/>
          <p:nvPr/>
        </p:nvSpPr>
        <p:spPr>
          <a:xfrm>
            <a:off x="548640" y="3968496"/>
            <a:ext cx="11064240" cy="640080"/>
          </a:xfrm>
          <a:prstGeom prst="roundRect">
            <a:avLst>
              <a:gd name="adj" fmla="val 7143"/>
            </a:avLst>
          </a:prstGeom>
          <a:solidFill>
            <a:srgbClr val="FFFFFF"/>
          </a:solidFill>
          <a:ln w="12700">
            <a:solidFill>
              <a:srgbClr val="E2E8F0"/>
            </a:solidFill>
            <a:prstDash val="solid"/>
          </a:ln>
        </p:spPr>
      </p:sp>
      <p:sp>
        <p:nvSpPr>
          <p:cNvPr id="20" name="Shape 18"/>
          <p:cNvSpPr/>
          <p:nvPr/>
        </p:nvSpPr>
        <p:spPr>
          <a:xfrm>
            <a:off x="713232" y="4197096"/>
            <a:ext cx="182880" cy="182880"/>
          </a:xfrm>
          <a:prstGeom prst="ellipse">
            <a:avLst/>
          </a:prstGeom>
          <a:solidFill>
            <a:srgbClr val="8B5CF6"/>
          </a:solidFill>
          <a:ln/>
        </p:spPr>
      </p:sp>
      <p:sp>
        <p:nvSpPr>
          <p:cNvPr id="21" name="Text 19"/>
          <p:cNvSpPr/>
          <p:nvPr/>
        </p:nvSpPr>
        <p:spPr>
          <a:xfrm>
            <a:off x="1005840" y="3968496"/>
            <a:ext cx="2103120" cy="640080"/>
          </a:xfrm>
          <a:prstGeom prst="rect">
            <a:avLst/>
          </a:prstGeom>
          <a:noFill/>
          <a:ln/>
        </p:spPr>
        <p:txBody>
          <a:bodyPr wrap="square" lIns="0" tIns="0" rIns="0" bIns="0" rtlCol="0" anchor="ctr"/>
          <a:lstStyle/>
          <a:p>
            <a:pPr indent="0" marL="0">
              <a:buNone/>
            </a:pPr>
            <a:r>
              <a:rPr lang="en-US" sz="1250" b="1" dirty="0">
                <a:solidFill>
                  <a:srgbClr val="8B5CF6"/>
                </a:solidFill>
                <a:latin typeface="Courier New" pitchFamily="34" charset="0"/>
                <a:ea typeface="Courier New" pitchFamily="34" charset="-122"/>
                <a:cs typeface="Courier New" pitchFamily="34" charset="-120"/>
              </a:rPr>
              <a:t>SubagentStart / Stop</a:t>
            </a:r>
            <a:endParaRPr lang="en-US" sz="1250" dirty="0"/>
          </a:p>
        </p:txBody>
      </p:sp>
      <p:sp>
        <p:nvSpPr>
          <p:cNvPr id="22" name="Text 20"/>
          <p:cNvSpPr/>
          <p:nvPr/>
        </p:nvSpPr>
        <p:spPr>
          <a:xfrm>
            <a:off x="3200400" y="3968496"/>
            <a:ext cx="2468880" cy="64008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Subagent lifecycle</a:t>
            </a:r>
            <a:endParaRPr lang="en-US" sz="1200" dirty="0"/>
          </a:p>
        </p:txBody>
      </p:sp>
      <p:sp>
        <p:nvSpPr>
          <p:cNvPr id="23" name="Text 21"/>
          <p:cNvSpPr/>
          <p:nvPr/>
        </p:nvSpPr>
        <p:spPr>
          <a:xfrm>
            <a:off x="5760720" y="3968496"/>
            <a:ext cx="5715000" cy="64008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Track parallel spawning; aggregate results</a:t>
            </a:r>
            <a:endParaRPr lang="en-US" sz="1200" dirty="0"/>
          </a:p>
        </p:txBody>
      </p:sp>
      <p:sp>
        <p:nvSpPr>
          <p:cNvPr id="24" name="Shape 22"/>
          <p:cNvSpPr/>
          <p:nvPr/>
        </p:nvSpPr>
        <p:spPr>
          <a:xfrm>
            <a:off x="548640" y="4718304"/>
            <a:ext cx="11064240" cy="640080"/>
          </a:xfrm>
          <a:prstGeom prst="roundRect">
            <a:avLst>
              <a:gd name="adj" fmla="val 7143"/>
            </a:avLst>
          </a:prstGeom>
          <a:solidFill>
            <a:srgbClr val="F8FAFC"/>
          </a:solidFill>
          <a:ln w="12700">
            <a:solidFill>
              <a:srgbClr val="E2E8F0"/>
            </a:solidFill>
            <a:prstDash val="solid"/>
          </a:ln>
        </p:spPr>
      </p:sp>
      <p:sp>
        <p:nvSpPr>
          <p:cNvPr id="25" name="Shape 23"/>
          <p:cNvSpPr/>
          <p:nvPr/>
        </p:nvSpPr>
        <p:spPr>
          <a:xfrm>
            <a:off x="713232" y="4946904"/>
            <a:ext cx="182880" cy="182880"/>
          </a:xfrm>
          <a:prstGeom prst="ellipse">
            <a:avLst/>
          </a:prstGeom>
          <a:solidFill>
            <a:srgbClr val="4F46E5"/>
          </a:solidFill>
          <a:ln/>
        </p:spPr>
      </p:sp>
      <p:sp>
        <p:nvSpPr>
          <p:cNvPr id="26" name="Text 24"/>
          <p:cNvSpPr/>
          <p:nvPr/>
        </p:nvSpPr>
        <p:spPr>
          <a:xfrm>
            <a:off x="1005840" y="4718304"/>
            <a:ext cx="2103120" cy="640080"/>
          </a:xfrm>
          <a:prstGeom prst="rect">
            <a:avLst/>
          </a:prstGeom>
          <a:noFill/>
          <a:ln/>
        </p:spPr>
        <p:txBody>
          <a:bodyPr wrap="square" lIns="0" tIns="0" rIns="0" bIns="0" rtlCol="0" anchor="ctr"/>
          <a:lstStyle/>
          <a:p>
            <a:pPr indent="0" marL="0">
              <a:buNone/>
            </a:pPr>
            <a:r>
              <a:rPr lang="en-US" sz="1250" b="1" dirty="0">
                <a:solidFill>
                  <a:srgbClr val="4F46E5"/>
                </a:solidFill>
                <a:latin typeface="Courier New" pitchFamily="34" charset="0"/>
                <a:ea typeface="Courier New" pitchFamily="34" charset="-122"/>
                <a:cs typeface="Courier New" pitchFamily="34" charset="-120"/>
              </a:rPr>
              <a:t>UserPromptSubmit</a:t>
            </a:r>
            <a:endParaRPr lang="en-US" sz="1250" dirty="0"/>
          </a:p>
        </p:txBody>
      </p:sp>
      <p:sp>
        <p:nvSpPr>
          <p:cNvPr id="27" name="Text 25"/>
          <p:cNvSpPr/>
          <p:nvPr/>
        </p:nvSpPr>
        <p:spPr>
          <a:xfrm>
            <a:off x="3200400" y="4718304"/>
            <a:ext cx="2468880" cy="64008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On user prompt</a:t>
            </a:r>
            <a:endParaRPr lang="en-US" sz="1200" dirty="0"/>
          </a:p>
        </p:txBody>
      </p:sp>
      <p:sp>
        <p:nvSpPr>
          <p:cNvPr id="28" name="Text 26"/>
          <p:cNvSpPr/>
          <p:nvPr/>
        </p:nvSpPr>
        <p:spPr>
          <a:xfrm>
            <a:off x="5760720" y="4718304"/>
            <a:ext cx="5715000" cy="64008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Inject extra context into the prompt</a:t>
            </a:r>
            <a:endParaRPr lang="en-US" sz="1200" dirty="0"/>
          </a:p>
        </p:txBody>
      </p:sp>
      <p:sp>
        <p:nvSpPr>
          <p:cNvPr id="29" name="Shape 27"/>
          <p:cNvSpPr/>
          <p:nvPr/>
        </p:nvSpPr>
        <p:spPr>
          <a:xfrm>
            <a:off x="548640" y="5468112"/>
            <a:ext cx="11064240" cy="640080"/>
          </a:xfrm>
          <a:prstGeom prst="roundRect">
            <a:avLst>
              <a:gd name="adj" fmla="val 7143"/>
            </a:avLst>
          </a:prstGeom>
          <a:solidFill>
            <a:srgbClr val="FFFFFF"/>
          </a:solidFill>
          <a:ln w="12700">
            <a:solidFill>
              <a:srgbClr val="E2E8F0"/>
            </a:solidFill>
            <a:prstDash val="solid"/>
          </a:ln>
        </p:spPr>
      </p:sp>
      <p:sp>
        <p:nvSpPr>
          <p:cNvPr id="30" name="Shape 28"/>
          <p:cNvSpPr/>
          <p:nvPr/>
        </p:nvSpPr>
        <p:spPr>
          <a:xfrm>
            <a:off x="713232" y="5696712"/>
            <a:ext cx="182880" cy="182880"/>
          </a:xfrm>
          <a:prstGeom prst="ellipse">
            <a:avLst/>
          </a:prstGeom>
          <a:solidFill>
            <a:srgbClr val="F59E0B"/>
          </a:solidFill>
          <a:ln/>
        </p:spPr>
      </p:sp>
      <p:sp>
        <p:nvSpPr>
          <p:cNvPr id="31" name="Text 29"/>
          <p:cNvSpPr/>
          <p:nvPr/>
        </p:nvSpPr>
        <p:spPr>
          <a:xfrm>
            <a:off x="1005840" y="5468112"/>
            <a:ext cx="2103120" cy="640080"/>
          </a:xfrm>
          <a:prstGeom prst="rect">
            <a:avLst/>
          </a:prstGeom>
          <a:noFill/>
          <a:ln/>
        </p:spPr>
        <p:txBody>
          <a:bodyPr wrap="square" lIns="0" tIns="0" rIns="0" bIns="0" rtlCol="0" anchor="ctr"/>
          <a:lstStyle/>
          <a:p>
            <a:pPr indent="0" marL="0">
              <a:buNone/>
            </a:pPr>
            <a:r>
              <a:rPr lang="en-US" sz="1250" b="1" dirty="0">
                <a:solidFill>
                  <a:srgbClr val="F59E0B"/>
                </a:solidFill>
                <a:latin typeface="Courier New" pitchFamily="34" charset="0"/>
                <a:ea typeface="Courier New" pitchFamily="34" charset="-122"/>
                <a:cs typeface="Courier New" pitchFamily="34" charset="-120"/>
              </a:rPr>
              <a:t>Stop / PreCompact</a:t>
            </a:r>
            <a:endParaRPr lang="en-US" sz="1250" dirty="0"/>
          </a:p>
        </p:txBody>
      </p:sp>
      <p:sp>
        <p:nvSpPr>
          <p:cNvPr id="32" name="Text 30"/>
          <p:cNvSpPr/>
          <p:nvPr/>
        </p:nvSpPr>
        <p:spPr>
          <a:xfrm>
            <a:off x="3200400" y="5468112"/>
            <a:ext cx="2468880" cy="64008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End / before compaction</a:t>
            </a:r>
            <a:endParaRPr lang="en-US" sz="1200" dirty="0"/>
          </a:p>
        </p:txBody>
      </p:sp>
      <p:sp>
        <p:nvSpPr>
          <p:cNvPr id="33" name="Text 31"/>
          <p:cNvSpPr/>
          <p:nvPr/>
        </p:nvSpPr>
        <p:spPr>
          <a:xfrm>
            <a:off x="5760720" y="5468112"/>
            <a:ext cx="5715000" cy="64008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Save state; archive transcript before summarizing</a:t>
            </a:r>
            <a:endParaRPr lang="en-US" sz="1200" dirty="0"/>
          </a:p>
        </p:txBody>
      </p:sp>
      <p:sp>
        <p:nvSpPr>
          <p:cNvPr id="34" name="Text 32"/>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35" name="Text 33"/>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36" name="Text 34"/>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04_LIFECYCLE_HOOKS.PY · TASK 1.5</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Walkthrough 4 — PreToolUse enforcement</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platform.claude.com/docs/en/agent-sdk/hooks</a:t>
            </a:r>
            <a:endParaRPr lang="en-US" sz="1050" dirty="0"/>
          </a:p>
        </p:txBody>
      </p:sp>
      <p:sp>
        <p:nvSpPr>
          <p:cNvPr id="5" name="Shape 3"/>
          <p:cNvSpPr/>
          <p:nvPr/>
        </p:nvSpPr>
        <p:spPr>
          <a:xfrm>
            <a:off x="548640" y="1417320"/>
            <a:ext cx="6949440" cy="4114800"/>
          </a:xfrm>
          <a:prstGeom prst="roundRect">
            <a:avLst>
              <a:gd name="adj" fmla="val 1778"/>
            </a:avLst>
          </a:prstGeom>
          <a:solidFill>
            <a:srgbClr val="11142B"/>
          </a:solidFill>
          <a:ln/>
          <a:effectLst>
            <a:outerShdw sx="100000" sy="100000" kx="0" ky="0" algn="bl" rotWithShape="0" blurRad="88900" dist="38100" dir="5400000">
              <a:srgbClr val="000000">
                <a:alpha val="16000"/>
              </a:srgbClr>
            </a:outerShdw>
          </a:effectLst>
        </p:spPr>
      </p:sp>
      <p:sp>
        <p:nvSpPr>
          <p:cNvPr id="6" name="Text 4"/>
          <p:cNvSpPr/>
          <p:nvPr/>
        </p:nvSpPr>
        <p:spPr>
          <a:xfrm>
            <a:off x="749808" y="1563624"/>
            <a:ext cx="6547104" cy="3822192"/>
          </a:xfrm>
          <a:prstGeom prst="rect">
            <a:avLst/>
          </a:prstGeom>
          <a:noFill/>
          <a:ln/>
        </p:spPr>
        <p:txBody>
          <a:bodyPr wrap="square" lIns="0" tIns="0" rIns="0" bIns="0" rtlCol="0" anchor="t"/>
          <a:lstStyle/>
          <a:p>
            <a:pPr indent="0" marL="0">
              <a:lnSpc>
                <a:spcPct val="102000"/>
              </a:lnSpc>
              <a:buNone/>
            </a:pPr>
            <a:r>
              <a:rPr lang="en-US" sz="1250" dirty="0">
                <a:solidFill>
                  <a:srgbClr val="7DD3FC"/>
                </a:solidFill>
                <a:latin typeface="Courier New" pitchFamily="34" charset="0"/>
                <a:ea typeface="Courier New" pitchFamily="34" charset="-122"/>
                <a:cs typeface="Courier New" pitchFamily="34" charset="-120"/>
              </a:rPr>
              <a:t>async def enforce_refund_limit(input, id, ctx):</a:t>
            </a:r>
            <a:endParaRPr lang="en-US" sz="1250" dirty="0"/>
          </a:p>
          <a:p>
            <a:pPr indent="0" marL="0">
              <a:lnSpc>
                <a:spcPct val="102000"/>
              </a:lnSpc>
              <a:buNone/>
            </a:pPr>
            <a:r>
              <a:rPr lang="en-US" sz="1250" dirty="0">
                <a:solidFill>
                  <a:srgbClr val="E2E8F0"/>
                </a:solidFill>
                <a:latin typeface="Courier New" pitchFamily="34" charset="0"/>
                <a:ea typeface="Courier New" pitchFamily="34" charset="-122"/>
                <a:cs typeface="Courier New" pitchFamily="34" charset="-120"/>
              </a:rPr>
              <a:t>  if input["tool_name"]=="mcp__ops__process_refund":</a:t>
            </a:r>
            <a:endParaRPr lang="en-US" sz="1250" dirty="0"/>
          </a:p>
          <a:p>
            <a:pPr indent="0" marL="0">
              <a:lnSpc>
                <a:spcPct val="102000"/>
              </a:lnSpc>
              <a:buNone/>
            </a:pPr>
            <a:r>
              <a:rPr lang="en-US" sz="1250" dirty="0">
                <a:solidFill>
                  <a:srgbClr val="E2E8F0"/>
                </a:solidFill>
                <a:latin typeface="Courier New" pitchFamily="34" charset="0"/>
                <a:ea typeface="Courier New" pitchFamily="34" charset="-122"/>
                <a:cs typeface="Courier New" pitchFamily="34" charset="-120"/>
              </a:rPr>
              <a:t>    amt = float(input["tool_input"]["amount"])</a:t>
            </a:r>
            <a:endParaRPr lang="en-US" sz="1250" dirty="0"/>
          </a:p>
          <a:p>
            <a:pPr indent="0" marL="0">
              <a:lnSpc>
                <a:spcPct val="102000"/>
              </a:lnSpc>
              <a:buNone/>
            </a:pPr>
            <a:r>
              <a:rPr lang="en-US" sz="1250" dirty="0">
                <a:solidFill>
                  <a:srgbClr val="FCD34D"/>
                </a:solidFill>
                <a:latin typeface="Courier New" pitchFamily="34" charset="0"/>
                <a:ea typeface="Courier New" pitchFamily="34" charset="-122"/>
                <a:cs typeface="Courier New" pitchFamily="34" charset="-120"/>
              </a:rPr>
              <a:t>    if amt &gt; 500:                      # 1 the rule</a:t>
            </a:r>
            <a:endParaRPr lang="en-US" sz="1250" dirty="0"/>
          </a:p>
          <a:p>
            <a:pPr indent="0" marL="0">
              <a:lnSpc>
                <a:spcPct val="102000"/>
              </a:lnSpc>
              <a:buNone/>
            </a:pPr>
            <a:r>
              <a:rPr lang="en-US" sz="1250" dirty="0">
                <a:solidFill>
                  <a:srgbClr val="E2E8F0"/>
                </a:solidFill>
                <a:latin typeface="Courier New" pitchFamily="34" charset="0"/>
                <a:ea typeface="Courier New" pitchFamily="34" charset="-122"/>
                <a:cs typeface="Courier New" pitchFamily="34" charset="-120"/>
              </a:rPr>
              <a:t>      return {"hookSpecificOutput": {</a:t>
            </a:r>
            <a:endParaRPr lang="en-US" sz="1250" dirty="0"/>
          </a:p>
          <a:p>
            <a:pPr indent="0" marL="0">
              <a:lnSpc>
                <a:spcPct val="102000"/>
              </a:lnSpc>
              <a:buNone/>
            </a:pPr>
            <a:r>
              <a:rPr lang="en-US" sz="1250" dirty="0">
                <a:solidFill>
                  <a:srgbClr val="E2E8F0"/>
                </a:solidFill>
                <a:latin typeface="Courier New" pitchFamily="34" charset="0"/>
                <a:ea typeface="Courier New" pitchFamily="34" charset="-122"/>
                <a:cs typeface="Courier New" pitchFamily="34" charset="-120"/>
              </a:rPr>
              <a:t>        "hookEventName": input["hook_event_name"],</a:t>
            </a:r>
            <a:endParaRPr lang="en-US" sz="1250" dirty="0"/>
          </a:p>
          <a:p>
            <a:pPr indent="0" marL="0">
              <a:lnSpc>
                <a:spcPct val="102000"/>
              </a:lnSpc>
              <a:buNone/>
            </a:pPr>
            <a:r>
              <a:rPr lang="en-US" sz="1250" dirty="0">
                <a:solidFill>
                  <a:srgbClr val="FCA5A5"/>
                </a:solidFill>
                <a:latin typeface="Courier New" pitchFamily="34" charset="0"/>
                <a:ea typeface="Courier New" pitchFamily="34" charset="-122"/>
                <a:cs typeface="Courier New" pitchFamily="34" charset="-120"/>
              </a:rPr>
              <a:t>        "permissionDecision": "deny",     # 2 blocks</a:t>
            </a:r>
            <a:endParaRPr lang="en-US" sz="1250" dirty="0"/>
          </a:p>
          <a:p>
            <a:pPr indent="0" marL="0">
              <a:lnSpc>
                <a:spcPct val="102000"/>
              </a:lnSpc>
              <a:buNone/>
            </a:pPr>
            <a:r>
              <a:rPr lang="en-US" sz="1250" dirty="0">
                <a:solidFill>
                  <a:srgbClr val="A5B4FC"/>
                </a:solidFill>
                <a:latin typeface="Courier New" pitchFamily="34" charset="0"/>
                <a:ea typeface="Courier New" pitchFamily="34" charset="-122"/>
                <a:cs typeface="Courier New" pitchFamily="34" charset="-120"/>
              </a:rPr>
              <a:t>        "permissionDecisionReason":         # 3 reason</a:t>
            </a:r>
            <a:endParaRPr lang="en-US" sz="1250" dirty="0"/>
          </a:p>
          <a:p>
            <a:pPr indent="0" marL="0">
              <a:lnSpc>
                <a:spcPct val="102000"/>
              </a:lnSpc>
              <a:buNone/>
            </a:pPr>
            <a:r>
              <a:rPr lang="en-US" sz="1250" dirty="0">
                <a:solidFill>
                  <a:srgbClr val="6EE7B7"/>
                </a:solidFill>
                <a:latin typeface="Courier New" pitchFamily="34" charset="0"/>
                <a:ea typeface="Courier New" pitchFamily="34" charset="-122"/>
                <a:cs typeface="Courier New" pitchFamily="34" charset="-120"/>
              </a:rPr>
              <a:t>          "Refunds &gt; $500 need a human."}}</a:t>
            </a:r>
            <a:endParaRPr lang="en-US" sz="1250" dirty="0"/>
          </a:p>
          <a:p>
            <a:pPr indent="0" marL="0">
              <a:lnSpc>
                <a:spcPct val="102000"/>
              </a:lnSpc>
              <a:buNone/>
            </a:pPr>
            <a:r>
              <a:rPr lang="en-US" sz="1250" dirty="0">
                <a:solidFill>
                  <a:srgbClr val="E2E8F0"/>
                </a:solidFill>
                <a:latin typeface="Courier New" pitchFamily="34" charset="0"/>
                <a:ea typeface="Courier New" pitchFamily="34" charset="-122"/>
                <a:cs typeface="Courier New" pitchFamily="34" charset="-120"/>
              </a:rPr>
              <a:t>  return {}   # allow everything else</a:t>
            </a:r>
            <a:endParaRPr lang="en-US" sz="1250" dirty="0"/>
          </a:p>
        </p:txBody>
      </p:sp>
      <p:sp>
        <p:nvSpPr>
          <p:cNvPr id="7" name="Shape 5"/>
          <p:cNvSpPr/>
          <p:nvPr/>
        </p:nvSpPr>
        <p:spPr>
          <a:xfrm>
            <a:off x="7726680" y="1417320"/>
            <a:ext cx="3886200" cy="1234440"/>
          </a:xfrm>
          <a:prstGeom prst="roundRect">
            <a:avLst>
              <a:gd name="adj" fmla="val 4444"/>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8" name="Shape 6"/>
          <p:cNvSpPr/>
          <p:nvPr/>
        </p:nvSpPr>
        <p:spPr>
          <a:xfrm>
            <a:off x="7882128" y="1581912"/>
            <a:ext cx="457200" cy="457200"/>
          </a:xfrm>
          <a:prstGeom prst="ellipse">
            <a:avLst/>
          </a:prstGeom>
          <a:solidFill>
            <a:srgbClr val="F59E0B"/>
          </a:solidFill>
          <a:ln/>
        </p:spPr>
      </p:sp>
      <p:sp>
        <p:nvSpPr>
          <p:cNvPr id="9" name="Text 7"/>
          <p:cNvSpPr/>
          <p:nvPr/>
        </p:nvSpPr>
        <p:spPr>
          <a:xfrm>
            <a:off x="7882128" y="15819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p:nvPr/>
        </p:nvSpPr>
        <p:spPr>
          <a:xfrm>
            <a:off x="8458200" y="1600200"/>
            <a:ext cx="3017520" cy="365760"/>
          </a:xfrm>
          <a:prstGeom prst="rect">
            <a:avLst/>
          </a:prstGeom>
          <a:noFill/>
          <a:ln/>
        </p:spPr>
        <p:txBody>
          <a:bodyPr wrap="square" lIns="0" tIns="0" rIns="0" bIns="0" rtlCol="0" anchor="ctr"/>
          <a:lstStyle/>
          <a:p>
            <a:pPr indent="0" marL="0">
              <a:buNone/>
            </a:pPr>
            <a:r>
              <a:rPr lang="en-US" sz="1250" b="1" dirty="0">
                <a:solidFill>
                  <a:srgbClr val="12132E"/>
                </a:solidFill>
                <a:latin typeface="Calibri" pitchFamily="34" charset="0"/>
                <a:ea typeface="Calibri" pitchFamily="34" charset="-122"/>
                <a:cs typeface="Calibri" pitchFamily="34" charset="-120"/>
              </a:rPr>
              <a:t>Match the rule</a:t>
            </a:r>
            <a:endParaRPr lang="en-US" sz="1250" dirty="0"/>
          </a:p>
        </p:txBody>
      </p:sp>
      <p:sp>
        <p:nvSpPr>
          <p:cNvPr id="11" name="Text 9"/>
          <p:cNvSpPr/>
          <p:nvPr/>
        </p:nvSpPr>
        <p:spPr>
          <a:xfrm>
            <a:off x="7882128" y="2020824"/>
            <a:ext cx="3566160" cy="548640"/>
          </a:xfrm>
          <a:prstGeom prst="rect">
            <a:avLst/>
          </a:prstGeom>
          <a:noFill/>
          <a:ln/>
        </p:spPr>
        <p:txBody>
          <a:bodyPr wrap="square" lIns="0" tIns="0" rIns="0" bIns="0" rtlCol="0" anchor="ctr"/>
          <a:lstStyle/>
          <a:p>
            <a:pPr indent="0" marL="0">
              <a:lnSpc>
                <a:spcPct val="103000"/>
              </a:lnSpc>
              <a:buNone/>
            </a:pPr>
            <a:r>
              <a:rPr lang="en-US" sz="1100" dirty="0">
                <a:solidFill>
                  <a:srgbClr val="64748B"/>
                </a:solidFill>
                <a:latin typeface="Calibri" pitchFamily="34" charset="0"/>
                <a:ea typeface="Calibri" pitchFamily="34" charset="-122"/>
                <a:cs typeface="Calibri" pitchFamily="34" charset="-120"/>
              </a:rPr>
              <a:t>Inspect the args before the tool runs — here, amount &gt; $500.</a:t>
            </a:r>
            <a:endParaRPr lang="en-US" sz="1100" dirty="0"/>
          </a:p>
        </p:txBody>
      </p:sp>
      <p:sp>
        <p:nvSpPr>
          <p:cNvPr id="12" name="Shape 10"/>
          <p:cNvSpPr/>
          <p:nvPr/>
        </p:nvSpPr>
        <p:spPr>
          <a:xfrm>
            <a:off x="7726680" y="2834640"/>
            <a:ext cx="3886200" cy="1234440"/>
          </a:xfrm>
          <a:prstGeom prst="roundRect">
            <a:avLst>
              <a:gd name="adj" fmla="val 4444"/>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3" name="Shape 11"/>
          <p:cNvSpPr/>
          <p:nvPr/>
        </p:nvSpPr>
        <p:spPr>
          <a:xfrm>
            <a:off x="7882128" y="2999232"/>
            <a:ext cx="457200" cy="457200"/>
          </a:xfrm>
          <a:prstGeom prst="ellipse">
            <a:avLst/>
          </a:prstGeom>
          <a:solidFill>
            <a:srgbClr val="F43F5E"/>
          </a:solidFill>
          <a:ln/>
        </p:spPr>
      </p:sp>
      <p:sp>
        <p:nvSpPr>
          <p:cNvPr id="14" name="Text 12"/>
          <p:cNvSpPr/>
          <p:nvPr/>
        </p:nvSpPr>
        <p:spPr>
          <a:xfrm>
            <a:off x="7882128" y="299923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3"/>
          <p:cNvSpPr/>
          <p:nvPr/>
        </p:nvSpPr>
        <p:spPr>
          <a:xfrm>
            <a:off x="8458200" y="3017520"/>
            <a:ext cx="3017520" cy="365760"/>
          </a:xfrm>
          <a:prstGeom prst="rect">
            <a:avLst/>
          </a:prstGeom>
          <a:noFill/>
          <a:ln/>
        </p:spPr>
        <p:txBody>
          <a:bodyPr wrap="square" lIns="0" tIns="0" rIns="0" bIns="0" rtlCol="0" anchor="ctr"/>
          <a:lstStyle/>
          <a:p>
            <a:pPr indent="0" marL="0">
              <a:buNone/>
            </a:pPr>
            <a:r>
              <a:rPr lang="en-US" sz="1250" b="1" dirty="0">
                <a:solidFill>
                  <a:srgbClr val="12132E"/>
                </a:solidFill>
                <a:latin typeface="Calibri" pitchFamily="34" charset="0"/>
                <a:ea typeface="Calibri" pitchFamily="34" charset="-122"/>
                <a:cs typeface="Calibri" pitchFamily="34" charset="-120"/>
              </a:rPr>
              <a:t>deny blocks the call</a:t>
            </a:r>
            <a:endParaRPr lang="en-US" sz="1250" dirty="0"/>
          </a:p>
        </p:txBody>
      </p:sp>
      <p:sp>
        <p:nvSpPr>
          <p:cNvPr id="16" name="Text 14"/>
          <p:cNvSpPr/>
          <p:nvPr/>
        </p:nvSpPr>
        <p:spPr>
          <a:xfrm>
            <a:off x="7882128" y="3438144"/>
            <a:ext cx="3566160" cy="548640"/>
          </a:xfrm>
          <a:prstGeom prst="rect">
            <a:avLst/>
          </a:prstGeom>
          <a:noFill/>
          <a:ln/>
        </p:spPr>
        <p:txBody>
          <a:bodyPr wrap="square" lIns="0" tIns="0" rIns="0" bIns="0" rtlCol="0" anchor="ctr"/>
          <a:lstStyle/>
          <a:p>
            <a:pPr indent="0" marL="0">
              <a:lnSpc>
                <a:spcPct val="103000"/>
              </a:lnSpc>
              <a:buNone/>
            </a:pPr>
            <a:r>
              <a:rPr lang="en-US" sz="1100" dirty="0">
                <a:solidFill>
                  <a:srgbClr val="64748B"/>
                </a:solidFill>
                <a:latin typeface="Calibri" pitchFamily="34" charset="0"/>
                <a:ea typeface="Calibri" pitchFamily="34" charset="-122"/>
                <a:cs typeface="Calibri" pitchFamily="34" charset="-120"/>
              </a:rPr>
              <a:t>permissionDecision: allow | deny | ask | defer.</a:t>
            </a:r>
            <a:endParaRPr lang="en-US" sz="1100" dirty="0"/>
          </a:p>
        </p:txBody>
      </p:sp>
      <p:sp>
        <p:nvSpPr>
          <p:cNvPr id="17" name="Shape 15"/>
          <p:cNvSpPr/>
          <p:nvPr/>
        </p:nvSpPr>
        <p:spPr>
          <a:xfrm>
            <a:off x="7726680" y="4251960"/>
            <a:ext cx="3886200" cy="1234440"/>
          </a:xfrm>
          <a:prstGeom prst="roundRect">
            <a:avLst>
              <a:gd name="adj" fmla="val 4444"/>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8" name="Shape 16"/>
          <p:cNvSpPr/>
          <p:nvPr/>
        </p:nvSpPr>
        <p:spPr>
          <a:xfrm>
            <a:off x="7882128" y="4416552"/>
            <a:ext cx="457200" cy="457200"/>
          </a:xfrm>
          <a:prstGeom prst="ellipse">
            <a:avLst/>
          </a:prstGeom>
          <a:solidFill>
            <a:srgbClr val="4F46E5"/>
          </a:solidFill>
          <a:ln/>
        </p:spPr>
      </p:sp>
      <p:sp>
        <p:nvSpPr>
          <p:cNvPr id="19" name="Text 17"/>
          <p:cNvSpPr/>
          <p:nvPr/>
        </p:nvSpPr>
        <p:spPr>
          <a:xfrm>
            <a:off x="7882128" y="441655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Text 18"/>
          <p:cNvSpPr/>
          <p:nvPr/>
        </p:nvSpPr>
        <p:spPr>
          <a:xfrm>
            <a:off x="8458200" y="4434840"/>
            <a:ext cx="3017520" cy="365760"/>
          </a:xfrm>
          <a:prstGeom prst="rect">
            <a:avLst/>
          </a:prstGeom>
          <a:noFill/>
          <a:ln/>
        </p:spPr>
        <p:txBody>
          <a:bodyPr wrap="square" lIns="0" tIns="0" rIns="0" bIns="0" rtlCol="0" anchor="ctr"/>
          <a:lstStyle/>
          <a:p>
            <a:pPr indent="0" marL="0">
              <a:buNone/>
            </a:pPr>
            <a:r>
              <a:rPr lang="en-US" sz="1250" b="1" dirty="0">
                <a:solidFill>
                  <a:srgbClr val="12132E"/>
                </a:solidFill>
                <a:latin typeface="Calibri" pitchFamily="34" charset="0"/>
                <a:ea typeface="Calibri" pitchFamily="34" charset="-122"/>
                <a:cs typeface="Calibri" pitchFamily="34" charset="-120"/>
              </a:rPr>
              <a:t>Give a reason</a:t>
            </a:r>
            <a:endParaRPr lang="en-US" sz="1250" dirty="0"/>
          </a:p>
        </p:txBody>
      </p:sp>
      <p:sp>
        <p:nvSpPr>
          <p:cNvPr id="21" name="Text 19"/>
          <p:cNvSpPr/>
          <p:nvPr/>
        </p:nvSpPr>
        <p:spPr>
          <a:xfrm>
            <a:off x="7882128" y="4855464"/>
            <a:ext cx="3566160" cy="548640"/>
          </a:xfrm>
          <a:prstGeom prst="rect">
            <a:avLst/>
          </a:prstGeom>
          <a:noFill/>
          <a:ln/>
        </p:spPr>
        <p:txBody>
          <a:bodyPr wrap="square" lIns="0" tIns="0" rIns="0" bIns="0" rtlCol="0" anchor="ctr"/>
          <a:lstStyle/>
          <a:p>
            <a:pPr indent="0" marL="0">
              <a:lnSpc>
                <a:spcPct val="103000"/>
              </a:lnSpc>
              <a:buNone/>
            </a:pPr>
            <a:r>
              <a:rPr lang="en-US" sz="1100" dirty="0">
                <a:solidFill>
                  <a:srgbClr val="64748B"/>
                </a:solidFill>
                <a:latin typeface="Calibri" pitchFamily="34" charset="0"/>
                <a:ea typeface="Calibri" pitchFamily="34" charset="-122"/>
                <a:cs typeface="Calibri" pitchFamily="34" charset="-120"/>
              </a:rPr>
              <a:t>The model sees it and won't blindly retry. deny always wins if hooks conflict.</a:t>
            </a:r>
            <a:endParaRPr lang="en-US" sz="1100" dirty="0"/>
          </a:p>
        </p:txBody>
      </p:sp>
      <p:sp>
        <p:nvSpPr>
          <p:cNvPr id="22" name="Text 20"/>
          <p:cNvSpPr/>
          <p:nvPr/>
        </p:nvSpPr>
        <p:spPr>
          <a:xfrm>
            <a:off x="548640" y="5669280"/>
            <a:ext cx="11064240" cy="411480"/>
          </a:xfrm>
          <a:prstGeom prst="rect">
            <a:avLst/>
          </a:prstGeom>
          <a:noFill/>
          <a:ln/>
        </p:spPr>
        <p:txBody>
          <a:bodyPr wrap="square" lIns="0" tIns="0" rIns="0" bIns="0" rtlCol="0" anchor="ctr"/>
          <a:lstStyle/>
          <a:p>
            <a:pPr indent="0" marL="0">
              <a:buNone/>
            </a:pPr>
            <a:r>
              <a:rPr lang="en-US" sz="1200" i="1" dirty="0">
                <a:solidFill>
                  <a:srgbClr val="4F46E5"/>
                </a:solidFill>
                <a:latin typeface="Calibri" pitchFamily="34" charset="0"/>
                <a:ea typeface="Calibri" pitchFamily="34" charset="-122"/>
                <a:cs typeface="Calibri" pitchFamily="34" charset="-120"/>
              </a:rPr>
              <a:t>PreToolUse can also rewrite a call: return updatedInput (with permissionDecision "allow") to sandbox a path or sanitize arguments before execution.</a:t>
            </a:r>
            <a:endParaRPr lang="en-US" sz="1200" dirty="0"/>
          </a:p>
        </p:txBody>
      </p:sp>
      <p:sp>
        <p:nvSpPr>
          <p:cNvPr id="23" name="Text 21"/>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24" name="Text 22"/>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25" name="Text 23"/>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TASK 1.5</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PostToolUse — normalize heterogeneous data</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platform.claude.com/docs/en/agent-sdk/hooks#outputs</a:t>
            </a:r>
            <a:endParaRPr lang="en-US" sz="1050" dirty="0"/>
          </a:p>
        </p:txBody>
      </p:sp>
      <p:sp>
        <p:nvSpPr>
          <p:cNvPr id="5" name="Text 3"/>
          <p:cNvSpPr/>
          <p:nvPr/>
        </p:nvSpPr>
        <p:spPr>
          <a:xfrm>
            <a:off x="548640" y="1371600"/>
            <a:ext cx="11064240" cy="731520"/>
          </a:xfrm>
          <a:prstGeom prst="rect">
            <a:avLst/>
          </a:prstGeom>
          <a:noFill/>
          <a:ln/>
        </p:spPr>
        <p:txBody>
          <a:bodyPr wrap="square" lIns="0" tIns="0" rIns="0" bIns="0" rtlCol="0" anchor="ctr"/>
          <a:lstStyle/>
          <a:p>
            <a:pPr indent="0" marL="0">
              <a:lnSpc>
                <a:spcPct val="105000"/>
              </a:lnSpc>
              <a:buNone/>
            </a:pPr>
            <a:r>
              <a:rPr lang="en-US" sz="1450" dirty="0">
                <a:solidFill>
                  <a:srgbClr val="1E293B"/>
                </a:solidFill>
                <a:latin typeface="Calibri" pitchFamily="34" charset="0"/>
                <a:ea typeface="Calibri" pitchFamily="34" charset="-122"/>
                <a:cs typeface="Calibri" pitchFamily="34" charset="-120"/>
              </a:rPr>
              <a:t>Different MCP tools return dates as Unix timestamps, ISO-8601, or numeric codes. A PostToolUse hook normalizes results BEFORE the model reasons over them — removing a whole class of confusion.</a:t>
            </a:r>
            <a:endParaRPr lang="en-US" sz="1450" dirty="0"/>
          </a:p>
        </p:txBody>
      </p:sp>
      <p:sp>
        <p:nvSpPr>
          <p:cNvPr id="6" name="Shape 4"/>
          <p:cNvSpPr/>
          <p:nvPr/>
        </p:nvSpPr>
        <p:spPr>
          <a:xfrm>
            <a:off x="548640" y="2240280"/>
            <a:ext cx="6949440" cy="3383280"/>
          </a:xfrm>
          <a:prstGeom prst="roundRect">
            <a:avLst>
              <a:gd name="adj" fmla="val 2162"/>
            </a:avLst>
          </a:prstGeom>
          <a:solidFill>
            <a:srgbClr val="11142B"/>
          </a:solidFill>
          <a:ln/>
          <a:effectLst>
            <a:outerShdw sx="100000" sy="100000" kx="0" ky="0" algn="bl" rotWithShape="0" blurRad="88900" dist="38100" dir="5400000">
              <a:srgbClr val="000000">
                <a:alpha val="16000"/>
              </a:srgbClr>
            </a:outerShdw>
          </a:effectLst>
        </p:spPr>
      </p:sp>
      <p:sp>
        <p:nvSpPr>
          <p:cNvPr id="7" name="Text 5"/>
          <p:cNvSpPr/>
          <p:nvPr/>
        </p:nvSpPr>
        <p:spPr>
          <a:xfrm>
            <a:off x="749808" y="2386584"/>
            <a:ext cx="6547104" cy="3090672"/>
          </a:xfrm>
          <a:prstGeom prst="rect">
            <a:avLst/>
          </a:prstGeom>
          <a:noFill/>
          <a:ln/>
        </p:spPr>
        <p:txBody>
          <a:bodyPr wrap="square" lIns="0" tIns="0" rIns="0" bIns="0" rtlCol="0" anchor="t"/>
          <a:lstStyle/>
          <a:p>
            <a:pPr indent="0" marL="0">
              <a:lnSpc>
                <a:spcPct val="102000"/>
              </a:lnSpc>
              <a:buNone/>
            </a:pPr>
            <a:r>
              <a:rPr lang="en-US" sz="1250" dirty="0">
                <a:solidFill>
                  <a:srgbClr val="7DD3FC"/>
                </a:solidFill>
                <a:latin typeface="Courier New" pitchFamily="34" charset="0"/>
                <a:ea typeface="Courier New" pitchFamily="34" charset="-122"/>
                <a:cs typeface="Courier New" pitchFamily="34" charset="-120"/>
              </a:rPr>
              <a:t>async def normalize_timestamps(input, id, ctx):</a:t>
            </a:r>
            <a:endParaRPr lang="en-US" sz="1250" dirty="0"/>
          </a:p>
          <a:p>
            <a:pPr indent="0" marL="0">
              <a:lnSpc>
                <a:spcPct val="102000"/>
              </a:lnSpc>
              <a:buNone/>
            </a:pPr>
            <a:r>
              <a:rPr lang="en-US" sz="1250" dirty="0">
                <a:solidFill>
                  <a:srgbClr val="E2E8F0"/>
                </a:solidFill>
                <a:latin typeface="Courier New" pitchFamily="34" charset="0"/>
                <a:ea typeface="Courier New" pitchFamily="34" charset="-122"/>
                <a:cs typeface="Courier New" pitchFamily="34" charset="-120"/>
              </a:rPr>
              <a:t>  if input["tool_name"]=="mcp__ops__lookup_order":</a:t>
            </a:r>
            <a:endParaRPr lang="en-US" sz="1250" dirty="0"/>
          </a:p>
          <a:p>
            <a:pPr indent="0" marL="0">
              <a:lnSpc>
                <a:spcPct val="102000"/>
              </a:lnSpc>
              <a:buNone/>
            </a:pPr>
            <a:r>
              <a:rPr lang="en-US" sz="1250" dirty="0">
                <a:solidFill>
                  <a:srgbClr val="E2E8F0"/>
                </a:solidFill>
                <a:latin typeface="Courier New" pitchFamily="34" charset="0"/>
                <a:ea typeface="Courier New" pitchFamily="34" charset="-122"/>
                <a:cs typeface="Courier New" pitchFamily="34" charset="-120"/>
              </a:rPr>
              <a:t>    data = json.loads(raw_text(input))</a:t>
            </a:r>
            <a:endParaRPr lang="en-US" sz="1250" dirty="0"/>
          </a:p>
          <a:p>
            <a:pPr indent="0" marL="0">
              <a:lnSpc>
                <a:spcPct val="102000"/>
              </a:lnSpc>
              <a:buNone/>
            </a:pPr>
            <a:r>
              <a:rPr lang="en-US" sz="1250" dirty="0">
                <a:solidFill>
                  <a:srgbClr val="6EE7B7"/>
                </a:solidFill>
                <a:latin typeface="Courier New" pitchFamily="34" charset="0"/>
                <a:ea typeface="Courier New" pitchFamily="34" charset="-122"/>
                <a:cs typeface="Courier New" pitchFamily="34" charset="-120"/>
              </a:rPr>
              <a:t>    iso = to_iso8601(data["ordered_at"])  # 1719500000→</a:t>
            </a:r>
            <a:endParaRPr lang="en-US" sz="1250" dirty="0"/>
          </a:p>
          <a:p>
            <a:pPr indent="0" marL="0">
              <a:lnSpc>
                <a:spcPct val="102000"/>
              </a:lnSpc>
              <a:buNone/>
            </a:pPr>
            <a:r>
              <a:rPr lang="en-US" sz="1250" dirty="0">
                <a:solidFill>
                  <a:srgbClr val="E2E8F0"/>
                </a:solidFill>
                <a:latin typeface="Courier New" pitchFamily="34" charset="0"/>
                <a:ea typeface="Courier New" pitchFamily="34" charset="-122"/>
                <a:cs typeface="Courier New" pitchFamily="34" charset="-120"/>
              </a:rPr>
              <a:t>    return {"hookSpecificOutput": {</a:t>
            </a:r>
            <a:endParaRPr lang="en-US" sz="1250" dirty="0"/>
          </a:p>
          <a:p>
            <a:pPr indent="0" marL="0">
              <a:lnSpc>
                <a:spcPct val="102000"/>
              </a:lnSpc>
              <a:buNone/>
            </a:pPr>
            <a:r>
              <a:rPr lang="en-US" sz="1250" dirty="0">
                <a:solidFill>
                  <a:srgbClr val="E2E8F0"/>
                </a:solidFill>
                <a:latin typeface="Courier New" pitchFamily="34" charset="0"/>
                <a:ea typeface="Courier New" pitchFamily="34" charset="-122"/>
                <a:cs typeface="Courier New" pitchFamily="34" charset="-120"/>
              </a:rPr>
              <a:t>      "hookEventName": input["hook_event_name"],</a:t>
            </a:r>
            <a:endParaRPr lang="en-US" sz="1250" dirty="0"/>
          </a:p>
          <a:p>
            <a:pPr indent="0" marL="0">
              <a:lnSpc>
                <a:spcPct val="102000"/>
              </a:lnSpc>
              <a:buNone/>
            </a:pPr>
            <a:r>
              <a:rPr lang="en-US" sz="1250" dirty="0">
                <a:solidFill>
                  <a:srgbClr val="FCD34D"/>
                </a:solidFill>
                <a:latin typeface="Courier New" pitchFamily="34" charset="0"/>
                <a:ea typeface="Courier New" pitchFamily="34" charset="-122"/>
                <a:cs typeface="Courier New" pitchFamily="34" charset="-120"/>
              </a:rPr>
              <a:t>      "additionalContext":                   # append</a:t>
            </a:r>
            <a:endParaRPr lang="en-US" sz="1250" dirty="0"/>
          </a:p>
          <a:p>
            <a:pPr indent="0" marL="0">
              <a:lnSpc>
                <a:spcPct val="102000"/>
              </a:lnSpc>
              <a:buNone/>
            </a:pPr>
            <a:r>
              <a:rPr lang="en-US" sz="1250" dirty="0">
                <a:solidFill>
                  <a:srgbClr val="FCD34D"/>
                </a:solidFill>
                <a:latin typeface="Courier New" pitchFamily="34" charset="0"/>
                <a:ea typeface="Courier New" pitchFamily="34" charset="-122"/>
                <a:cs typeface="Courier New" pitchFamily="34" charset="-120"/>
              </a:rPr>
              <a:t>        f"Normalized ordered_at (ISO): {iso}"}}</a:t>
            </a:r>
            <a:endParaRPr lang="en-US" sz="1250" dirty="0"/>
          </a:p>
          <a:p>
            <a:pPr indent="0" marL="0">
              <a:lnSpc>
                <a:spcPct val="102000"/>
              </a:lnSpc>
              <a:buNone/>
            </a:pPr>
            <a:r>
              <a:rPr lang="en-US" sz="1250" dirty="0">
                <a:solidFill>
                  <a:srgbClr val="E2E8F0"/>
                </a:solidFill>
                <a:latin typeface="Courier New" pitchFamily="34" charset="0"/>
                <a:ea typeface="Courier New" pitchFamily="34" charset="-122"/>
                <a:cs typeface="Courier New" pitchFamily="34" charset="-120"/>
              </a:rPr>
              <a:t>  return {}</a:t>
            </a:r>
            <a:endParaRPr lang="en-US" sz="1250" dirty="0"/>
          </a:p>
        </p:txBody>
      </p:sp>
      <p:sp>
        <p:nvSpPr>
          <p:cNvPr id="8" name="Shape 6"/>
          <p:cNvSpPr/>
          <p:nvPr/>
        </p:nvSpPr>
        <p:spPr>
          <a:xfrm>
            <a:off x="7726680" y="2240280"/>
            <a:ext cx="3886200" cy="987552"/>
          </a:xfrm>
          <a:prstGeom prst="roundRect">
            <a:avLst>
              <a:gd name="adj" fmla="val 5556"/>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9" name="Shape 7"/>
          <p:cNvSpPr/>
          <p:nvPr/>
        </p:nvSpPr>
        <p:spPr>
          <a:xfrm>
            <a:off x="7909560" y="2404872"/>
            <a:ext cx="237744" cy="237744"/>
          </a:xfrm>
          <a:prstGeom prst="ellipse">
            <a:avLst/>
          </a:prstGeom>
          <a:solidFill>
            <a:srgbClr val="14B8A6"/>
          </a:solidFill>
          <a:ln/>
        </p:spPr>
      </p:sp>
      <p:sp>
        <p:nvSpPr>
          <p:cNvPr id="10" name="Text 8"/>
          <p:cNvSpPr/>
          <p:nvPr/>
        </p:nvSpPr>
        <p:spPr>
          <a:xfrm>
            <a:off x="8247888" y="2350008"/>
            <a:ext cx="3200400" cy="365760"/>
          </a:xfrm>
          <a:prstGeom prst="rect">
            <a:avLst/>
          </a:prstGeom>
          <a:noFill/>
          <a:ln/>
        </p:spPr>
        <p:txBody>
          <a:bodyPr wrap="square" lIns="0" tIns="0" rIns="0" bIns="0" rtlCol="0" anchor="ctr"/>
          <a:lstStyle/>
          <a:p>
            <a:pPr indent="0" marL="0">
              <a:buNone/>
            </a:pPr>
            <a:r>
              <a:rPr lang="en-US" sz="1150" b="1" dirty="0">
                <a:solidFill>
                  <a:srgbClr val="14B8A6"/>
                </a:solidFill>
                <a:latin typeface="Courier New" pitchFamily="34" charset="0"/>
                <a:ea typeface="Courier New" pitchFamily="34" charset="-122"/>
                <a:cs typeface="Courier New" pitchFamily="34" charset="-120"/>
              </a:rPr>
              <a:t>Fires after execution</a:t>
            </a:r>
            <a:endParaRPr lang="en-US" sz="1150" dirty="0"/>
          </a:p>
        </p:txBody>
      </p:sp>
      <p:sp>
        <p:nvSpPr>
          <p:cNvPr id="11" name="Text 9"/>
          <p:cNvSpPr/>
          <p:nvPr/>
        </p:nvSpPr>
        <p:spPr>
          <a:xfrm>
            <a:off x="7909560" y="2715768"/>
            <a:ext cx="3520440" cy="457200"/>
          </a:xfrm>
          <a:prstGeom prst="rect">
            <a:avLst/>
          </a:prstGeom>
          <a:noFill/>
          <a:ln/>
        </p:spPr>
        <p:txBody>
          <a:bodyPr wrap="square" lIns="0" tIns="0" rIns="0" bIns="0" rtlCol="0" anchor="ctr"/>
          <a:lstStyle/>
          <a:p>
            <a:pPr indent="0" marL="0">
              <a:lnSpc>
                <a:spcPct val="102000"/>
              </a:lnSpc>
              <a:buNone/>
            </a:pPr>
            <a:r>
              <a:rPr lang="en-US" sz="1100" dirty="0">
                <a:solidFill>
                  <a:srgbClr val="64748B"/>
                </a:solidFill>
                <a:latin typeface="Calibri" pitchFamily="34" charset="0"/>
                <a:ea typeface="Calibri" pitchFamily="34" charset="-122"/>
                <a:cs typeface="Calibri" pitchFamily="34" charset="-120"/>
              </a:rPr>
              <a:t>Transform results the model hasn't seen yet.</a:t>
            </a:r>
            <a:endParaRPr lang="en-US" sz="1100" dirty="0"/>
          </a:p>
        </p:txBody>
      </p:sp>
      <p:sp>
        <p:nvSpPr>
          <p:cNvPr id="12" name="Shape 10"/>
          <p:cNvSpPr/>
          <p:nvPr/>
        </p:nvSpPr>
        <p:spPr>
          <a:xfrm>
            <a:off x="7726680" y="3410712"/>
            <a:ext cx="3886200" cy="987552"/>
          </a:xfrm>
          <a:prstGeom prst="roundRect">
            <a:avLst>
              <a:gd name="adj" fmla="val 5556"/>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3" name="Shape 11"/>
          <p:cNvSpPr/>
          <p:nvPr/>
        </p:nvSpPr>
        <p:spPr>
          <a:xfrm>
            <a:off x="7909560" y="3575304"/>
            <a:ext cx="237744" cy="237744"/>
          </a:xfrm>
          <a:prstGeom prst="ellipse">
            <a:avLst/>
          </a:prstGeom>
          <a:solidFill>
            <a:srgbClr val="F59E0B"/>
          </a:solidFill>
          <a:ln/>
        </p:spPr>
      </p:sp>
      <p:sp>
        <p:nvSpPr>
          <p:cNvPr id="14" name="Text 12"/>
          <p:cNvSpPr/>
          <p:nvPr/>
        </p:nvSpPr>
        <p:spPr>
          <a:xfrm>
            <a:off x="8247888" y="3520440"/>
            <a:ext cx="3200400" cy="365760"/>
          </a:xfrm>
          <a:prstGeom prst="rect">
            <a:avLst/>
          </a:prstGeom>
          <a:noFill/>
          <a:ln/>
        </p:spPr>
        <p:txBody>
          <a:bodyPr wrap="square" lIns="0" tIns="0" rIns="0" bIns="0" rtlCol="0" anchor="ctr"/>
          <a:lstStyle/>
          <a:p>
            <a:pPr indent="0" marL="0">
              <a:buNone/>
            </a:pPr>
            <a:r>
              <a:rPr lang="en-US" sz="1150" b="1" dirty="0">
                <a:solidFill>
                  <a:srgbClr val="F59E0B"/>
                </a:solidFill>
                <a:latin typeface="Courier New" pitchFamily="34" charset="0"/>
                <a:ea typeface="Courier New" pitchFamily="34" charset="-122"/>
                <a:cs typeface="Courier New" pitchFamily="34" charset="-120"/>
              </a:rPr>
              <a:t>additionalContext</a:t>
            </a:r>
            <a:endParaRPr lang="en-US" sz="1150" dirty="0"/>
          </a:p>
        </p:txBody>
      </p:sp>
      <p:sp>
        <p:nvSpPr>
          <p:cNvPr id="15" name="Text 13"/>
          <p:cNvSpPr/>
          <p:nvPr/>
        </p:nvSpPr>
        <p:spPr>
          <a:xfrm>
            <a:off x="7909560" y="3886200"/>
            <a:ext cx="3520440" cy="457200"/>
          </a:xfrm>
          <a:prstGeom prst="rect">
            <a:avLst/>
          </a:prstGeom>
          <a:noFill/>
          <a:ln/>
        </p:spPr>
        <p:txBody>
          <a:bodyPr wrap="square" lIns="0" tIns="0" rIns="0" bIns="0" rtlCol="0" anchor="ctr"/>
          <a:lstStyle/>
          <a:p>
            <a:pPr indent="0" marL="0">
              <a:lnSpc>
                <a:spcPct val="102000"/>
              </a:lnSpc>
              <a:buNone/>
            </a:pPr>
            <a:r>
              <a:rPr lang="en-US" sz="1100" dirty="0">
                <a:solidFill>
                  <a:srgbClr val="64748B"/>
                </a:solidFill>
                <a:latin typeface="Calibri" pitchFamily="34" charset="0"/>
                <a:ea typeface="Calibri" pitchFamily="34" charset="-122"/>
                <a:cs typeface="Calibri" pitchFamily="34" charset="-120"/>
              </a:rPr>
              <a:t>Append normalized info to the tool result (matches the highlighted line).</a:t>
            </a:r>
            <a:endParaRPr lang="en-US" sz="1100" dirty="0"/>
          </a:p>
        </p:txBody>
      </p:sp>
      <p:sp>
        <p:nvSpPr>
          <p:cNvPr id="16" name="Shape 14"/>
          <p:cNvSpPr/>
          <p:nvPr/>
        </p:nvSpPr>
        <p:spPr>
          <a:xfrm>
            <a:off x="7726680" y="4581144"/>
            <a:ext cx="3886200" cy="987552"/>
          </a:xfrm>
          <a:prstGeom prst="roundRect">
            <a:avLst>
              <a:gd name="adj" fmla="val 5556"/>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7" name="Shape 15"/>
          <p:cNvSpPr/>
          <p:nvPr/>
        </p:nvSpPr>
        <p:spPr>
          <a:xfrm>
            <a:off x="7909560" y="4745736"/>
            <a:ext cx="237744" cy="237744"/>
          </a:xfrm>
          <a:prstGeom prst="ellipse">
            <a:avLst/>
          </a:prstGeom>
          <a:solidFill>
            <a:srgbClr val="4F46E5"/>
          </a:solidFill>
          <a:ln/>
        </p:spPr>
      </p:sp>
      <p:sp>
        <p:nvSpPr>
          <p:cNvPr id="18" name="Text 16"/>
          <p:cNvSpPr/>
          <p:nvPr/>
        </p:nvSpPr>
        <p:spPr>
          <a:xfrm>
            <a:off x="8247888" y="4690872"/>
            <a:ext cx="3200400" cy="365760"/>
          </a:xfrm>
          <a:prstGeom prst="rect">
            <a:avLst/>
          </a:prstGeom>
          <a:noFill/>
          <a:ln/>
        </p:spPr>
        <p:txBody>
          <a:bodyPr wrap="square" lIns="0" tIns="0" rIns="0" bIns="0" rtlCol="0" anchor="ctr"/>
          <a:lstStyle/>
          <a:p>
            <a:pPr indent="0" marL="0">
              <a:buNone/>
            </a:pPr>
            <a:r>
              <a:rPr lang="en-US" sz="1150" b="1" dirty="0">
                <a:solidFill>
                  <a:srgbClr val="4F46E5"/>
                </a:solidFill>
                <a:latin typeface="Courier New" pitchFamily="34" charset="0"/>
                <a:ea typeface="Courier New" pitchFamily="34" charset="-122"/>
                <a:cs typeface="Courier New" pitchFamily="34" charset="-120"/>
              </a:rPr>
              <a:t>updatedToolOutput</a:t>
            </a:r>
            <a:endParaRPr lang="en-US" sz="1150" dirty="0"/>
          </a:p>
        </p:txBody>
      </p:sp>
      <p:sp>
        <p:nvSpPr>
          <p:cNvPr id="19" name="Text 17"/>
          <p:cNvSpPr/>
          <p:nvPr/>
        </p:nvSpPr>
        <p:spPr>
          <a:xfrm>
            <a:off x="7909560" y="5056632"/>
            <a:ext cx="3520440" cy="457200"/>
          </a:xfrm>
          <a:prstGeom prst="rect">
            <a:avLst/>
          </a:prstGeom>
          <a:noFill/>
          <a:ln/>
        </p:spPr>
        <p:txBody>
          <a:bodyPr wrap="square" lIns="0" tIns="0" rIns="0" bIns="0" rtlCol="0" anchor="ctr"/>
          <a:lstStyle/>
          <a:p>
            <a:pPr indent="0" marL="0">
              <a:lnSpc>
                <a:spcPct val="102000"/>
              </a:lnSpc>
              <a:buNone/>
            </a:pPr>
            <a:r>
              <a:rPr lang="en-US" sz="1100" dirty="0">
                <a:solidFill>
                  <a:srgbClr val="64748B"/>
                </a:solidFill>
                <a:latin typeface="Calibri" pitchFamily="34" charset="0"/>
                <a:ea typeface="Calibri" pitchFamily="34" charset="-122"/>
                <a:cs typeface="Calibri" pitchFamily="34" charset="-120"/>
              </a:rPr>
              <a:t>Replace the raw output entirely when needed.</a:t>
            </a:r>
            <a:endParaRPr lang="en-US" sz="1100" dirty="0"/>
          </a:p>
        </p:txBody>
      </p:sp>
      <p:sp>
        <p:nvSpPr>
          <p:cNvPr id="20" name="Text 18"/>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21" name="Text 19"/>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22" name="Text 20"/>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TASK 1.4 · KEY JUDGMENT</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Hooks vs prompts: deterministic vs probabilistic</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exam guide · Task 1.4</a:t>
            </a:r>
            <a:endParaRPr lang="en-US" sz="1050" dirty="0"/>
          </a:p>
        </p:txBody>
      </p:sp>
      <p:sp>
        <p:nvSpPr>
          <p:cNvPr id="5" name="Shape 3"/>
          <p:cNvSpPr/>
          <p:nvPr/>
        </p:nvSpPr>
        <p:spPr>
          <a:xfrm>
            <a:off x="548640" y="1371600"/>
            <a:ext cx="5394960" cy="2788920"/>
          </a:xfrm>
          <a:prstGeom prst="roundRect">
            <a:avLst>
              <a:gd name="adj" fmla="val 1967"/>
            </a:avLst>
          </a:prstGeom>
          <a:solidFill>
            <a:srgbClr val="12132E"/>
          </a:solidFill>
          <a:ln/>
          <a:effectLst>
            <a:outerShdw sx="100000" sy="100000" kx="0" ky="0" algn="bl" rotWithShape="0" blurRad="88900" dist="38100" dir="5400000">
              <a:srgbClr val="000000">
                <a:alpha val="16000"/>
              </a:srgbClr>
            </a:outerShdw>
          </a:effectLst>
        </p:spPr>
      </p:sp>
      <p:sp>
        <p:nvSpPr>
          <p:cNvPr id="6" name="Shape 4"/>
          <p:cNvSpPr/>
          <p:nvPr/>
        </p:nvSpPr>
        <p:spPr>
          <a:xfrm>
            <a:off x="777240" y="1627632"/>
            <a:ext cx="658368" cy="658368"/>
          </a:xfrm>
          <a:prstGeom prst="ellipse">
            <a:avLst/>
          </a:prstGeom>
          <a:solidFill>
            <a:srgbClr val="14B8A6"/>
          </a:solidFill>
          <a:ln/>
          <a:effectLst>
            <a:outerShdw sx="100000" sy="100000" kx="0" ky="0" algn="bl" rotWithShape="0" blurRad="88900" dist="38100" dir="5400000">
              <a:srgbClr val="000000">
                <a:alpha val="16000"/>
              </a:srgbClr>
            </a:outerShdw>
          </a:effectLst>
        </p:spPr>
      </p:sp>
      <p:pic>
        <p:nvPicPr>
          <p:cNvPr id="7" name="Image 0" descr="preencoded.png">    </p:cNvPr>
          <p:cNvPicPr>
            <a:picLocks noChangeAspect="1"/>
          </p:cNvPicPr>
          <p:nvPr/>
        </p:nvPicPr>
        <p:blipFill>
          <a:blip r:embed="rId1"/>
          <a:stretch>
            <a:fillRect/>
          </a:stretch>
        </p:blipFill>
        <p:spPr>
          <a:xfrm>
            <a:off x="948416" y="1798808"/>
            <a:ext cx="316017" cy="316017"/>
          </a:xfrm>
          <a:prstGeom prst="rect">
            <a:avLst/>
          </a:prstGeom>
        </p:spPr>
      </p:pic>
      <p:sp>
        <p:nvSpPr>
          <p:cNvPr id="8" name="Text 5"/>
          <p:cNvSpPr/>
          <p:nvPr/>
        </p:nvSpPr>
        <p:spPr>
          <a:xfrm>
            <a:off x="1645920" y="1673352"/>
            <a:ext cx="4114800" cy="5486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Hooks / prerequisite gates</a:t>
            </a:r>
            <a:endParaRPr lang="en-US" sz="1600" dirty="0"/>
          </a:p>
        </p:txBody>
      </p:sp>
      <p:sp>
        <p:nvSpPr>
          <p:cNvPr id="9" name="Text 6"/>
          <p:cNvSpPr/>
          <p:nvPr/>
        </p:nvSpPr>
        <p:spPr>
          <a:xfrm>
            <a:off x="914400" y="2468880"/>
            <a:ext cx="4846320" cy="155448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Deterministic — the rule ALWAYS holds</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Code-enforced, outside the model</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Right for must-hold business rules</a:t>
            </a:r>
            <a:endParaRPr lang="en-US" sz="1300" dirty="0"/>
          </a:p>
          <a:p>
            <a:pPr marL="342900" indent="-3429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e.g. block refunds &gt; $500; verify identity first</a:t>
            </a:r>
            <a:endParaRPr lang="en-US" sz="1300" dirty="0"/>
          </a:p>
        </p:txBody>
      </p:sp>
      <p:sp>
        <p:nvSpPr>
          <p:cNvPr id="10" name="Shape 7"/>
          <p:cNvSpPr/>
          <p:nvPr/>
        </p:nvSpPr>
        <p:spPr>
          <a:xfrm>
            <a:off x="6217920" y="1371600"/>
            <a:ext cx="5394960" cy="2788920"/>
          </a:xfrm>
          <a:prstGeom prst="roundRect">
            <a:avLst>
              <a:gd name="adj" fmla="val 1967"/>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1" name="Shape 8"/>
          <p:cNvSpPr/>
          <p:nvPr/>
        </p:nvSpPr>
        <p:spPr>
          <a:xfrm>
            <a:off x="6446520" y="1627632"/>
            <a:ext cx="658368" cy="658368"/>
          </a:xfrm>
          <a:prstGeom prst="ellipse">
            <a:avLst/>
          </a:prstGeom>
          <a:solidFill>
            <a:srgbClr val="F59E0B"/>
          </a:solidFill>
          <a:ln/>
          <a:effectLst>
            <a:outerShdw sx="100000" sy="100000" kx="0" ky="0" algn="bl" rotWithShape="0" blurRad="88900" dist="38100" dir="5400000">
              <a:srgbClr val="000000">
                <a:alpha val="16000"/>
              </a:srgbClr>
            </a:outerShdw>
          </a:effectLst>
        </p:spPr>
      </p:sp>
      <p:pic>
        <p:nvPicPr>
          <p:cNvPr id="12" name="Image 1" descr="preencoded.png">    </p:cNvPr>
          <p:cNvPicPr>
            <a:picLocks noChangeAspect="1"/>
          </p:cNvPicPr>
          <p:nvPr/>
        </p:nvPicPr>
        <p:blipFill>
          <a:blip r:embed="rId2"/>
          <a:stretch>
            <a:fillRect/>
          </a:stretch>
        </p:blipFill>
        <p:spPr>
          <a:xfrm>
            <a:off x="6617696" y="1798808"/>
            <a:ext cx="316017" cy="316017"/>
          </a:xfrm>
          <a:prstGeom prst="rect">
            <a:avLst/>
          </a:prstGeom>
        </p:spPr>
      </p:pic>
      <p:sp>
        <p:nvSpPr>
          <p:cNvPr id="13" name="Text 9"/>
          <p:cNvSpPr/>
          <p:nvPr/>
        </p:nvSpPr>
        <p:spPr>
          <a:xfrm>
            <a:off x="7315200" y="1673352"/>
            <a:ext cx="4114800" cy="548640"/>
          </a:xfrm>
          <a:prstGeom prst="rect">
            <a:avLst/>
          </a:prstGeom>
          <a:noFill/>
          <a:ln/>
        </p:spPr>
        <p:txBody>
          <a:bodyPr wrap="square" lIns="0" tIns="0" rIns="0" bIns="0" rtlCol="0" anchor="ctr"/>
          <a:lstStyle/>
          <a:p>
            <a:pPr indent="0" marL="0">
              <a:buNone/>
            </a:pPr>
            <a:r>
              <a:rPr lang="en-US" sz="1600" b="1" dirty="0">
                <a:solidFill>
                  <a:srgbClr val="12132E"/>
                </a:solidFill>
                <a:latin typeface="Calibri" pitchFamily="34" charset="0"/>
                <a:ea typeface="Calibri" pitchFamily="34" charset="-122"/>
                <a:cs typeface="Calibri" pitchFamily="34" charset="-120"/>
              </a:rPr>
              <a:t>Prompts / few-shot</a:t>
            </a:r>
            <a:endParaRPr lang="en-US" sz="1600" dirty="0"/>
          </a:p>
        </p:txBody>
      </p:sp>
      <p:sp>
        <p:nvSpPr>
          <p:cNvPr id="14" name="Text 10"/>
          <p:cNvSpPr/>
          <p:nvPr/>
        </p:nvSpPr>
        <p:spPr>
          <a:xfrm>
            <a:off x="6583680" y="2468880"/>
            <a:ext cx="4846320" cy="1554480"/>
          </a:xfrm>
          <a:prstGeom prst="rect">
            <a:avLst/>
          </a:prstGeom>
          <a:noFill/>
          <a:ln/>
        </p:spPr>
        <p:txBody>
          <a:bodyPr wrap="square" lIns="0" tIns="0" rIns="0" bIns="0" rtlCol="0" anchor="ctr"/>
          <a:lstStyle/>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Probabilistic — non-zero failure rate</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Great for judgment, tone, and guidance</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NOT sufficient when errors cost money</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Use to shape behavior, not to guarantee it</a:t>
            </a:r>
            <a:endParaRPr lang="en-US" sz="1300" dirty="0"/>
          </a:p>
        </p:txBody>
      </p:sp>
      <p:sp>
        <p:nvSpPr>
          <p:cNvPr id="15" name="Shape 11"/>
          <p:cNvSpPr/>
          <p:nvPr/>
        </p:nvSpPr>
        <p:spPr>
          <a:xfrm>
            <a:off x="548640" y="4343400"/>
            <a:ext cx="11064240" cy="1417320"/>
          </a:xfrm>
          <a:prstGeom prst="roundRect">
            <a:avLst>
              <a:gd name="adj" fmla="val 3871"/>
            </a:avLst>
          </a:prstGeom>
          <a:solidFill>
            <a:srgbClr val="FFFBEB"/>
          </a:solidFill>
          <a:ln/>
          <a:effectLst>
            <a:outerShdw sx="100000" sy="100000" kx="0" ky="0" algn="bl" rotWithShape="0" blurRad="88900" dist="38100" dir="5400000">
              <a:srgbClr val="000000">
                <a:alpha val="16000"/>
              </a:srgbClr>
            </a:outerShdw>
          </a:effectLst>
        </p:spPr>
      </p:sp>
      <p:sp>
        <p:nvSpPr>
          <p:cNvPr id="16" name="Shape 12"/>
          <p:cNvSpPr/>
          <p:nvPr/>
        </p:nvSpPr>
        <p:spPr>
          <a:xfrm>
            <a:off x="777240" y="4663440"/>
            <a:ext cx="640080" cy="640080"/>
          </a:xfrm>
          <a:prstGeom prst="ellipse">
            <a:avLst/>
          </a:prstGeom>
          <a:solidFill>
            <a:srgbClr val="F59E0B"/>
          </a:solidFill>
          <a:ln/>
          <a:effectLst>
            <a:outerShdw sx="100000" sy="100000" kx="0" ky="0" algn="bl" rotWithShape="0" blurRad="88900" dist="38100" dir="5400000">
              <a:srgbClr val="000000">
                <a:alpha val="16000"/>
              </a:srgbClr>
            </a:outerShdw>
          </a:effectLst>
        </p:spPr>
      </p:sp>
      <p:pic>
        <p:nvPicPr>
          <p:cNvPr id="17" name="Image 2" descr="preencoded.png">    </p:cNvPr>
          <p:cNvPicPr>
            <a:picLocks noChangeAspect="1"/>
          </p:cNvPicPr>
          <p:nvPr/>
        </p:nvPicPr>
        <p:blipFill>
          <a:blip r:embed="rId3"/>
          <a:stretch>
            <a:fillRect/>
          </a:stretch>
        </p:blipFill>
        <p:spPr>
          <a:xfrm>
            <a:off x="943661" y="4829861"/>
            <a:ext cx="307238" cy="307238"/>
          </a:xfrm>
          <a:prstGeom prst="rect">
            <a:avLst/>
          </a:prstGeom>
        </p:spPr>
      </p:pic>
      <p:sp>
        <p:nvSpPr>
          <p:cNvPr id="18" name="Text 13"/>
          <p:cNvSpPr/>
          <p:nvPr/>
        </p:nvSpPr>
        <p:spPr>
          <a:xfrm>
            <a:off x="1645920" y="4480560"/>
            <a:ext cx="9692640" cy="1188720"/>
          </a:xfrm>
          <a:prstGeom prst="rect">
            <a:avLst/>
          </a:prstGeom>
          <a:noFill/>
          <a:ln/>
        </p:spPr>
        <p:txBody>
          <a:bodyPr wrap="square" lIns="0" tIns="0" rIns="0" bIns="0" rtlCol="0" anchor="ctr"/>
          <a:lstStyle/>
          <a:p>
            <a:pPr indent="0" marL="0">
              <a:lnSpc>
                <a:spcPct val="106000"/>
              </a:lnSpc>
              <a:buNone/>
            </a:pPr>
            <a:r>
              <a:rPr lang="en-US" sz="1350" b="1" dirty="0">
                <a:solidFill>
                  <a:srgbClr val="92400E"/>
                </a:solidFill>
                <a:latin typeface="Calibri" pitchFamily="34" charset="0"/>
                <a:ea typeface="Calibri" pitchFamily="34" charset="-122"/>
                <a:cs typeface="Calibri" pitchFamily="34" charset="-120"/>
              </a:rPr>
              <a:t>Exam rule of thumb:  </a:t>
            </a:r>
            <a:pPr indent="0" marL="0">
              <a:lnSpc>
                <a:spcPct val="106000"/>
              </a:lnSpc>
              <a:buNone/>
            </a:pPr>
            <a:r>
              <a:rPr lang="en-US" sz="1350" dirty="0">
                <a:solidFill>
                  <a:srgbClr val="1E293B"/>
                </a:solidFill>
                <a:latin typeface="Calibri" pitchFamily="34" charset="0"/>
                <a:ea typeface="Calibri" pitchFamily="34" charset="-122"/>
                <a:cs typeface="Calibri" pitchFamily="34" charset="-120"/>
              </a:rPr>
              <a:t>if a business rule MUST hold (identity before refund, dollar limits, ordering of steps), enforce it with a hook or prerequisite gate — never with a stronger prompt or more examples. This single distinction resolves a large share of Domain 1 scenario questions.</a:t>
            </a:r>
            <a:endParaRPr lang="en-US" sz="1350" dirty="0"/>
          </a:p>
        </p:txBody>
      </p:sp>
      <p:sp>
        <p:nvSpPr>
          <p:cNvPr id="19" name="Text 14"/>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20" name="Text 15"/>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21" name="Text 16"/>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05_PREREQUISITE_GATE.PY · SAMPLE Q1</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Walkthrough 5 — programmatic prerequisite gate</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exam guide · Sample Q1</a:t>
            </a:r>
            <a:endParaRPr lang="en-US" sz="1050" dirty="0"/>
          </a:p>
        </p:txBody>
      </p:sp>
      <p:sp>
        <p:nvSpPr>
          <p:cNvPr id="5" name="Shape 3"/>
          <p:cNvSpPr/>
          <p:nvPr/>
        </p:nvSpPr>
        <p:spPr>
          <a:xfrm>
            <a:off x="548640" y="1371600"/>
            <a:ext cx="11064240" cy="914400"/>
          </a:xfrm>
          <a:prstGeom prst="roundRect">
            <a:avLst>
              <a:gd name="adj" fmla="val 6000"/>
            </a:avLst>
          </a:prstGeom>
          <a:solidFill>
            <a:srgbClr val="F1F3FB"/>
          </a:solidFill>
          <a:ln/>
        </p:spPr>
      </p:sp>
      <p:sp>
        <p:nvSpPr>
          <p:cNvPr id="6" name="Text 4"/>
          <p:cNvSpPr/>
          <p:nvPr/>
        </p:nvSpPr>
        <p:spPr>
          <a:xfrm>
            <a:off x="822960" y="1463040"/>
            <a:ext cx="10515600" cy="731520"/>
          </a:xfrm>
          <a:prstGeom prst="rect">
            <a:avLst/>
          </a:prstGeom>
          <a:noFill/>
          <a:ln/>
        </p:spPr>
        <p:txBody>
          <a:bodyPr wrap="square" lIns="0" tIns="0" rIns="0" bIns="0" rtlCol="0" anchor="ctr"/>
          <a:lstStyle/>
          <a:p>
            <a:pPr indent="0" marL="0">
              <a:lnSpc>
                <a:spcPct val="105000"/>
              </a:lnSpc>
              <a:buNone/>
            </a:pPr>
            <a:r>
              <a:rPr lang="en-US" sz="1350" b="1" dirty="0">
                <a:solidFill>
                  <a:srgbClr val="4F46E5"/>
                </a:solidFill>
                <a:latin typeface="Calibri" pitchFamily="34" charset="0"/>
                <a:ea typeface="Calibri" pitchFamily="34" charset="-122"/>
                <a:cs typeface="Calibri" pitchFamily="34" charset="-120"/>
              </a:rPr>
              <a:t>Problem:  </a:t>
            </a:r>
            <a:pPr indent="0" marL="0">
              <a:lnSpc>
                <a:spcPct val="105000"/>
              </a:lnSpc>
              <a:buNone/>
            </a:pPr>
            <a:r>
              <a:rPr lang="en-US" sz="1350" dirty="0">
                <a:solidFill>
                  <a:srgbClr val="1E293B"/>
                </a:solidFill>
                <a:latin typeface="Calibri" pitchFamily="34" charset="0"/>
                <a:ea typeface="Calibri" pitchFamily="34" charset="-122"/>
                <a:cs typeface="Calibri" pitchFamily="34" charset="-120"/>
              </a:rPr>
              <a:t>in 12% of cases the agent skips get_customer and looks up orders by stated name → wrong account, wrong refund. The fix is a programmatic prerequisite, not a stronger prompt.</a:t>
            </a:r>
            <a:endParaRPr lang="en-US" sz="1350" dirty="0"/>
          </a:p>
        </p:txBody>
      </p:sp>
      <p:sp>
        <p:nvSpPr>
          <p:cNvPr id="7" name="Shape 5"/>
          <p:cNvSpPr/>
          <p:nvPr/>
        </p:nvSpPr>
        <p:spPr>
          <a:xfrm>
            <a:off x="548640" y="2468880"/>
            <a:ext cx="6949440" cy="3017520"/>
          </a:xfrm>
          <a:prstGeom prst="roundRect">
            <a:avLst>
              <a:gd name="adj" fmla="val 2424"/>
            </a:avLst>
          </a:prstGeom>
          <a:solidFill>
            <a:srgbClr val="11142B"/>
          </a:solidFill>
          <a:ln/>
          <a:effectLst>
            <a:outerShdw sx="100000" sy="100000" kx="0" ky="0" algn="bl" rotWithShape="0" blurRad="88900" dist="38100" dir="5400000">
              <a:srgbClr val="000000">
                <a:alpha val="16000"/>
              </a:srgbClr>
            </a:outerShdw>
          </a:effectLst>
        </p:spPr>
      </p:sp>
      <p:sp>
        <p:nvSpPr>
          <p:cNvPr id="8" name="Text 6"/>
          <p:cNvSpPr/>
          <p:nvPr/>
        </p:nvSpPr>
        <p:spPr>
          <a:xfrm>
            <a:off x="749808" y="2615184"/>
            <a:ext cx="6547104" cy="2724912"/>
          </a:xfrm>
          <a:prstGeom prst="rect">
            <a:avLst/>
          </a:prstGeom>
          <a:noFill/>
          <a:ln/>
        </p:spPr>
        <p:txBody>
          <a:bodyPr wrap="square" lIns="0" tIns="0" rIns="0" bIns="0" rtlCol="0" anchor="t"/>
          <a:lstStyle/>
          <a:p>
            <a:pPr indent="0" marL="0">
              <a:lnSpc>
                <a:spcPct val="102000"/>
              </a:lnSpc>
              <a:buNone/>
            </a:pPr>
            <a:r>
              <a:rPr lang="en-US" sz="1250" dirty="0">
                <a:solidFill>
                  <a:srgbClr val="FCD34D"/>
                </a:solidFill>
                <a:latin typeface="Courier New" pitchFamily="34" charset="0"/>
                <a:ea typeface="Courier New" pitchFamily="34" charset="-122"/>
                <a:cs typeface="Courier New" pitchFamily="34" charset="-120"/>
              </a:rPr>
              <a:t>VERIFIED = set()    # state OUTSIDE the model</a:t>
            </a:r>
            <a:endParaRPr lang="en-US" sz="1250" dirty="0"/>
          </a:p>
          <a:p>
            <a:pPr indent="0" marL="0">
              <a:lnSpc>
                <a:spcPct val="102000"/>
              </a:lnSpc>
              <a:buNone/>
            </a:pPr>
            <a:r>
              <a:rPr lang="en-US" sz="1250" dirty="0">
                <a:solidFill>
                  <a:srgbClr val="E2E8F0"/>
                </a:solidFill>
                <a:latin typeface="Courier New" pitchFamily="34" charset="0"/>
                <a:ea typeface="Courier New" pitchFamily="34" charset="-122"/>
                <a:cs typeface="Courier New" pitchFamily="34" charset="-120"/>
              </a:rPr>
              <a:t>GATED = {"mcp__support__lookup_order",</a:t>
            </a:r>
            <a:endParaRPr lang="en-US" sz="1250" dirty="0"/>
          </a:p>
          <a:p>
            <a:pPr indent="0" marL="0">
              <a:lnSpc>
                <a:spcPct val="102000"/>
              </a:lnSpc>
              <a:buNone/>
            </a:pPr>
            <a:r>
              <a:rPr lang="en-US" sz="1250" dirty="0">
                <a:solidFill>
                  <a:srgbClr val="E2E8F0"/>
                </a:solidFill>
                <a:latin typeface="Courier New" pitchFamily="34" charset="0"/>
                <a:ea typeface="Courier New" pitchFamily="34" charset="-122"/>
                <a:cs typeface="Courier New" pitchFamily="34" charset="-120"/>
              </a:rPr>
              <a:t>         "mcp__support__process_refund"}</a:t>
            </a:r>
            <a:endParaRPr lang="en-US" sz="1250" dirty="0"/>
          </a:p>
          <a:p>
            <a:pPr indent="0" marL="0">
              <a:lnSpc>
                <a:spcPct val="102000"/>
              </a:lnSpc>
              <a:buNone/>
            </a:pPr>
            <a:endParaRPr lang="en-US" sz="1250" dirty="0"/>
          </a:p>
          <a:p>
            <a:pPr indent="0" marL="0">
              <a:lnSpc>
                <a:spcPct val="102000"/>
              </a:lnSpc>
              <a:buNone/>
            </a:pPr>
            <a:r>
              <a:rPr lang="en-US" sz="1250" dirty="0">
                <a:solidFill>
                  <a:srgbClr val="7DD3FC"/>
                </a:solidFill>
                <a:latin typeface="Courier New" pitchFamily="34" charset="0"/>
                <a:ea typeface="Courier New" pitchFamily="34" charset="-122"/>
                <a:cs typeface="Courier New" pitchFamily="34" charset="-120"/>
              </a:rPr>
              <a:t>async def require_verification(input, id, ctx):</a:t>
            </a:r>
            <a:endParaRPr lang="en-US" sz="1250" dirty="0"/>
          </a:p>
          <a:p>
            <a:pPr indent="0" marL="0">
              <a:lnSpc>
                <a:spcPct val="102000"/>
              </a:lnSpc>
              <a:buNone/>
            </a:pPr>
            <a:r>
              <a:rPr lang="en-US" sz="1250" dirty="0">
                <a:solidFill>
                  <a:srgbClr val="E2E8F0"/>
                </a:solidFill>
                <a:latin typeface="Courier New" pitchFamily="34" charset="0"/>
                <a:ea typeface="Courier New" pitchFamily="34" charset="-122"/>
                <a:cs typeface="Courier New" pitchFamily="34" charset="-120"/>
              </a:rPr>
              <a:t>  if input["tool_name"] in GATED and not VERIFIED:</a:t>
            </a:r>
            <a:endParaRPr lang="en-US" sz="1250" dirty="0"/>
          </a:p>
          <a:p>
            <a:pPr indent="0" marL="0">
              <a:lnSpc>
                <a:spcPct val="102000"/>
              </a:lnSpc>
              <a:buNone/>
            </a:pPr>
            <a:r>
              <a:rPr lang="en-US" sz="1250" dirty="0">
                <a:solidFill>
                  <a:srgbClr val="FCA5A5"/>
                </a:solidFill>
                <a:latin typeface="Courier New" pitchFamily="34" charset="0"/>
                <a:ea typeface="Courier New" pitchFamily="34" charset="-122"/>
                <a:cs typeface="Courier New" pitchFamily="34" charset="-120"/>
              </a:rPr>
              <a:t>    return deny("Call get_customer to verify first")</a:t>
            </a:r>
            <a:endParaRPr lang="en-US" sz="1250" dirty="0"/>
          </a:p>
          <a:p>
            <a:pPr indent="0" marL="0">
              <a:lnSpc>
                <a:spcPct val="102000"/>
              </a:lnSpc>
              <a:buNone/>
            </a:pPr>
            <a:r>
              <a:rPr lang="en-US" sz="1250" dirty="0">
                <a:solidFill>
                  <a:srgbClr val="E2E8F0"/>
                </a:solidFill>
                <a:latin typeface="Courier New" pitchFamily="34" charset="0"/>
                <a:ea typeface="Courier New" pitchFamily="34" charset="-122"/>
                <a:cs typeface="Courier New" pitchFamily="34" charset="-120"/>
              </a:rPr>
              <a:t>  return {}</a:t>
            </a:r>
            <a:endParaRPr lang="en-US" sz="1250" dirty="0"/>
          </a:p>
        </p:txBody>
      </p:sp>
      <p:sp>
        <p:nvSpPr>
          <p:cNvPr id="9" name="Shape 7"/>
          <p:cNvSpPr/>
          <p:nvPr/>
        </p:nvSpPr>
        <p:spPr>
          <a:xfrm>
            <a:off x="7726680" y="2468880"/>
            <a:ext cx="3886200" cy="640080"/>
          </a:xfrm>
          <a:prstGeom prst="roundRect">
            <a:avLst>
              <a:gd name="adj" fmla="val 8571"/>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0" name="Shape 8"/>
          <p:cNvSpPr/>
          <p:nvPr/>
        </p:nvSpPr>
        <p:spPr>
          <a:xfrm>
            <a:off x="7882128" y="2679192"/>
            <a:ext cx="201168" cy="201168"/>
          </a:xfrm>
          <a:prstGeom prst="ellipse">
            <a:avLst/>
          </a:prstGeom>
          <a:solidFill>
            <a:srgbClr val="14B8A6"/>
          </a:solidFill>
          <a:ln/>
        </p:spPr>
      </p:sp>
      <p:sp>
        <p:nvSpPr>
          <p:cNvPr id="11" name="Text 9"/>
          <p:cNvSpPr/>
          <p:nvPr/>
        </p:nvSpPr>
        <p:spPr>
          <a:xfrm>
            <a:off x="8183880" y="2514600"/>
            <a:ext cx="3291840" cy="310896"/>
          </a:xfrm>
          <a:prstGeom prst="rect">
            <a:avLst/>
          </a:prstGeom>
          <a:noFill/>
          <a:ln/>
        </p:spPr>
        <p:txBody>
          <a:bodyPr wrap="square" lIns="0" tIns="0" rIns="0" bIns="0" rtlCol="0" anchor="ctr"/>
          <a:lstStyle/>
          <a:p>
            <a:pPr indent="0" marL="0">
              <a:buNone/>
            </a:pPr>
            <a:r>
              <a:rPr lang="en-US" sz="1250" b="1" dirty="0">
                <a:solidFill>
                  <a:srgbClr val="12132E"/>
                </a:solidFill>
                <a:latin typeface="Calibri" pitchFamily="34" charset="0"/>
                <a:ea typeface="Calibri" pitchFamily="34" charset="-122"/>
                <a:cs typeface="Calibri" pitchFamily="34" charset="-120"/>
              </a:rPr>
              <a:t>A ✓ Prerequisite gate</a:t>
            </a:r>
            <a:endParaRPr lang="en-US" sz="1250" dirty="0"/>
          </a:p>
        </p:txBody>
      </p:sp>
      <p:sp>
        <p:nvSpPr>
          <p:cNvPr id="12" name="Text 10"/>
          <p:cNvSpPr/>
          <p:nvPr/>
        </p:nvSpPr>
        <p:spPr>
          <a:xfrm>
            <a:off x="8183880" y="2807208"/>
            <a:ext cx="329184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Deterministic ordering — correct.</a:t>
            </a:r>
            <a:endParaRPr lang="en-US" sz="1050" dirty="0"/>
          </a:p>
        </p:txBody>
      </p:sp>
      <p:sp>
        <p:nvSpPr>
          <p:cNvPr id="13" name="Shape 11"/>
          <p:cNvSpPr/>
          <p:nvPr/>
        </p:nvSpPr>
        <p:spPr>
          <a:xfrm>
            <a:off x="7726680" y="3236976"/>
            <a:ext cx="3886200" cy="640080"/>
          </a:xfrm>
          <a:prstGeom prst="roundRect">
            <a:avLst>
              <a:gd name="adj" fmla="val 8571"/>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4" name="Shape 12"/>
          <p:cNvSpPr/>
          <p:nvPr/>
        </p:nvSpPr>
        <p:spPr>
          <a:xfrm>
            <a:off x="7882128" y="3447288"/>
            <a:ext cx="201168" cy="201168"/>
          </a:xfrm>
          <a:prstGeom prst="ellipse">
            <a:avLst/>
          </a:prstGeom>
          <a:solidFill>
            <a:srgbClr val="F43F5E"/>
          </a:solidFill>
          <a:ln/>
        </p:spPr>
      </p:sp>
      <p:sp>
        <p:nvSpPr>
          <p:cNvPr id="15" name="Text 13"/>
          <p:cNvSpPr/>
          <p:nvPr/>
        </p:nvSpPr>
        <p:spPr>
          <a:xfrm>
            <a:off x="8183880" y="3282696"/>
            <a:ext cx="3291840" cy="310896"/>
          </a:xfrm>
          <a:prstGeom prst="rect">
            <a:avLst/>
          </a:prstGeom>
          <a:noFill/>
          <a:ln/>
        </p:spPr>
        <p:txBody>
          <a:bodyPr wrap="square" lIns="0" tIns="0" rIns="0" bIns="0" rtlCol="0" anchor="ctr"/>
          <a:lstStyle/>
          <a:p>
            <a:pPr indent="0" marL="0">
              <a:buNone/>
            </a:pPr>
            <a:r>
              <a:rPr lang="en-US" sz="1250" b="1" dirty="0">
                <a:solidFill>
                  <a:srgbClr val="12132E"/>
                </a:solidFill>
                <a:latin typeface="Calibri" pitchFamily="34" charset="0"/>
                <a:ea typeface="Calibri" pitchFamily="34" charset="-122"/>
                <a:cs typeface="Calibri" pitchFamily="34" charset="-120"/>
              </a:rPr>
              <a:t>B ✗ “Mandatory” prompt</a:t>
            </a:r>
            <a:endParaRPr lang="en-US" sz="1250" dirty="0"/>
          </a:p>
        </p:txBody>
      </p:sp>
      <p:sp>
        <p:nvSpPr>
          <p:cNvPr id="16" name="Text 14"/>
          <p:cNvSpPr/>
          <p:nvPr/>
        </p:nvSpPr>
        <p:spPr>
          <a:xfrm>
            <a:off x="8183880" y="3575304"/>
            <a:ext cx="329184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Probabilistic; still fails sometimes.</a:t>
            </a:r>
            <a:endParaRPr lang="en-US" sz="1050" dirty="0"/>
          </a:p>
        </p:txBody>
      </p:sp>
      <p:sp>
        <p:nvSpPr>
          <p:cNvPr id="17" name="Shape 15"/>
          <p:cNvSpPr/>
          <p:nvPr/>
        </p:nvSpPr>
        <p:spPr>
          <a:xfrm>
            <a:off x="7726680" y="4005072"/>
            <a:ext cx="3886200" cy="640080"/>
          </a:xfrm>
          <a:prstGeom prst="roundRect">
            <a:avLst>
              <a:gd name="adj" fmla="val 8571"/>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8" name="Shape 16"/>
          <p:cNvSpPr/>
          <p:nvPr/>
        </p:nvSpPr>
        <p:spPr>
          <a:xfrm>
            <a:off x="7882128" y="4215384"/>
            <a:ext cx="201168" cy="201168"/>
          </a:xfrm>
          <a:prstGeom prst="ellipse">
            <a:avLst/>
          </a:prstGeom>
          <a:solidFill>
            <a:srgbClr val="F43F5E"/>
          </a:solidFill>
          <a:ln/>
        </p:spPr>
      </p:sp>
      <p:sp>
        <p:nvSpPr>
          <p:cNvPr id="19" name="Text 17"/>
          <p:cNvSpPr/>
          <p:nvPr/>
        </p:nvSpPr>
        <p:spPr>
          <a:xfrm>
            <a:off x="8183880" y="4050792"/>
            <a:ext cx="3291840" cy="310896"/>
          </a:xfrm>
          <a:prstGeom prst="rect">
            <a:avLst/>
          </a:prstGeom>
          <a:noFill/>
          <a:ln/>
        </p:spPr>
        <p:txBody>
          <a:bodyPr wrap="square" lIns="0" tIns="0" rIns="0" bIns="0" rtlCol="0" anchor="ctr"/>
          <a:lstStyle/>
          <a:p>
            <a:pPr indent="0" marL="0">
              <a:buNone/>
            </a:pPr>
            <a:r>
              <a:rPr lang="en-US" sz="1250" b="1" dirty="0">
                <a:solidFill>
                  <a:srgbClr val="12132E"/>
                </a:solidFill>
                <a:latin typeface="Calibri" pitchFamily="34" charset="0"/>
                <a:ea typeface="Calibri" pitchFamily="34" charset="-122"/>
                <a:cs typeface="Calibri" pitchFamily="34" charset="-120"/>
              </a:rPr>
              <a:t>C ✗ Few-shot examples</a:t>
            </a:r>
            <a:endParaRPr lang="en-US" sz="1250" dirty="0"/>
          </a:p>
        </p:txBody>
      </p:sp>
      <p:sp>
        <p:nvSpPr>
          <p:cNvPr id="20" name="Text 18"/>
          <p:cNvSpPr/>
          <p:nvPr/>
        </p:nvSpPr>
        <p:spPr>
          <a:xfrm>
            <a:off x="8183880" y="4343400"/>
            <a:ext cx="329184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Probabilistic; doesn't guarantee.</a:t>
            </a:r>
            <a:endParaRPr lang="en-US" sz="1050" dirty="0"/>
          </a:p>
        </p:txBody>
      </p:sp>
      <p:sp>
        <p:nvSpPr>
          <p:cNvPr id="21" name="Shape 19"/>
          <p:cNvSpPr/>
          <p:nvPr/>
        </p:nvSpPr>
        <p:spPr>
          <a:xfrm>
            <a:off x="7726680" y="4773168"/>
            <a:ext cx="3886200" cy="640080"/>
          </a:xfrm>
          <a:prstGeom prst="roundRect">
            <a:avLst>
              <a:gd name="adj" fmla="val 8571"/>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22" name="Shape 20"/>
          <p:cNvSpPr/>
          <p:nvPr/>
        </p:nvSpPr>
        <p:spPr>
          <a:xfrm>
            <a:off x="7882128" y="4983480"/>
            <a:ext cx="201168" cy="201168"/>
          </a:xfrm>
          <a:prstGeom prst="ellipse">
            <a:avLst/>
          </a:prstGeom>
          <a:solidFill>
            <a:srgbClr val="F43F5E"/>
          </a:solidFill>
          <a:ln/>
        </p:spPr>
      </p:sp>
      <p:sp>
        <p:nvSpPr>
          <p:cNvPr id="23" name="Text 21"/>
          <p:cNvSpPr/>
          <p:nvPr/>
        </p:nvSpPr>
        <p:spPr>
          <a:xfrm>
            <a:off x="8183880" y="4818888"/>
            <a:ext cx="3291840" cy="310896"/>
          </a:xfrm>
          <a:prstGeom prst="rect">
            <a:avLst/>
          </a:prstGeom>
          <a:noFill/>
          <a:ln/>
        </p:spPr>
        <p:txBody>
          <a:bodyPr wrap="square" lIns="0" tIns="0" rIns="0" bIns="0" rtlCol="0" anchor="ctr"/>
          <a:lstStyle/>
          <a:p>
            <a:pPr indent="0" marL="0">
              <a:buNone/>
            </a:pPr>
            <a:r>
              <a:rPr lang="en-US" sz="1250" b="1" dirty="0">
                <a:solidFill>
                  <a:srgbClr val="12132E"/>
                </a:solidFill>
                <a:latin typeface="Calibri" pitchFamily="34" charset="0"/>
                <a:ea typeface="Calibri" pitchFamily="34" charset="-122"/>
                <a:cs typeface="Calibri" pitchFamily="34" charset="-120"/>
              </a:rPr>
              <a:t>D ✗ Routing classifier</a:t>
            </a:r>
            <a:endParaRPr lang="en-US" sz="1250" dirty="0"/>
          </a:p>
        </p:txBody>
      </p:sp>
      <p:sp>
        <p:nvSpPr>
          <p:cNvPr id="24" name="Text 22"/>
          <p:cNvSpPr/>
          <p:nvPr/>
        </p:nvSpPr>
        <p:spPr>
          <a:xfrm>
            <a:off x="8183880" y="5111496"/>
            <a:ext cx="3291840" cy="274320"/>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Changes availability, not ordering.</a:t>
            </a:r>
            <a:endParaRPr lang="en-US" sz="1050" dirty="0"/>
          </a:p>
        </p:txBody>
      </p:sp>
      <p:sp>
        <p:nvSpPr>
          <p:cNvPr id="25" name="Text 23"/>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26" name="Text 24"/>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27" name="Text 25"/>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DOMAIN 5 · TASK 5.1/5.4</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Context window &amp; automatic compaction</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platform.claude.com/docs/en/agent-sdk/agent-loop#the-context-window</a:t>
            </a:r>
            <a:endParaRPr lang="en-US" sz="1050" dirty="0"/>
          </a:p>
        </p:txBody>
      </p:sp>
      <p:sp>
        <p:nvSpPr>
          <p:cNvPr id="5" name="Text 3"/>
          <p:cNvSpPr/>
          <p:nvPr/>
        </p:nvSpPr>
        <p:spPr>
          <a:xfrm>
            <a:off x="548640" y="1371600"/>
            <a:ext cx="11064240" cy="640080"/>
          </a:xfrm>
          <a:prstGeom prst="rect">
            <a:avLst/>
          </a:prstGeom>
          <a:noFill/>
          <a:ln/>
        </p:spPr>
        <p:txBody>
          <a:bodyPr wrap="square" lIns="0" tIns="0" rIns="0" bIns="0" rtlCol="0" anchor="ctr"/>
          <a:lstStyle/>
          <a:p>
            <a:pPr indent="0" marL="0">
              <a:lnSpc>
                <a:spcPct val="105000"/>
              </a:lnSpc>
              <a:buNone/>
            </a:pPr>
            <a:r>
              <a:rPr lang="en-US" sz="1450" dirty="0">
                <a:solidFill>
                  <a:srgbClr val="1E293B"/>
                </a:solidFill>
                <a:latin typeface="Calibri" pitchFamily="34" charset="0"/>
                <a:ea typeface="Calibri" pitchFamily="34" charset="-122"/>
                <a:cs typeface="Calibri" pitchFamily="34" charset="-120"/>
              </a:rPr>
              <a:t>Context does not reset between turns — system prompt, tool defs, history, and tool outputs all accumulate. Large tool outputs are the usual culprit.</a:t>
            </a:r>
            <a:endParaRPr lang="en-US" sz="1450" dirty="0"/>
          </a:p>
        </p:txBody>
      </p:sp>
      <p:sp>
        <p:nvSpPr>
          <p:cNvPr id="6" name="Shape 4"/>
          <p:cNvSpPr/>
          <p:nvPr/>
        </p:nvSpPr>
        <p:spPr>
          <a:xfrm>
            <a:off x="548640" y="2103120"/>
            <a:ext cx="5394960" cy="1874520"/>
          </a:xfrm>
          <a:prstGeom prst="roundRect">
            <a:avLst>
              <a:gd name="adj" fmla="val 2927"/>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7" name="Shape 5"/>
          <p:cNvSpPr/>
          <p:nvPr/>
        </p:nvSpPr>
        <p:spPr>
          <a:xfrm>
            <a:off x="822960" y="2377440"/>
            <a:ext cx="676656" cy="676656"/>
          </a:xfrm>
          <a:prstGeom prst="ellipse">
            <a:avLst/>
          </a:prstGeom>
          <a:solidFill>
            <a:srgbClr val="4F46E5"/>
          </a:solidFill>
          <a:ln/>
          <a:effectLst>
            <a:outerShdw sx="100000" sy="100000" kx="0" ky="0" algn="bl" rotWithShape="0" blurRad="88900" dist="38100" dir="5400000">
              <a:srgbClr val="000000">
                <a:alpha val="16000"/>
              </a:srgbClr>
            </a:outerShdw>
          </a:effectLst>
        </p:spPr>
      </p:sp>
      <p:pic>
        <p:nvPicPr>
          <p:cNvPr id="8" name="Image 0" descr="preencoded.png">    </p:cNvPr>
          <p:cNvPicPr>
            <a:picLocks noChangeAspect="1"/>
          </p:cNvPicPr>
          <p:nvPr/>
        </p:nvPicPr>
        <p:blipFill>
          <a:blip r:embed="rId1"/>
          <a:stretch>
            <a:fillRect/>
          </a:stretch>
        </p:blipFill>
        <p:spPr>
          <a:xfrm>
            <a:off x="998891" y="2553371"/>
            <a:ext cx="324795" cy="324795"/>
          </a:xfrm>
          <a:prstGeom prst="rect">
            <a:avLst/>
          </a:prstGeom>
        </p:spPr>
      </p:pic>
      <p:sp>
        <p:nvSpPr>
          <p:cNvPr id="9" name="Text 6"/>
          <p:cNvSpPr/>
          <p:nvPr/>
        </p:nvSpPr>
        <p:spPr>
          <a:xfrm>
            <a:off x="1664208" y="2377440"/>
            <a:ext cx="4114800" cy="594360"/>
          </a:xfrm>
          <a:prstGeom prst="rect">
            <a:avLst/>
          </a:prstGeom>
          <a:noFill/>
          <a:ln/>
        </p:spPr>
        <p:txBody>
          <a:bodyPr wrap="square" lIns="0" tIns="0" rIns="0" bIns="0" rtlCol="0" anchor="ctr"/>
          <a:lstStyle/>
          <a:p>
            <a:pPr indent="0" marL="0">
              <a:buNone/>
            </a:pPr>
            <a:r>
              <a:rPr lang="en-US" sz="1400" b="1" dirty="0">
                <a:solidFill>
                  <a:srgbClr val="12132E"/>
                </a:solidFill>
                <a:latin typeface="Calibri" pitchFamily="34" charset="0"/>
                <a:ea typeface="Calibri" pitchFamily="34" charset="-122"/>
                <a:cs typeface="Calibri" pitchFamily="34" charset="-120"/>
              </a:rPr>
              <a:t>Auto-compaction</a:t>
            </a:r>
            <a:endParaRPr lang="en-US" sz="1400" dirty="0"/>
          </a:p>
        </p:txBody>
      </p:sp>
      <p:sp>
        <p:nvSpPr>
          <p:cNvPr id="10" name="Text 7"/>
          <p:cNvSpPr/>
          <p:nvPr/>
        </p:nvSpPr>
        <p:spPr>
          <a:xfrm>
            <a:off x="822960" y="3035808"/>
            <a:ext cx="4846320" cy="868680"/>
          </a:xfrm>
          <a:prstGeom prst="rect">
            <a:avLst/>
          </a:prstGeom>
          <a:noFill/>
          <a:ln/>
        </p:spPr>
        <p:txBody>
          <a:bodyPr wrap="square" lIns="0" tIns="0" rIns="0" bIns="0" rtlCol="0" anchor="ctr"/>
          <a:lstStyle/>
          <a:p>
            <a:pPr indent="0" marL="0">
              <a:lnSpc>
                <a:spcPct val="104000"/>
              </a:lnSpc>
              <a:buNone/>
            </a:pPr>
            <a:r>
              <a:rPr lang="en-US" sz="1180" dirty="0">
                <a:solidFill>
                  <a:srgbClr val="64748B"/>
                </a:solidFill>
                <a:latin typeface="Calibri" pitchFamily="34" charset="0"/>
                <a:ea typeface="Calibri" pitchFamily="34" charset="-122"/>
                <a:cs typeface="Calibri" pitchFamily="34" charset="-120"/>
              </a:rPr>
              <a:t>Near the limit, the SDK summarizes older history (emits a compact_boundary message). Early instructions may be lost.</a:t>
            </a:r>
            <a:endParaRPr lang="en-US" sz="1180" dirty="0"/>
          </a:p>
        </p:txBody>
      </p:sp>
      <p:sp>
        <p:nvSpPr>
          <p:cNvPr id="11" name="Shape 8"/>
          <p:cNvSpPr/>
          <p:nvPr/>
        </p:nvSpPr>
        <p:spPr>
          <a:xfrm>
            <a:off x="6217920" y="2103120"/>
            <a:ext cx="5394960" cy="1874520"/>
          </a:xfrm>
          <a:prstGeom prst="roundRect">
            <a:avLst>
              <a:gd name="adj" fmla="val 2927"/>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2" name="Shape 9"/>
          <p:cNvSpPr/>
          <p:nvPr/>
        </p:nvSpPr>
        <p:spPr>
          <a:xfrm>
            <a:off x="6492240" y="2377440"/>
            <a:ext cx="676656" cy="676656"/>
          </a:xfrm>
          <a:prstGeom prst="ellipse">
            <a:avLst/>
          </a:prstGeom>
          <a:solidFill>
            <a:srgbClr val="14B8A6"/>
          </a:solidFill>
          <a:ln/>
          <a:effectLst>
            <a:outerShdw sx="100000" sy="100000" kx="0" ky="0" algn="bl" rotWithShape="0" blurRad="88900" dist="38100" dir="5400000">
              <a:srgbClr val="000000">
                <a:alpha val="16000"/>
              </a:srgbClr>
            </a:outerShdw>
          </a:effectLst>
        </p:spPr>
      </p:sp>
      <p:pic>
        <p:nvPicPr>
          <p:cNvPr id="13" name="Image 1" descr="preencoded.png">    </p:cNvPr>
          <p:cNvPicPr>
            <a:picLocks noChangeAspect="1"/>
          </p:cNvPicPr>
          <p:nvPr/>
        </p:nvPicPr>
        <p:blipFill>
          <a:blip r:embed="rId2"/>
          <a:stretch>
            <a:fillRect/>
          </a:stretch>
        </p:blipFill>
        <p:spPr>
          <a:xfrm>
            <a:off x="6668171" y="2553371"/>
            <a:ext cx="324795" cy="324795"/>
          </a:xfrm>
          <a:prstGeom prst="rect">
            <a:avLst/>
          </a:prstGeom>
        </p:spPr>
      </p:pic>
      <p:sp>
        <p:nvSpPr>
          <p:cNvPr id="14" name="Text 10"/>
          <p:cNvSpPr/>
          <p:nvPr/>
        </p:nvSpPr>
        <p:spPr>
          <a:xfrm>
            <a:off x="7333488" y="2377440"/>
            <a:ext cx="4114800" cy="594360"/>
          </a:xfrm>
          <a:prstGeom prst="rect">
            <a:avLst/>
          </a:prstGeom>
          <a:noFill/>
          <a:ln/>
        </p:spPr>
        <p:txBody>
          <a:bodyPr wrap="square" lIns="0" tIns="0" rIns="0" bIns="0" rtlCol="0" anchor="ctr"/>
          <a:lstStyle/>
          <a:p>
            <a:pPr indent="0" marL="0">
              <a:buNone/>
            </a:pPr>
            <a:r>
              <a:rPr lang="en-US" sz="1400" b="1" dirty="0">
                <a:solidFill>
                  <a:srgbClr val="12132E"/>
                </a:solidFill>
                <a:latin typeface="Calibri" pitchFamily="34" charset="0"/>
                <a:ea typeface="Calibri" pitchFamily="34" charset="-122"/>
                <a:cs typeface="Calibri" pitchFamily="34" charset="-120"/>
              </a:rPr>
              <a:t>Persistent rules → CLAUDE.md</a:t>
            </a:r>
            <a:endParaRPr lang="en-US" sz="1400" dirty="0"/>
          </a:p>
        </p:txBody>
      </p:sp>
      <p:sp>
        <p:nvSpPr>
          <p:cNvPr id="15" name="Text 11"/>
          <p:cNvSpPr/>
          <p:nvPr/>
        </p:nvSpPr>
        <p:spPr>
          <a:xfrm>
            <a:off x="6492240" y="3035808"/>
            <a:ext cx="4846320" cy="868680"/>
          </a:xfrm>
          <a:prstGeom prst="rect">
            <a:avLst/>
          </a:prstGeom>
          <a:noFill/>
          <a:ln/>
        </p:spPr>
        <p:txBody>
          <a:bodyPr wrap="square" lIns="0" tIns="0" rIns="0" bIns="0" rtlCol="0" anchor="ctr"/>
          <a:lstStyle/>
          <a:p>
            <a:pPr indent="0" marL="0">
              <a:lnSpc>
                <a:spcPct val="104000"/>
              </a:lnSpc>
              <a:buNone/>
            </a:pPr>
            <a:r>
              <a:rPr lang="en-US" sz="1180" dirty="0">
                <a:solidFill>
                  <a:srgbClr val="64748B"/>
                </a:solidFill>
                <a:latin typeface="Calibri" pitchFamily="34" charset="0"/>
                <a:ea typeface="Calibri" pitchFamily="34" charset="-122"/>
                <a:cs typeface="Calibri" pitchFamily="34" charset="-120"/>
              </a:rPr>
              <a:t>Re-injected every request, so they survive compaction — unlike instructions buried in the first prompt.</a:t>
            </a:r>
            <a:endParaRPr lang="en-US" sz="1180" dirty="0"/>
          </a:p>
        </p:txBody>
      </p:sp>
      <p:sp>
        <p:nvSpPr>
          <p:cNvPr id="16" name="Shape 12"/>
          <p:cNvSpPr/>
          <p:nvPr/>
        </p:nvSpPr>
        <p:spPr>
          <a:xfrm>
            <a:off x="548640" y="4233672"/>
            <a:ext cx="5394960" cy="1874520"/>
          </a:xfrm>
          <a:prstGeom prst="roundRect">
            <a:avLst>
              <a:gd name="adj" fmla="val 2927"/>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7" name="Shape 13"/>
          <p:cNvSpPr/>
          <p:nvPr/>
        </p:nvSpPr>
        <p:spPr>
          <a:xfrm>
            <a:off x="822960" y="4507992"/>
            <a:ext cx="676656" cy="676656"/>
          </a:xfrm>
          <a:prstGeom prst="ellipse">
            <a:avLst/>
          </a:prstGeom>
          <a:solidFill>
            <a:srgbClr val="8B5CF6"/>
          </a:solidFill>
          <a:ln/>
          <a:effectLst>
            <a:outerShdw sx="100000" sy="100000" kx="0" ky="0" algn="bl" rotWithShape="0" blurRad="88900" dist="38100" dir="5400000">
              <a:srgbClr val="000000">
                <a:alpha val="16000"/>
              </a:srgbClr>
            </a:outerShdw>
          </a:effectLst>
        </p:spPr>
      </p:sp>
      <p:pic>
        <p:nvPicPr>
          <p:cNvPr id="18" name="Image 2" descr="preencoded.png">    </p:cNvPr>
          <p:cNvPicPr>
            <a:picLocks noChangeAspect="1"/>
          </p:cNvPicPr>
          <p:nvPr/>
        </p:nvPicPr>
        <p:blipFill>
          <a:blip r:embed="rId3"/>
          <a:stretch>
            <a:fillRect/>
          </a:stretch>
        </p:blipFill>
        <p:spPr>
          <a:xfrm>
            <a:off x="998891" y="4683923"/>
            <a:ext cx="324795" cy="324795"/>
          </a:xfrm>
          <a:prstGeom prst="rect">
            <a:avLst/>
          </a:prstGeom>
        </p:spPr>
      </p:pic>
      <p:sp>
        <p:nvSpPr>
          <p:cNvPr id="19" name="Text 14"/>
          <p:cNvSpPr/>
          <p:nvPr/>
        </p:nvSpPr>
        <p:spPr>
          <a:xfrm>
            <a:off x="1664208" y="4507992"/>
            <a:ext cx="4114800" cy="594360"/>
          </a:xfrm>
          <a:prstGeom prst="rect">
            <a:avLst/>
          </a:prstGeom>
          <a:noFill/>
          <a:ln/>
        </p:spPr>
        <p:txBody>
          <a:bodyPr wrap="square" lIns="0" tIns="0" rIns="0" bIns="0" rtlCol="0" anchor="ctr"/>
          <a:lstStyle/>
          <a:p>
            <a:pPr indent="0" marL="0">
              <a:buNone/>
            </a:pPr>
            <a:r>
              <a:rPr lang="en-US" sz="1400" b="1" dirty="0">
                <a:solidFill>
                  <a:srgbClr val="12132E"/>
                </a:solidFill>
                <a:latin typeface="Calibri" pitchFamily="34" charset="0"/>
                <a:ea typeface="Calibri" pitchFamily="34" charset="-122"/>
                <a:cs typeface="Calibri" pitchFamily="34" charset="-120"/>
              </a:rPr>
              <a:t>Subagents for heavy work</a:t>
            </a:r>
            <a:endParaRPr lang="en-US" sz="1400" dirty="0"/>
          </a:p>
        </p:txBody>
      </p:sp>
      <p:sp>
        <p:nvSpPr>
          <p:cNvPr id="20" name="Text 15"/>
          <p:cNvSpPr/>
          <p:nvPr/>
        </p:nvSpPr>
        <p:spPr>
          <a:xfrm>
            <a:off x="822960" y="5166360"/>
            <a:ext cx="4846320" cy="868680"/>
          </a:xfrm>
          <a:prstGeom prst="rect">
            <a:avLst/>
          </a:prstGeom>
          <a:noFill/>
          <a:ln/>
        </p:spPr>
        <p:txBody>
          <a:bodyPr wrap="square" lIns="0" tIns="0" rIns="0" bIns="0" rtlCol="0" anchor="ctr"/>
          <a:lstStyle/>
          <a:p>
            <a:pPr indent="0" marL="0">
              <a:lnSpc>
                <a:spcPct val="104000"/>
              </a:lnSpc>
              <a:buNone/>
            </a:pPr>
            <a:r>
              <a:rPr lang="en-US" sz="1180" dirty="0">
                <a:solidFill>
                  <a:srgbClr val="64748B"/>
                </a:solidFill>
                <a:latin typeface="Calibri" pitchFamily="34" charset="0"/>
                <a:ea typeface="Calibri" pitchFamily="34" charset="-122"/>
                <a:cs typeface="Calibri" pitchFamily="34" charset="-120"/>
              </a:rPr>
              <a:t>Isolate verbose exploration; only the summary returns to the parent's context.</a:t>
            </a:r>
            <a:endParaRPr lang="en-US" sz="1180" dirty="0"/>
          </a:p>
        </p:txBody>
      </p:sp>
      <p:sp>
        <p:nvSpPr>
          <p:cNvPr id="21" name="Shape 16"/>
          <p:cNvSpPr/>
          <p:nvPr/>
        </p:nvSpPr>
        <p:spPr>
          <a:xfrm>
            <a:off x="6217920" y="4233672"/>
            <a:ext cx="5394960" cy="1874520"/>
          </a:xfrm>
          <a:prstGeom prst="roundRect">
            <a:avLst>
              <a:gd name="adj" fmla="val 2927"/>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22" name="Shape 17"/>
          <p:cNvSpPr/>
          <p:nvPr/>
        </p:nvSpPr>
        <p:spPr>
          <a:xfrm>
            <a:off x="6492240" y="4507992"/>
            <a:ext cx="676656" cy="676656"/>
          </a:xfrm>
          <a:prstGeom prst="ellipse">
            <a:avLst/>
          </a:prstGeom>
          <a:solidFill>
            <a:srgbClr val="F59E0B"/>
          </a:solidFill>
          <a:ln/>
          <a:effectLst>
            <a:outerShdw sx="100000" sy="100000" kx="0" ky="0" algn="bl" rotWithShape="0" blurRad="88900" dist="38100" dir="5400000">
              <a:srgbClr val="000000">
                <a:alpha val="16000"/>
              </a:srgbClr>
            </a:outerShdw>
          </a:effectLst>
        </p:spPr>
      </p:sp>
      <p:pic>
        <p:nvPicPr>
          <p:cNvPr id="23" name="Image 3" descr="preencoded.png">    </p:cNvPr>
          <p:cNvPicPr>
            <a:picLocks noChangeAspect="1"/>
          </p:cNvPicPr>
          <p:nvPr/>
        </p:nvPicPr>
        <p:blipFill>
          <a:blip r:embed="rId4"/>
          <a:stretch>
            <a:fillRect/>
          </a:stretch>
        </p:blipFill>
        <p:spPr>
          <a:xfrm>
            <a:off x="6668171" y="4683923"/>
            <a:ext cx="324795" cy="324795"/>
          </a:xfrm>
          <a:prstGeom prst="rect">
            <a:avLst/>
          </a:prstGeom>
        </p:spPr>
      </p:pic>
      <p:sp>
        <p:nvSpPr>
          <p:cNvPr id="24" name="Text 18"/>
          <p:cNvSpPr/>
          <p:nvPr/>
        </p:nvSpPr>
        <p:spPr>
          <a:xfrm>
            <a:off x="7333488" y="4507992"/>
            <a:ext cx="4114800" cy="594360"/>
          </a:xfrm>
          <a:prstGeom prst="rect">
            <a:avLst/>
          </a:prstGeom>
          <a:noFill/>
          <a:ln/>
        </p:spPr>
        <p:txBody>
          <a:bodyPr wrap="square" lIns="0" tIns="0" rIns="0" bIns="0" rtlCol="0" anchor="ctr"/>
          <a:lstStyle/>
          <a:p>
            <a:pPr indent="0" marL="0">
              <a:buNone/>
            </a:pPr>
            <a:r>
              <a:rPr lang="en-US" sz="1400" b="1" dirty="0">
                <a:solidFill>
                  <a:srgbClr val="12132E"/>
                </a:solidFill>
                <a:latin typeface="Calibri" pitchFamily="34" charset="0"/>
                <a:ea typeface="Calibri" pitchFamily="34" charset="-122"/>
                <a:cs typeface="Calibri" pitchFamily="34" charset="-120"/>
              </a:rPr>
              <a:t>Trim &amp; tune</a:t>
            </a:r>
            <a:endParaRPr lang="en-US" sz="1400" dirty="0"/>
          </a:p>
        </p:txBody>
      </p:sp>
      <p:sp>
        <p:nvSpPr>
          <p:cNvPr id="25" name="Text 19"/>
          <p:cNvSpPr/>
          <p:nvPr/>
        </p:nvSpPr>
        <p:spPr>
          <a:xfrm>
            <a:off x="6492240" y="5166360"/>
            <a:ext cx="4846320" cy="868680"/>
          </a:xfrm>
          <a:prstGeom prst="rect">
            <a:avLst/>
          </a:prstGeom>
          <a:noFill/>
          <a:ln/>
        </p:spPr>
        <p:txBody>
          <a:bodyPr wrap="square" lIns="0" tIns="0" rIns="0" bIns="0" rtlCol="0" anchor="ctr"/>
          <a:lstStyle/>
          <a:p>
            <a:pPr indent="0" marL="0">
              <a:lnSpc>
                <a:spcPct val="104000"/>
              </a:lnSpc>
              <a:buNone/>
            </a:pPr>
            <a:r>
              <a:rPr lang="en-US" sz="1180" dirty="0">
                <a:solidFill>
                  <a:srgbClr val="64748B"/>
                </a:solidFill>
                <a:latin typeface="Calibri" pitchFamily="34" charset="0"/>
                <a:ea typeface="Calibri" pitchFamily="34" charset="-122"/>
                <a:cs typeface="Calibri" pitchFamily="34" charset="-120"/>
              </a:rPr>
              <a:t>Keep only relevant tool fields; lower effort for routine turns; PreCompact hook to archive transcripts.</a:t>
            </a:r>
            <a:endParaRPr lang="en-US" sz="1180" dirty="0"/>
          </a:p>
        </p:txBody>
      </p:sp>
      <p:sp>
        <p:nvSpPr>
          <p:cNvPr id="26" name="Text 20"/>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27" name="Text 21"/>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28" name="Text 22"/>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TASK 1.7 · CONTINUITY</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Sessions: continue, resume, fork</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platform.claude.com/docs/en/agent-sdk/sessions</a:t>
            </a:r>
            <a:endParaRPr lang="en-US" sz="1050" dirty="0"/>
          </a:p>
        </p:txBody>
      </p:sp>
      <p:sp>
        <p:nvSpPr>
          <p:cNvPr id="5" name="Shape 3"/>
          <p:cNvSpPr/>
          <p:nvPr/>
        </p:nvSpPr>
        <p:spPr>
          <a:xfrm>
            <a:off x="548640" y="1463040"/>
            <a:ext cx="3566160" cy="2286000"/>
          </a:xfrm>
          <a:prstGeom prst="roundRect">
            <a:avLst>
              <a:gd name="adj" fmla="val 24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6" name="Shape 4"/>
          <p:cNvSpPr/>
          <p:nvPr/>
        </p:nvSpPr>
        <p:spPr>
          <a:xfrm>
            <a:off x="822960" y="1737360"/>
            <a:ext cx="731520" cy="731520"/>
          </a:xfrm>
          <a:prstGeom prst="ellipse">
            <a:avLst/>
          </a:prstGeom>
          <a:solidFill>
            <a:srgbClr val="4F46E5"/>
          </a:solidFill>
          <a:ln/>
          <a:effectLst>
            <a:outerShdw sx="100000" sy="100000" kx="0" ky="0" algn="bl" rotWithShape="0" blurRad="88900" dist="38100" dir="5400000">
              <a:srgbClr val="000000">
                <a:alpha val="16000"/>
              </a:srgbClr>
            </a:outerShdw>
          </a:effectLst>
        </p:spPr>
      </p:sp>
      <p:pic>
        <p:nvPicPr>
          <p:cNvPr id="7" name="Image 0" descr="preencoded.png">    </p:cNvPr>
          <p:cNvPicPr>
            <a:picLocks noChangeAspect="1"/>
          </p:cNvPicPr>
          <p:nvPr/>
        </p:nvPicPr>
        <p:blipFill>
          <a:blip r:embed="rId1"/>
          <a:stretch>
            <a:fillRect/>
          </a:stretch>
        </p:blipFill>
        <p:spPr>
          <a:xfrm>
            <a:off x="1013155" y="1927555"/>
            <a:ext cx="351130" cy="351130"/>
          </a:xfrm>
          <a:prstGeom prst="rect">
            <a:avLst/>
          </a:prstGeom>
        </p:spPr>
      </p:pic>
      <p:sp>
        <p:nvSpPr>
          <p:cNvPr id="8" name="Text 5"/>
          <p:cNvSpPr/>
          <p:nvPr/>
        </p:nvSpPr>
        <p:spPr>
          <a:xfrm>
            <a:off x="1691640" y="1847088"/>
            <a:ext cx="2286000" cy="457200"/>
          </a:xfrm>
          <a:prstGeom prst="rect">
            <a:avLst/>
          </a:prstGeom>
          <a:noFill/>
          <a:ln/>
        </p:spPr>
        <p:txBody>
          <a:bodyPr wrap="square" lIns="0" tIns="0" rIns="0" bIns="0" rtlCol="0" anchor="ctr"/>
          <a:lstStyle/>
          <a:p>
            <a:pPr indent="0" marL="0">
              <a:buNone/>
            </a:pPr>
            <a:r>
              <a:rPr lang="en-US" sz="1700" b="1" dirty="0">
                <a:solidFill>
                  <a:srgbClr val="12132E"/>
                </a:solidFill>
                <a:latin typeface="Calibri" pitchFamily="34" charset="0"/>
                <a:ea typeface="Calibri" pitchFamily="34" charset="-122"/>
                <a:cs typeface="Calibri" pitchFamily="34" charset="-120"/>
              </a:rPr>
              <a:t>Continue</a:t>
            </a:r>
            <a:endParaRPr lang="en-US" sz="1700" dirty="0"/>
          </a:p>
        </p:txBody>
      </p:sp>
      <p:sp>
        <p:nvSpPr>
          <p:cNvPr id="9" name="Text 6"/>
          <p:cNvSpPr/>
          <p:nvPr/>
        </p:nvSpPr>
        <p:spPr>
          <a:xfrm>
            <a:off x="822960" y="2651760"/>
            <a:ext cx="3017520" cy="960120"/>
          </a:xfrm>
          <a:prstGeom prst="rect">
            <a:avLst/>
          </a:prstGeom>
          <a:noFill/>
          <a:ln/>
        </p:spPr>
        <p:txBody>
          <a:bodyPr wrap="square" lIns="0" tIns="0" rIns="0" bIns="0" rtlCol="0" anchor="ctr"/>
          <a:lstStyle/>
          <a:p>
            <a:pPr indent="0" marL="0">
              <a:lnSpc>
                <a:spcPct val="106000"/>
              </a:lnSpc>
              <a:buNone/>
            </a:pPr>
            <a:r>
              <a:rPr lang="en-US" sz="1250" dirty="0">
                <a:solidFill>
                  <a:srgbClr val="64748B"/>
                </a:solidFill>
                <a:latin typeface="Calibri" pitchFamily="34" charset="0"/>
                <a:ea typeface="Calibri" pitchFamily="34" charset="-122"/>
                <a:cs typeface="Calibri" pitchFamily="34" charset="-120"/>
              </a:rPr>
              <a:t>Pick up the MOST RECENT session in the directory. No ID tracking. One conversation at a time.</a:t>
            </a:r>
            <a:endParaRPr lang="en-US" sz="1250" dirty="0"/>
          </a:p>
        </p:txBody>
      </p:sp>
      <p:sp>
        <p:nvSpPr>
          <p:cNvPr id="10" name="Shape 7"/>
          <p:cNvSpPr/>
          <p:nvPr/>
        </p:nvSpPr>
        <p:spPr>
          <a:xfrm>
            <a:off x="4297680" y="1463040"/>
            <a:ext cx="3566160" cy="2286000"/>
          </a:xfrm>
          <a:prstGeom prst="roundRect">
            <a:avLst>
              <a:gd name="adj" fmla="val 24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1" name="Shape 8"/>
          <p:cNvSpPr/>
          <p:nvPr/>
        </p:nvSpPr>
        <p:spPr>
          <a:xfrm>
            <a:off x="4572000" y="1737360"/>
            <a:ext cx="731520" cy="731520"/>
          </a:xfrm>
          <a:prstGeom prst="ellipse">
            <a:avLst/>
          </a:prstGeom>
          <a:solidFill>
            <a:srgbClr val="14B8A6"/>
          </a:solidFill>
          <a:ln/>
          <a:effectLst>
            <a:outerShdw sx="100000" sy="100000" kx="0" ky="0" algn="bl" rotWithShape="0" blurRad="88900" dist="38100" dir="5400000">
              <a:srgbClr val="000000">
                <a:alpha val="16000"/>
              </a:srgbClr>
            </a:outerShdw>
          </a:effectLst>
        </p:spPr>
      </p:sp>
      <p:pic>
        <p:nvPicPr>
          <p:cNvPr id="12" name="Image 1" descr="preencoded.png">    </p:cNvPr>
          <p:cNvPicPr>
            <a:picLocks noChangeAspect="1"/>
          </p:cNvPicPr>
          <p:nvPr/>
        </p:nvPicPr>
        <p:blipFill>
          <a:blip r:embed="rId2"/>
          <a:stretch>
            <a:fillRect/>
          </a:stretch>
        </p:blipFill>
        <p:spPr>
          <a:xfrm>
            <a:off x="4762195" y="1927555"/>
            <a:ext cx="351130" cy="351130"/>
          </a:xfrm>
          <a:prstGeom prst="rect">
            <a:avLst/>
          </a:prstGeom>
        </p:spPr>
      </p:pic>
      <p:sp>
        <p:nvSpPr>
          <p:cNvPr id="13" name="Text 9"/>
          <p:cNvSpPr/>
          <p:nvPr/>
        </p:nvSpPr>
        <p:spPr>
          <a:xfrm>
            <a:off x="5440680" y="1847088"/>
            <a:ext cx="2286000" cy="457200"/>
          </a:xfrm>
          <a:prstGeom prst="rect">
            <a:avLst/>
          </a:prstGeom>
          <a:noFill/>
          <a:ln/>
        </p:spPr>
        <p:txBody>
          <a:bodyPr wrap="square" lIns="0" tIns="0" rIns="0" bIns="0" rtlCol="0" anchor="ctr"/>
          <a:lstStyle/>
          <a:p>
            <a:pPr indent="0" marL="0">
              <a:buNone/>
            </a:pPr>
            <a:r>
              <a:rPr lang="en-US" sz="1700" b="1" dirty="0">
                <a:solidFill>
                  <a:srgbClr val="12132E"/>
                </a:solidFill>
                <a:latin typeface="Calibri" pitchFamily="34" charset="0"/>
                <a:ea typeface="Calibri" pitchFamily="34" charset="-122"/>
                <a:cs typeface="Calibri" pitchFamily="34" charset="-120"/>
              </a:rPr>
              <a:t>Resume</a:t>
            </a:r>
            <a:endParaRPr lang="en-US" sz="1700" dirty="0"/>
          </a:p>
        </p:txBody>
      </p:sp>
      <p:sp>
        <p:nvSpPr>
          <p:cNvPr id="14" name="Text 10"/>
          <p:cNvSpPr/>
          <p:nvPr/>
        </p:nvSpPr>
        <p:spPr>
          <a:xfrm>
            <a:off x="4572000" y="2651760"/>
            <a:ext cx="3017520" cy="960120"/>
          </a:xfrm>
          <a:prstGeom prst="rect">
            <a:avLst/>
          </a:prstGeom>
          <a:noFill/>
          <a:ln/>
        </p:spPr>
        <p:txBody>
          <a:bodyPr wrap="square" lIns="0" tIns="0" rIns="0" bIns="0" rtlCol="0" anchor="ctr"/>
          <a:lstStyle/>
          <a:p>
            <a:pPr indent="0" marL="0">
              <a:lnSpc>
                <a:spcPct val="106000"/>
              </a:lnSpc>
              <a:buNone/>
            </a:pPr>
            <a:r>
              <a:rPr lang="en-US" sz="1250" dirty="0">
                <a:solidFill>
                  <a:srgbClr val="64748B"/>
                </a:solidFill>
                <a:latin typeface="Calibri" pitchFamily="34" charset="0"/>
                <a:ea typeface="Calibri" pitchFamily="34" charset="-122"/>
                <a:cs typeface="Calibri" pitchFamily="34" charset="-120"/>
              </a:rPr>
              <a:t>Return to a SPECIFIC session by ID. Needed for multi-user apps or recovering after a limit/restart.</a:t>
            </a:r>
            <a:endParaRPr lang="en-US" sz="1250" dirty="0"/>
          </a:p>
        </p:txBody>
      </p:sp>
      <p:sp>
        <p:nvSpPr>
          <p:cNvPr id="15" name="Shape 11"/>
          <p:cNvSpPr/>
          <p:nvPr/>
        </p:nvSpPr>
        <p:spPr>
          <a:xfrm>
            <a:off x="8046720" y="1463040"/>
            <a:ext cx="3566160" cy="2286000"/>
          </a:xfrm>
          <a:prstGeom prst="roundRect">
            <a:avLst>
              <a:gd name="adj" fmla="val 24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6" name="Shape 12"/>
          <p:cNvSpPr/>
          <p:nvPr/>
        </p:nvSpPr>
        <p:spPr>
          <a:xfrm>
            <a:off x="8321040" y="1737360"/>
            <a:ext cx="731520" cy="731520"/>
          </a:xfrm>
          <a:prstGeom prst="ellipse">
            <a:avLst/>
          </a:prstGeom>
          <a:solidFill>
            <a:srgbClr val="8B5CF6"/>
          </a:solidFill>
          <a:ln/>
          <a:effectLst>
            <a:outerShdw sx="100000" sy="100000" kx="0" ky="0" algn="bl" rotWithShape="0" blurRad="88900" dist="38100" dir="5400000">
              <a:srgbClr val="000000">
                <a:alpha val="16000"/>
              </a:srgbClr>
            </a:outerShdw>
          </a:effectLst>
        </p:spPr>
      </p:sp>
      <p:pic>
        <p:nvPicPr>
          <p:cNvPr id="17" name="Image 2" descr="preencoded.png">    </p:cNvPr>
          <p:cNvPicPr>
            <a:picLocks noChangeAspect="1"/>
          </p:cNvPicPr>
          <p:nvPr/>
        </p:nvPicPr>
        <p:blipFill>
          <a:blip r:embed="rId3"/>
          <a:stretch>
            <a:fillRect/>
          </a:stretch>
        </p:blipFill>
        <p:spPr>
          <a:xfrm>
            <a:off x="8511235" y="1927555"/>
            <a:ext cx="351130" cy="351130"/>
          </a:xfrm>
          <a:prstGeom prst="rect">
            <a:avLst/>
          </a:prstGeom>
        </p:spPr>
      </p:pic>
      <p:sp>
        <p:nvSpPr>
          <p:cNvPr id="18" name="Text 13"/>
          <p:cNvSpPr/>
          <p:nvPr/>
        </p:nvSpPr>
        <p:spPr>
          <a:xfrm>
            <a:off x="9189720" y="1847088"/>
            <a:ext cx="2286000" cy="457200"/>
          </a:xfrm>
          <a:prstGeom prst="rect">
            <a:avLst/>
          </a:prstGeom>
          <a:noFill/>
          <a:ln/>
        </p:spPr>
        <p:txBody>
          <a:bodyPr wrap="square" lIns="0" tIns="0" rIns="0" bIns="0" rtlCol="0" anchor="ctr"/>
          <a:lstStyle/>
          <a:p>
            <a:pPr indent="0" marL="0">
              <a:buNone/>
            </a:pPr>
            <a:r>
              <a:rPr lang="en-US" sz="1700" b="1" dirty="0">
                <a:solidFill>
                  <a:srgbClr val="12132E"/>
                </a:solidFill>
                <a:latin typeface="Calibri" pitchFamily="34" charset="0"/>
                <a:ea typeface="Calibri" pitchFamily="34" charset="-122"/>
                <a:cs typeface="Calibri" pitchFamily="34" charset="-120"/>
              </a:rPr>
              <a:t>Fork</a:t>
            </a:r>
            <a:endParaRPr lang="en-US" sz="1700" dirty="0"/>
          </a:p>
        </p:txBody>
      </p:sp>
      <p:sp>
        <p:nvSpPr>
          <p:cNvPr id="19" name="Text 14"/>
          <p:cNvSpPr/>
          <p:nvPr/>
        </p:nvSpPr>
        <p:spPr>
          <a:xfrm>
            <a:off x="8321040" y="2651760"/>
            <a:ext cx="3017520" cy="960120"/>
          </a:xfrm>
          <a:prstGeom prst="rect">
            <a:avLst/>
          </a:prstGeom>
          <a:noFill/>
          <a:ln/>
        </p:spPr>
        <p:txBody>
          <a:bodyPr wrap="square" lIns="0" tIns="0" rIns="0" bIns="0" rtlCol="0" anchor="ctr"/>
          <a:lstStyle/>
          <a:p>
            <a:pPr indent="0" marL="0">
              <a:lnSpc>
                <a:spcPct val="106000"/>
              </a:lnSpc>
              <a:buNone/>
            </a:pPr>
            <a:r>
              <a:rPr lang="en-US" sz="1250" dirty="0">
                <a:solidFill>
                  <a:srgbClr val="64748B"/>
                </a:solidFill>
                <a:latin typeface="Calibri" pitchFamily="34" charset="0"/>
                <a:ea typeface="Calibri" pitchFamily="34" charset="-122"/>
                <a:cs typeface="Calibri" pitchFamily="34" charset="-120"/>
              </a:rPr>
              <a:t>Branch a COPY of history to try a different approach; the original stays untouched. Two independent IDs.</a:t>
            </a:r>
            <a:endParaRPr lang="en-US" sz="1250" dirty="0"/>
          </a:p>
        </p:txBody>
      </p:sp>
      <p:sp>
        <p:nvSpPr>
          <p:cNvPr id="20" name="Shape 15"/>
          <p:cNvSpPr/>
          <p:nvPr/>
        </p:nvSpPr>
        <p:spPr>
          <a:xfrm>
            <a:off x="548640" y="3977640"/>
            <a:ext cx="11064240" cy="1737360"/>
          </a:xfrm>
          <a:prstGeom prst="roundRect">
            <a:avLst>
              <a:gd name="adj" fmla="val 3158"/>
            </a:avLst>
          </a:prstGeom>
          <a:solidFill>
            <a:srgbClr val="F1F3FB"/>
          </a:solidFill>
          <a:ln/>
        </p:spPr>
      </p:sp>
      <p:sp>
        <p:nvSpPr>
          <p:cNvPr id="21" name="Text 16"/>
          <p:cNvSpPr/>
          <p:nvPr/>
        </p:nvSpPr>
        <p:spPr>
          <a:xfrm>
            <a:off x="777240" y="4114800"/>
            <a:ext cx="5486400" cy="365760"/>
          </a:xfrm>
          <a:prstGeom prst="rect">
            <a:avLst/>
          </a:prstGeom>
          <a:noFill/>
          <a:ln/>
        </p:spPr>
        <p:txBody>
          <a:bodyPr wrap="square" lIns="0" tIns="0" rIns="0" bIns="0" rtlCol="0" anchor="ctr"/>
          <a:lstStyle/>
          <a:p>
            <a:pPr indent="0" marL="0">
              <a:buNone/>
            </a:pPr>
            <a:r>
              <a:rPr lang="en-US" sz="1400" b="1" dirty="0">
                <a:solidFill>
                  <a:srgbClr val="12132E"/>
                </a:solidFill>
                <a:latin typeface="Calibri" pitchFamily="34" charset="0"/>
                <a:ea typeface="Calibri" pitchFamily="34" charset="-122"/>
                <a:cs typeface="Calibri" pitchFamily="34" charset="-120"/>
              </a:rPr>
              <a:t>Production notes</a:t>
            </a:r>
            <a:endParaRPr lang="en-US" sz="1400" dirty="0"/>
          </a:p>
        </p:txBody>
      </p:sp>
      <p:sp>
        <p:nvSpPr>
          <p:cNvPr id="22" name="Text 17"/>
          <p:cNvSpPr/>
          <p:nvPr/>
        </p:nvSpPr>
        <p:spPr>
          <a:xfrm>
            <a:off x="914400" y="4526280"/>
            <a:ext cx="10515600" cy="11430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Capture session_id from ResultMessage (present even on errors). Python's ClaudeSDKClient tracks it for you.</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Sessions persist the CONVERSATION, not the filesystem — use file checkpointing to revert file changes.</a:t>
            </a:r>
            <a:endParaRPr lang="en-US" sz="1200" dirty="0"/>
          </a:p>
          <a:p>
            <a:pPr marL="342900" indent="-342900">
              <a:spcAft>
                <a:spcPts val="600"/>
              </a:spcAft>
              <a:buSzPct val="100000"/>
              <a:buChar char="•"/>
            </a:pPr>
            <a:r>
              <a:rPr lang="en-US" sz="1200" dirty="0">
                <a:solidFill>
                  <a:srgbClr val="1E293B"/>
                </a:solidFill>
                <a:latin typeface="Calibri" pitchFamily="34" charset="0"/>
                <a:ea typeface="Calibri" pitchFamily="34" charset="-122"/>
                <a:cs typeface="Calibri" pitchFamily="34" charset="-120"/>
              </a:rPr>
              <a:t>Resuming across hosts: move the .jsonl (cwd must match), or — often more robust — inject a structured summary into a fresh session.</a:t>
            </a:r>
            <a:endParaRPr lang="en-US" sz="1200" dirty="0"/>
          </a:p>
        </p:txBody>
      </p:sp>
      <p:sp>
        <p:nvSpPr>
          <p:cNvPr id="23" name="Text 18"/>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24" name="Text 19"/>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25" name="Text 20"/>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TASK 5.3 · SAMPLE Q8</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Error propagation across agents</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exam guide · Sample Q8</a:t>
            </a:r>
            <a:endParaRPr lang="en-US" sz="1050" dirty="0"/>
          </a:p>
        </p:txBody>
      </p:sp>
      <p:sp>
        <p:nvSpPr>
          <p:cNvPr id="5" name="Text 3"/>
          <p:cNvSpPr/>
          <p:nvPr/>
        </p:nvSpPr>
        <p:spPr>
          <a:xfrm>
            <a:off x="548640" y="1371600"/>
            <a:ext cx="11064240" cy="731520"/>
          </a:xfrm>
          <a:prstGeom prst="rect">
            <a:avLst/>
          </a:prstGeom>
          <a:noFill/>
          <a:ln/>
        </p:spPr>
        <p:txBody>
          <a:bodyPr wrap="square" lIns="0" tIns="0" rIns="0" bIns="0" rtlCol="0" anchor="ctr"/>
          <a:lstStyle/>
          <a:p>
            <a:pPr indent="0" marL="0">
              <a:lnSpc>
                <a:spcPct val="105000"/>
              </a:lnSpc>
              <a:buNone/>
            </a:pPr>
            <a:r>
              <a:rPr lang="en-US" sz="1450" dirty="0">
                <a:solidFill>
                  <a:srgbClr val="1E293B"/>
                </a:solidFill>
                <a:latin typeface="Calibri" pitchFamily="34" charset="0"/>
                <a:ea typeface="Calibri" pitchFamily="34" charset="-122"/>
                <a:cs typeface="Calibri" pitchFamily="34" charset="-120"/>
              </a:rPr>
              <a:t>When a subagent fails (e.g. web search times out), return STRUCTURED error context so the coordinator can recover intelligently — retry, try an alternative, or proceed with partial results.</a:t>
            </a:r>
            <a:endParaRPr lang="en-US" sz="1450" dirty="0"/>
          </a:p>
        </p:txBody>
      </p:sp>
      <p:sp>
        <p:nvSpPr>
          <p:cNvPr id="6" name="Shape 4"/>
          <p:cNvSpPr/>
          <p:nvPr/>
        </p:nvSpPr>
        <p:spPr>
          <a:xfrm>
            <a:off x="548640" y="2240280"/>
            <a:ext cx="5394960" cy="3246120"/>
          </a:xfrm>
          <a:prstGeom prst="roundRect">
            <a:avLst>
              <a:gd name="adj" fmla="val 1690"/>
            </a:avLst>
          </a:prstGeom>
          <a:solidFill>
            <a:srgbClr val="ECFDF5"/>
          </a:solidFill>
          <a:ln/>
          <a:effectLst>
            <a:outerShdw sx="100000" sy="100000" kx="0" ky="0" algn="bl" rotWithShape="0" blurRad="88900" dist="38100" dir="5400000">
              <a:srgbClr val="000000">
                <a:alpha val="16000"/>
              </a:srgbClr>
            </a:outerShdw>
          </a:effectLst>
        </p:spPr>
      </p:sp>
      <p:sp>
        <p:nvSpPr>
          <p:cNvPr id="7" name="Shape 5"/>
          <p:cNvSpPr/>
          <p:nvPr/>
        </p:nvSpPr>
        <p:spPr>
          <a:xfrm>
            <a:off x="777240" y="2468880"/>
            <a:ext cx="594360" cy="594360"/>
          </a:xfrm>
          <a:prstGeom prst="ellipse">
            <a:avLst/>
          </a:prstGeom>
          <a:solidFill>
            <a:srgbClr val="14B8A6"/>
          </a:solidFill>
          <a:ln/>
          <a:effectLst>
            <a:outerShdw sx="100000" sy="100000" kx="0" ky="0" algn="bl" rotWithShape="0" blurRad="88900" dist="38100" dir="5400000">
              <a:srgbClr val="000000">
                <a:alpha val="16000"/>
              </a:srgbClr>
            </a:outerShdw>
          </a:effectLst>
        </p:spPr>
      </p:sp>
      <p:pic>
        <p:nvPicPr>
          <p:cNvPr id="8" name="Image 0" descr="preencoded.png">    </p:cNvPr>
          <p:cNvPicPr>
            <a:picLocks noChangeAspect="1"/>
          </p:cNvPicPr>
          <p:nvPr/>
        </p:nvPicPr>
        <p:blipFill>
          <a:blip r:embed="rId1"/>
          <a:stretch>
            <a:fillRect/>
          </a:stretch>
        </p:blipFill>
        <p:spPr>
          <a:xfrm>
            <a:off x="931774" y="2623414"/>
            <a:ext cx="285293" cy="285293"/>
          </a:xfrm>
          <a:prstGeom prst="rect">
            <a:avLst/>
          </a:prstGeom>
        </p:spPr>
      </p:pic>
      <p:sp>
        <p:nvSpPr>
          <p:cNvPr id="9" name="Text 6"/>
          <p:cNvSpPr/>
          <p:nvPr/>
        </p:nvSpPr>
        <p:spPr>
          <a:xfrm>
            <a:off x="1508760" y="2514600"/>
            <a:ext cx="4297680" cy="411480"/>
          </a:xfrm>
          <a:prstGeom prst="rect">
            <a:avLst/>
          </a:prstGeom>
          <a:noFill/>
          <a:ln/>
        </p:spPr>
        <p:txBody>
          <a:bodyPr wrap="square" lIns="0" tIns="0" rIns="0" bIns="0" rtlCol="0" anchor="ctr"/>
          <a:lstStyle/>
          <a:p>
            <a:pPr indent="0" marL="0">
              <a:buNone/>
            </a:pPr>
            <a:r>
              <a:rPr lang="en-US" sz="1500" b="1" dirty="0">
                <a:solidFill>
                  <a:srgbClr val="047857"/>
                </a:solidFill>
                <a:latin typeface="Calibri" pitchFamily="34" charset="0"/>
                <a:ea typeface="Calibri" pitchFamily="34" charset="-122"/>
                <a:cs typeface="Calibri" pitchFamily="34" charset="-120"/>
              </a:rPr>
              <a:t>Return structured context ✓</a:t>
            </a:r>
            <a:endParaRPr lang="en-US" sz="1500" dirty="0"/>
          </a:p>
        </p:txBody>
      </p:sp>
      <p:sp>
        <p:nvSpPr>
          <p:cNvPr id="10" name="Text 7"/>
          <p:cNvSpPr/>
          <p:nvPr/>
        </p:nvSpPr>
        <p:spPr>
          <a:xfrm>
            <a:off x="914400" y="3127248"/>
            <a:ext cx="4846320" cy="22860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E293B"/>
                </a:solidFill>
                <a:latin typeface="Calibri" pitchFamily="34" charset="0"/>
                <a:ea typeface="Calibri" pitchFamily="34" charset="-122"/>
                <a:cs typeface="Calibri" pitchFamily="34" charset="-120"/>
              </a:rPr>
              <a:t>failure type (timeout, validation, permission)</a:t>
            </a:r>
            <a:endParaRPr lang="en-US" sz="1250" dirty="0"/>
          </a:p>
          <a:p>
            <a:pPr marL="342900" indent="-342900">
              <a:spcAft>
                <a:spcPts val="800"/>
              </a:spcAft>
              <a:buSzPct val="100000"/>
              <a:buChar char="•"/>
            </a:pPr>
            <a:r>
              <a:rPr lang="en-US" sz="1250" dirty="0">
                <a:solidFill>
                  <a:srgbClr val="1E293B"/>
                </a:solidFill>
                <a:latin typeface="Calibri" pitchFamily="34" charset="0"/>
                <a:ea typeface="Calibri" pitchFamily="34" charset="-122"/>
                <a:cs typeface="Calibri" pitchFamily="34" charset="-120"/>
              </a:rPr>
              <a:t>the attempted query</a:t>
            </a:r>
            <a:endParaRPr lang="en-US" sz="1250" dirty="0"/>
          </a:p>
          <a:p>
            <a:pPr marL="342900" indent="-342900">
              <a:spcAft>
                <a:spcPts val="800"/>
              </a:spcAft>
              <a:buSzPct val="100000"/>
              <a:buChar char="•"/>
            </a:pPr>
            <a:r>
              <a:rPr lang="en-US" sz="1250" dirty="0">
                <a:solidFill>
                  <a:srgbClr val="1E293B"/>
                </a:solidFill>
                <a:latin typeface="Calibri" pitchFamily="34" charset="0"/>
                <a:ea typeface="Calibri" pitchFamily="34" charset="-122"/>
                <a:cs typeface="Calibri" pitchFamily="34" charset="-120"/>
              </a:rPr>
              <a:t>any partial results gathered</a:t>
            </a:r>
            <a:endParaRPr lang="en-US" sz="1250" dirty="0"/>
          </a:p>
          <a:p>
            <a:pPr marL="342900" indent="-342900">
              <a:spcAft>
                <a:spcPts val="800"/>
              </a:spcAft>
              <a:buSzPct val="100000"/>
              <a:buChar char="•"/>
            </a:pPr>
            <a:r>
              <a:rPr lang="en-US" sz="1250" dirty="0">
                <a:solidFill>
                  <a:srgbClr val="1E293B"/>
                </a:solidFill>
                <a:latin typeface="Calibri" pitchFamily="34" charset="0"/>
                <a:ea typeface="Calibri" pitchFamily="34" charset="-122"/>
                <a:cs typeface="Calibri" pitchFamily="34" charset="-120"/>
              </a:rPr>
              <a:t>possible alternative approaches</a:t>
            </a:r>
            <a:endParaRPr lang="en-US" sz="1250" dirty="0"/>
          </a:p>
          <a:p>
            <a:pPr marL="342900" indent="-342900">
              <a:spcAft>
                <a:spcPts val="800"/>
              </a:spcAft>
              <a:buSzPct val="100000"/>
              <a:buChar char="•"/>
            </a:pPr>
            <a:r>
              <a:rPr lang="en-US" sz="1250" dirty="0">
                <a:solidFill>
                  <a:srgbClr val="1E293B"/>
                </a:solidFill>
                <a:latin typeface="Calibri" pitchFamily="34" charset="0"/>
                <a:ea typeface="Calibri" pitchFamily="34" charset="-122"/>
                <a:cs typeface="Calibri" pitchFamily="34" charset="-120"/>
              </a:rPr>
              <a:t>isRetryable flag for the coordinator</a:t>
            </a:r>
            <a:endParaRPr lang="en-US" sz="1250" dirty="0"/>
          </a:p>
        </p:txBody>
      </p:sp>
      <p:sp>
        <p:nvSpPr>
          <p:cNvPr id="11" name="Shape 8"/>
          <p:cNvSpPr/>
          <p:nvPr/>
        </p:nvSpPr>
        <p:spPr>
          <a:xfrm>
            <a:off x="6217920" y="2240280"/>
            <a:ext cx="5394960" cy="3246120"/>
          </a:xfrm>
          <a:prstGeom prst="roundRect">
            <a:avLst>
              <a:gd name="adj" fmla="val 1690"/>
            </a:avLst>
          </a:prstGeom>
          <a:solidFill>
            <a:srgbClr val="FEF2F2"/>
          </a:solidFill>
          <a:ln/>
          <a:effectLst>
            <a:outerShdw sx="100000" sy="100000" kx="0" ky="0" algn="bl" rotWithShape="0" blurRad="88900" dist="38100" dir="5400000">
              <a:srgbClr val="000000">
                <a:alpha val="16000"/>
              </a:srgbClr>
            </a:outerShdw>
          </a:effectLst>
        </p:spPr>
      </p:sp>
      <p:sp>
        <p:nvSpPr>
          <p:cNvPr id="12" name="Shape 9"/>
          <p:cNvSpPr/>
          <p:nvPr/>
        </p:nvSpPr>
        <p:spPr>
          <a:xfrm>
            <a:off x="6446520" y="2468880"/>
            <a:ext cx="594360" cy="594360"/>
          </a:xfrm>
          <a:prstGeom prst="ellipse">
            <a:avLst/>
          </a:prstGeom>
          <a:solidFill>
            <a:srgbClr val="F43F5E"/>
          </a:solidFill>
          <a:ln/>
          <a:effectLst>
            <a:outerShdw sx="100000" sy="100000" kx="0" ky="0" algn="bl" rotWithShape="0" blurRad="88900" dist="38100" dir="5400000">
              <a:srgbClr val="000000">
                <a:alpha val="16000"/>
              </a:srgbClr>
            </a:outerShdw>
          </a:effectLst>
        </p:spPr>
      </p:sp>
      <p:pic>
        <p:nvPicPr>
          <p:cNvPr id="13" name="Image 1" descr="preencoded.png">    </p:cNvPr>
          <p:cNvPicPr>
            <a:picLocks noChangeAspect="1"/>
          </p:cNvPicPr>
          <p:nvPr/>
        </p:nvPicPr>
        <p:blipFill>
          <a:blip r:embed="rId2"/>
          <a:stretch>
            <a:fillRect/>
          </a:stretch>
        </p:blipFill>
        <p:spPr>
          <a:xfrm>
            <a:off x="6601054" y="2623414"/>
            <a:ext cx="285293" cy="285293"/>
          </a:xfrm>
          <a:prstGeom prst="rect">
            <a:avLst/>
          </a:prstGeom>
        </p:spPr>
      </p:pic>
      <p:sp>
        <p:nvSpPr>
          <p:cNvPr id="14" name="Text 10"/>
          <p:cNvSpPr/>
          <p:nvPr/>
        </p:nvSpPr>
        <p:spPr>
          <a:xfrm>
            <a:off x="7178040" y="2514600"/>
            <a:ext cx="4297680" cy="411480"/>
          </a:xfrm>
          <a:prstGeom prst="rect">
            <a:avLst/>
          </a:prstGeom>
          <a:noFill/>
          <a:ln/>
        </p:spPr>
        <p:txBody>
          <a:bodyPr wrap="square" lIns="0" tIns="0" rIns="0" bIns="0" rtlCol="0" anchor="ctr"/>
          <a:lstStyle/>
          <a:p>
            <a:pPr indent="0" marL="0">
              <a:buNone/>
            </a:pPr>
            <a:r>
              <a:rPr lang="en-US" sz="1500" b="1" dirty="0">
                <a:solidFill>
                  <a:srgbClr val="B91C1C"/>
                </a:solidFill>
                <a:latin typeface="Calibri" pitchFamily="34" charset="0"/>
                <a:ea typeface="Calibri" pitchFamily="34" charset="-122"/>
                <a:cs typeface="Calibri" pitchFamily="34" charset="-120"/>
              </a:rPr>
              <a:t>Anti-patterns ✗</a:t>
            </a:r>
            <a:endParaRPr lang="en-US" sz="1500" dirty="0"/>
          </a:p>
        </p:txBody>
      </p:sp>
      <p:sp>
        <p:nvSpPr>
          <p:cNvPr id="15" name="Text 11"/>
          <p:cNvSpPr/>
          <p:nvPr/>
        </p:nvSpPr>
        <p:spPr>
          <a:xfrm>
            <a:off x="6583680" y="3127248"/>
            <a:ext cx="4846320" cy="22860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E293B"/>
                </a:solidFill>
                <a:latin typeface="Calibri" pitchFamily="34" charset="0"/>
                <a:ea typeface="Calibri" pitchFamily="34" charset="-122"/>
                <a:cs typeface="Calibri" pitchFamily="34" charset="-120"/>
              </a:rPr>
              <a:t>Generic “search unavailable” — hides context</a:t>
            </a:r>
            <a:endParaRPr lang="en-US" sz="1250" dirty="0"/>
          </a:p>
          <a:p>
            <a:pPr marL="342900" indent="-342900">
              <a:spcAft>
                <a:spcPts val="800"/>
              </a:spcAft>
              <a:buSzPct val="100000"/>
              <a:buChar char="•"/>
            </a:pPr>
            <a:r>
              <a:rPr lang="en-US" sz="1250" dirty="0">
                <a:solidFill>
                  <a:srgbClr val="1E293B"/>
                </a:solidFill>
                <a:latin typeface="Calibri" pitchFamily="34" charset="0"/>
                <a:ea typeface="Calibri" pitchFamily="34" charset="-122"/>
                <a:cs typeface="Calibri" pitchFamily="34" charset="-120"/>
              </a:rPr>
              <a:t>Empty results marked as success — silent failure</a:t>
            </a:r>
            <a:endParaRPr lang="en-US" sz="1250" dirty="0"/>
          </a:p>
          <a:p>
            <a:pPr marL="342900" indent="-342900">
              <a:spcAft>
                <a:spcPts val="800"/>
              </a:spcAft>
              <a:buSzPct val="100000"/>
              <a:buChar char="•"/>
            </a:pPr>
            <a:r>
              <a:rPr lang="en-US" sz="1250" dirty="0">
                <a:solidFill>
                  <a:srgbClr val="1E293B"/>
                </a:solidFill>
                <a:latin typeface="Calibri" pitchFamily="34" charset="0"/>
                <a:ea typeface="Calibri" pitchFamily="34" charset="-122"/>
                <a:cs typeface="Calibri" pitchFamily="34" charset="-120"/>
              </a:rPr>
              <a:t>Kill the entire workflow on one failure</a:t>
            </a:r>
            <a:endParaRPr lang="en-US" sz="1250" dirty="0"/>
          </a:p>
          <a:p>
            <a:pPr marL="342900" indent="-342900">
              <a:spcAft>
                <a:spcPts val="800"/>
              </a:spcAft>
              <a:buSzPct val="100000"/>
              <a:buChar char="•"/>
            </a:pPr>
            <a:r>
              <a:rPr lang="en-US" sz="1250" dirty="0">
                <a:solidFill>
                  <a:srgbClr val="1E293B"/>
                </a:solidFill>
                <a:latin typeface="Calibri" pitchFamily="34" charset="0"/>
                <a:ea typeface="Calibri" pitchFamily="34" charset="-122"/>
                <a:cs typeface="Calibri" pitchFamily="34" charset="-120"/>
              </a:rPr>
              <a:t>Confuse access failures with valid empty results</a:t>
            </a:r>
            <a:endParaRPr lang="en-US" sz="1250" dirty="0"/>
          </a:p>
        </p:txBody>
      </p:sp>
      <p:sp>
        <p:nvSpPr>
          <p:cNvPr id="16" name="Text 12"/>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17" name="Text 13"/>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18" name="Text 14"/>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SENIOR SYNTHESIS</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Operating agents in production</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agent-sdk/agent-loop · /hooks · /cost-tracking</a:t>
            </a:r>
            <a:endParaRPr lang="en-US" sz="1050" dirty="0"/>
          </a:p>
        </p:txBody>
      </p:sp>
      <p:sp>
        <p:nvSpPr>
          <p:cNvPr id="5" name="Shape 3"/>
          <p:cNvSpPr/>
          <p:nvPr/>
        </p:nvSpPr>
        <p:spPr>
          <a:xfrm>
            <a:off x="548640" y="1463040"/>
            <a:ext cx="5394960" cy="1874520"/>
          </a:xfrm>
          <a:prstGeom prst="roundRect">
            <a:avLst>
              <a:gd name="adj" fmla="val 2927"/>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6" name="Shape 4"/>
          <p:cNvSpPr/>
          <p:nvPr/>
        </p:nvSpPr>
        <p:spPr>
          <a:xfrm>
            <a:off x="822960" y="1737360"/>
            <a:ext cx="694944" cy="694944"/>
          </a:xfrm>
          <a:prstGeom prst="ellipse">
            <a:avLst/>
          </a:prstGeom>
          <a:solidFill>
            <a:srgbClr val="4F46E5"/>
          </a:solidFill>
          <a:ln/>
          <a:effectLst>
            <a:outerShdw sx="100000" sy="100000" kx="0" ky="0" algn="bl" rotWithShape="0" blurRad="88900" dist="38100" dir="5400000">
              <a:srgbClr val="000000">
                <a:alpha val="16000"/>
              </a:srgbClr>
            </a:outerShdw>
          </a:effectLst>
        </p:spPr>
      </p:sp>
      <p:pic>
        <p:nvPicPr>
          <p:cNvPr id="7" name="Image 0" descr="preencoded.png">    </p:cNvPr>
          <p:cNvPicPr>
            <a:picLocks noChangeAspect="1"/>
          </p:cNvPicPr>
          <p:nvPr/>
        </p:nvPicPr>
        <p:blipFill>
          <a:blip r:embed="rId1"/>
          <a:stretch>
            <a:fillRect/>
          </a:stretch>
        </p:blipFill>
        <p:spPr>
          <a:xfrm>
            <a:off x="1003645" y="1918045"/>
            <a:ext cx="333573" cy="333573"/>
          </a:xfrm>
          <a:prstGeom prst="rect">
            <a:avLst/>
          </a:prstGeom>
        </p:spPr>
      </p:pic>
      <p:sp>
        <p:nvSpPr>
          <p:cNvPr id="8" name="Text 5"/>
          <p:cNvSpPr/>
          <p:nvPr/>
        </p:nvSpPr>
        <p:spPr>
          <a:xfrm>
            <a:off x="1682496" y="1773936"/>
            <a:ext cx="4114800" cy="457200"/>
          </a:xfrm>
          <a:prstGeom prst="rect">
            <a:avLst/>
          </a:prstGeom>
          <a:noFill/>
          <a:ln/>
        </p:spPr>
        <p:txBody>
          <a:bodyPr wrap="square" lIns="0" tIns="0" rIns="0" bIns="0" rtlCol="0" anchor="ctr"/>
          <a:lstStyle/>
          <a:p>
            <a:pPr indent="0" marL="0">
              <a:buNone/>
            </a:pPr>
            <a:r>
              <a:rPr lang="en-US" sz="1600" b="1" dirty="0">
                <a:solidFill>
                  <a:srgbClr val="4F46E5"/>
                </a:solidFill>
                <a:latin typeface="Calibri" pitchFamily="34" charset="0"/>
                <a:ea typeface="Calibri" pitchFamily="34" charset="-122"/>
                <a:cs typeface="Calibri" pitchFamily="34" charset="-120"/>
              </a:rPr>
              <a:t>Observe</a:t>
            </a:r>
            <a:endParaRPr lang="en-US" sz="1600" dirty="0"/>
          </a:p>
        </p:txBody>
      </p:sp>
      <p:sp>
        <p:nvSpPr>
          <p:cNvPr id="9" name="Text 6"/>
          <p:cNvSpPr/>
          <p:nvPr/>
        </p:nvSpPr>
        <p:spPr>
          <a:xfrm>
            <a:off x="822960" y="2423160"/>
            <a:ext cx="4846320" cy="868680"/>
          </a:xfrm>
          <a:prstGeom prst="rect">
            <a:avLst/>
          </a:prstGeom>
          <a:noFill/>
          <a:ln/>
        </p:spPr>
        <p:txBody>
          <a:bodyPr wrap="square" lIns="0" tIns="0" rIns="0" bIns="0" rtlCol="0" anchor="ctr"/>
          <a:lstStyle/>
          <a:p>
            <a:pPr indent="0" marL="0">
              <a:lnSpc>
                <a:spcPct val="105000"/>
              </a:lnSpc>
              <a:buNone/>
            </a:pPr>
            <a:r>
              <a:rPr lang="en-US" sz="1200" dirty="0">
                <a:solidFill>
                  <a:srgbClr val="64748B"/>
                </a:solidFill>
                <a:latin typeface="Calibri" pitchFamily="34" charset="0"/>
                <a:ea typeface="Calibri" pitchFamily="34" charset="-122"/>
                <a:cs typeface="Calibri" pitchFamily="34" charset="-120"/>
              </a:rPr>
              <a:t>Stream message types; SubagentStart/Stop + PostToolUse hooks for audit trails. Hooks don't cost model context.</a:t>
            </a:r>
            <a:endParaRPr lang="en-US" sz="1200" dirty="0"/>
          </a:p>
        </p:txBody>
      </p:sp>
      <p:sp>
        <p:nvSpPr>
          <p:cNvPr id="10" name="Shape 7"/>
          <p:cNvSpPr/>
          <p:nvPr/>
        </p:nvSpPr>
        <p:spPr>
          <a:xfrm>
            <a:off x="6217920" y="1463040"/>
            <a:ext cx="5394960" cy="1874520"/>
          </a:xfrm>
          <a:prstGeom prst="roundRect">
            <a:avLst>
              <a:gd name="adj" fmla="val 2927"/>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1" name="Shape 8"/>
          <p:cNvSpPr/>
          <p:nvPr/>
        </p:nvSpPr>
        <p:spPr>
          <a:xfrm>
            <a:off x="6492240" y="1737360"/>
            <a:ext cx="694944" cy="694944"/>
          </a:xfrm>
          <a:prstGeom prst="ellipse">
            <a:avLst/>
          </a:prstGeom>
          <a:solidFill>
            <a:srgbClr val="14B8A6"/>
          </a:solidFill>
          <a:ln/>
          <a:effectLst>
            <a:outerShdw sx="100000" sy="100000" kx="0" ky="0" algn="bl" rotWithShape="0" blurRad="88900" dist="38100" dir="5400000">
              <a:srgbClr val="000000">
                <a:alpha val="16000"/>
              </a:srgbClr>
            </a:outerShdw>
          </a:effectLst>
        </p:spPr>
      </p:sp>
      <p:pic>
        <p:nvPicPr>
          <p:cNvPr id="12" name="Image 1" descr="preencoded.png">    </p:cNvPr>
          <p:cNvPicPr>
            <a:picLocks noChangeAspect="1"/>
          </p:cNvPicPr>
          <p:nvPr/>
        </p:nvPicPr>
        <p:blipFill>
          <a:blip r:embed="rId2"/>
          <a:stretch>
            <a:fillRect/>
          </a:stretch>
        </p:blipFill>
        <p:spPr>
          <a:xfrm>
            <a:off x="6672925" y="1918045"/>
            <a:ext cx="333573" cy="333573"/>
          </a:xfrm>
          <a:prstGeom prst="rect">
            <a:avLst/>
          </a:prstGeom>
        </p:spPr>
      </p:pic>
      <p:sp>
        <p:nvSpPr>
          <p:cNvPr id="13" name="Text 9"/>
          <p:cNvSpPr/>
          <p:nvPr/>
        </p:nvSpPr>
        <p:spPr>
          <a:xfrm>
            <a:off x="7351776" y="1773936"/>
            <a:ext cx="4114800" cy="457200"/>
          </a:xfrm>
          <a:prstGeom prst="rect">
            <a:avLst/>
          </a:prstGeom>
          <a:noFill/>
          <a:ln/>
        </p:spPr>
        <p:txBody>
          <a:bodyPr wrap="square" lIns="0" tIns="0" rIns="0" bIns="0" rtlCol="0" anchor="ctr"/>
          <a:lstStyle/>
          <a:p>
            <a:pPr indent="0" marL="0">
              <a:buNone/>
            </a:pPr>
            <a:r>
              <a:rPr lang="en-US" sz="1600" b="1" dirty="0">
                <a:solidFill>
                  <a:srgbClr val="14B8A6"/>
                </a:solidFill>
                <a:latin typeface="Calibri" pitchFamily="34" charset="0"/>
                <a:ea typeface="Calibri" pitchFamily="34" charset="-122"/>
                <a:cs typeface="Calibri" pitchFamily="34" charset="-120"/>
              </a:rPr>
              <a:t>Bound cost</a:t>
            </a:r>
            <a:endParaRPr lang="en-US" sz="1600" dirty="0"/>
          </a:p>
        </p:txBody>
      </p:sp>
      <p:sp>
        <p:nvSpPr>
          <p:cNvPr id="14" name="Text 10"/>
          <p:cNvSpPr/>
          <p:nvPr/>
        </p:nvSpPr>
        <p:spPr>
          <a:xfrm>
            <a:off x="6492240" y="2423160"/>
            <a:ext cx="4846320" cy="868680"/>
          </a:xfrm>
          <a:prstGeom prst="rect">
            <a:avLst/>
          </a:prstGeom>
          <a:noFill/>
          <a:ln/>
        </p:spPr>
        <p:txBody>
          <a:bodyPr wrap="square" lIns="0" tIns="0" rIns="0" bIns="0" rtlCol="0" anchor="ctr"/>
          <a:lstStyle/>
          <a:p>
            <a:pPr indent="0" marL="0">
              <a:lnSpc>
                <a:spcPct val="105000"/>
              </a:lnSpc>
              <a:buNone/>
            </a:pPr>
            <a:r>
              <a:rPr lang="en-US" sz="1200" dirty="0">
                <a:solidFill>
                  <a:srgbClr val="64748B"/>
                </a:solidFill>
                <a:latin typeface="Calibri" pitchFamily="34" charset="0"/>
                <a:ea typeface="Calibri" pitchFamily="34" charset="-122"/>
                <a:cs typeface="Calibri" pitchFamily="34" charset="-120"/>
              </a:rPr>
              <a:t>max_budget_usd + per-turn effort; read total_cost_usd / usage off every ResultMessage.</a:t>
            </a:r>
            <a:endParaRPr lang="en-US" sz="1200" dirty="0"/>
          </a:p>
        </p:txBody>
      </p:sp>
      <p:sp>
        <p:nvSpPr>
          <p:cNvPr id="15" name="Shape 11"/>
          <p:cNvSpPr/>
          <p:nvPr/>
        </p:nvSpPr>
        <p:spPr>
          <a:xfrm>
            <a:off x="548640" y="3593592"/>
            <a:ext cx="5394960" cy="1874520"/>
          </a:xfrm>
          <a:prstGeom prst="roundRect">
            <a:avLst>
              <a:gd name="adj" fmla="val 2927"/>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6" name="Shape 12"/>
          <p:cNvSpPr/>
          <p:nvPr/>
        </p:nvSpPr>
        <p:spPr>
          <a:xfrm>
            <a:off x="822960" y="3867912"/>
            <a:ext cx="694944" cy="694944"/>
          </a:xfrm>
          <a:prstGeom prst="ellipse">
            <a:avLst/>
          </a:prstGeom>
          <a:solidFill>
            <a:srgbClr val="F59E0B"/>
          </a:solidFill>
          <a:ln/>
          <a:effectLst>
            <a:outerShdw sx="100000" sy="100000" kx="0" ky="0" algn="bl" rotWithShape="0" blurRad="88900" dist="38100" dir="5400000">
              <a:srgbClr val="000000">
                <a:alpha val="16000"/>
              </a:srgbClr>
            </a:outerShdw>
          </a:effectLst>
        </p:spPr>
      </p:sp>
      <p:pic>
        <p:nvPicPr>
          <p:cNvPr id="17" name="Image 2" descr="preencoded.png">    </p:cNvPr>
          <p:cNvPicPr>
            <a:picLocks noChangeAspect="1"/>
          </p:cNvPicPr>
          <p:nvPr/>
        </p:nvPicPr>
        <p:blipFill>
          <a:blip r:embed="rId3"/>
          <a:stretch>
            <a:fillRect/>
          </a:stretch>
        </p:blipFill>
        <p:spPr>
          <a:xfrm>
            <a:off x="1003645" y="4048597"/>
            <a:ext cx="333573" cy="333573"/>
          </a:xfrm>
          <a:prstGeom prst="rect">
            <a:avLst/>
          </a:prstGeom>
        </p:spPr>
      </p:pic>
      <p:sp>
        <p:nvSpPr>
          <p:cNvPr id="18" name="Text 13"/>
          <p:cNvSpPr/>
          <p:nvPr/>
        </p:nvSpPr>
        <p:spPr>
          <a:xfrm>
            <a:off x="1682496" y="3904488"/>
            <a:ext cx="4114800" cy="457200"/>
          </a:xfrm>
          <a:prstGeom prst="rect">
            <a:avLst/>
          </a:prstGeom>
          <a:noFill/>
          <a:ln/>
        </p:spPr>
        <p:txBody>
          <a:bodyPr wrap="square" lIns="0" tIns="0" rIns="0" bIns="0"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Constrain</a:t>
            </a:r>
            <a:endParaRPr lang="en-US" sz="1600" dirty="0"/>
          </a:p>
        </p:txBody>
      </p:sp>
      <p:sp>
        <p:nvSpPr>
          <p:cNvPr id="19" name="Text 14"/>
          <p:cNvSpPr/>
          <p:nvPr/>
        </p:nvSpPr>
        <p:spPr>
          <a:xfrm>
            <a:off x="822960" y="4553712"/>
            <a:ext cx="4846320" cy="868680"/>
          </a:xfrm>
          <a:prstGeom prst="rect">
            <a:avLst/>
          </a:prstGeom>
          <a:noFill/>
          <a:ln/>
        </p:spPr>
        <p:txBody>
          <a:bodyPr wrap="square" lIns="0" tIns="0" rIns="0" bIns="0" rtlCol="0" anchor="ctr"/>
          <a:lstStyle/>
          <a:p>
            <a:pPr indent="0" marL="0">
              <a:lnSpc>
                <a:spcPct val="105000"/>
              </a:lnSpc>
              <a:buNone/>
            </a:pPr>
            <a:r>
              <a:rPr lang="en-US" sz="1200" dirty="0">
                <a:solidFill>
                  <a:srgbClr val="64748B"/>
                </a:solidFill>
                <a:latin typeface="Calibri" pitchFamily="34" charset="0"/>
                <a:ea typeface="Calibri" pitchFamily="34" charset="-122"/>
                <a:cs typeface="Calibri" pitchFamily="34" charset="-120"/>
              </a:rPr>
              <a:t>permission_mode + allow/deny rules + PreToolUse gates. bypassPermissions only in isolated envs.</a:t>
            </a:r>
            <a:endParaRPr lang="en-US" sz="1200" dirty="0"/>
          </a:p>
        </p:txBody>
      </p:sp>
      <p:sp>
        <p:nvSpPr>
          <p:cNvPr id="20" name="Shape 15"/>
          <p:cNvSpPr/>
          <p:nvPr/>
        </p:nvSpPr>
        <p:spPr>
          <a:xfrm>
            <a:off x="6217920" y="3593592"/>
            <a:ext cx="5394960" cy="1874520"/>
          </a:xfrm>
          <a:prstGeom prst="roundRect">
            <a:avLst>
              <a:gd name="adj" fmla="val 2927"/>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21" name="Shape 16"/>
          <p:cNvSpPr/>
          <p:nvPr/>
        </p:nvSpPr>
        <p:spPr>
          <a:xfrm>
            <a:off x="6492240" y="3867912"/>
            <a:ext cx="694944" cy="694944"/>
          </a:xfrm>
          <a:prstGeom prst="ellipse">
            <a:avLst/>
          </a:prstGeom>
          <a:solidFill>
            <a:srgbClr val="8B5CF6"/>
          </a:solidFill>
          <a:ln/>
          <a:effectLst>
            <a:outerShdw sx="100000" sy="100000" kx="0" ky="0" algn="bl" rotWithShape="0" blurRad="88900" dist="38100" dir="5400000">
              <a:srgbClr val="000000">
                <a:alpha val="16000"/>
              </a:srgbClr>
            </a:outerShdw>
          </a:effectLst>
        </p:spPr>
      </p:sp>
      <p:pic>
        <p:nvPicPr>
          <p:cNvPr id="22" name="Image 3" descr="preencoded.png">    </p:cNvPr>
          <p:cNvPicPr>
            <a:picLocks noChangeAspect="1"/>
          </p:cNvPicPr>
          <p:nvPr/>
        </p:nvPicPr>
        <p:blipFill>
          <a:blip r:embed="rId4"/>
          <a:stretch>
            <a:fillRect/>
          </a:stretch>
        </p:blipFill>
        <p:spPr>
          <a:xfrm>
            <a:off x="6672925" y="4048597"/>
            <a:ext cx="333573" cy="333573"/>
          </a:xfrm>
          <a:prstGeom prst="rect">
            <a:avLst/>
          </a:prstGeom>
        </p:spPr>
      </p:pic>
      <p:sp>
        <p:nvSpPr>
          <p:cNvPr id="23" name="Text 17"/>
          <p:cNvSpPr/>
          <p:nvPr/>
        </p:nvSpPr>
        <p:spPr>
          <a:xfrm>
            <a:off x="7351776" y="3904488"/>
            <a:ext cx="4114800" cy="457200"/>
          </a:xfrm>
          <a:prstGeom prst="rect">
            <a:avLst/>
          </a:prstGeom>
          <a:noFill/>
          <a:ln/>
        </p:spPr>
        <p:txBody>
          <a:bodyPr wrap="square" lIns="0" tIns="0" rIns="0" bIns="0" rtlCol="0" anchor="ctr"/>
          <a:lstStyle/>
          <a:p>
            <a:pPr indent="0" marL="0">
              <a:buNone/>
            </a:pPr>
            <a:r>
              <a:rPr lang="en-US" sz="1600" b="1" dirty="0">
                <a:solidFill>
                  <a:srgbClr val="8B5CF6"/>
                </a:solidFill>
                <a:latin typeface="Calibri" pitchFamily="34" charset="0"/>
                <a:ea typeface="Calibri" pitchFamily="34" charset="-122"/>
                <a:cs typeface="Calibri" pitchFamily="34" charset="-120"/>
              </a:rPr>
              <a:t>Recover</a:t>
            </a:r>
            <a:endParaRPr lang="en-US" sz="1600" dirty="0"/>
          </a:p>
        </p:txBody>
      </p:sp>
      <p:sp>
        <p:nvSpPr>
          <p:cNvPr id="24" name="Text 18"/>
          <p:cNvSpPr/>
          <p:nvPr/>
        </p:nvSpPr>
        <p:spPr>
          <a:xfrm>
            <a:off x="6492240" y="4553712"/>
            <a:ext cx="4846320" cy="868680"/>
          </a:xfrm>
          <a:prstGeom prst="rect">
            <a:avLst/>
          </a:prstGeom>
          <a:noFill/>
          <a:ln/>
        </p:spPr>
        <p:txBody>
          <a:bodyPr wrap="square" lIns="0" tIns="0" rIns="0" bIns="0" rtlCol="0" anchor="ctr"/>
          <a:lstStyle/>
          <a:p>
            <a:pPr indent="0" marL="0">
              <a:lnSpc>
                <a:spcPct val="105000"/>
              </a:lnSpc>
              <a:buNone/>
            </a:pPr>
            <a:r>
              <a:rPr lang="en-US" sz="1200" dirty="0">
                <a:solidFill>
                  <a:srgbClr val="64748B"/>
                </a:solidFill>
                <a:latin typeface="Calibri" pitchFamily="34" charset="0"/>
                <a:ea typeface="Calibri" pitchFamily="34" charset="-122"/>
                <a:cs typeface="Calibri" pitchFamily="34" charset="-120"/>
              </a:rPr>
              <a:t>Capture session_id; resume on limits; structured errors; checkpoints for file rollback.</a:t>
            </a:r>
            <a:endParaRPr lang="en-US" sz="1200" dirty="0"/>
          </a:p>
        </p:txBody>
      </p:sp>
      <p:sp>
        <p:nvSpPr>
          <p:cNvPr id="25" name="Text 19"/>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26" name="Text 20"/>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27" name="Text 21"/>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EXAM SCENARIOS 1 &amp; 3</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Reference architectures</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exam guide · Scenarios 1 &amp; 3</a:t>
            </a:r>
            <a:endParaRPr lang="en-US" sz="1050" dirty="0"/>
          </a:p>
        </p:txBody>
      </p:sp>
      <p:sp>
        <p:nvSpPr>
          <p:cNvPr id="5" name="Shape 3"/>
          <p:cNvSpPr/>
          <p:nvPr/>
        </p:nvSpPr>
        <p:spPr>
          <a:xfrm>
            <a:off x="548640" y="1417320"/>
            <a:ext cx="5394960" cy="4251960"/>
          </a:xfrm>
          <a:prstGeom prst="roundRect">
            <a:avLst>
              <a:gd name="adj" fmla="val 129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6" name="Shape 4"/>
          <p:cNvSpPr/>
          <p:nvPr/>
        </p:nvSpPr>
        <p:spPr>
          <a:xfrm>
            <a:off x="777240" y="1645920"/>
            <a:ext cx="713232" cy="713232"/>
          </a:xfrm>
          <a:prstGeom prst="ellipse">
            <a:avLst/>
          </a:prstGeom>
          <a:solidFill>
            <a:srgbClr val="4F46E5"/>
          </a:solidFill>
          <a:ln/>
          <a:effectLst>
            <a:outerShdw sx="100000" sy="100000" kx="0" ky="0" algn="bl" rotWithShape="0" blurRad="88900" dist="38100" dir="5400000">
              <a:srgbClr val="000000">
                <a:alpha val="16000"/>
              </a:srgbClr>
            </a:outerShdw>
          </a:effectLst>
        </p:spPr>
      </p:sp>
      <p:pic>
        <p:nvPicPr>
          <p:cNvPr id="7" name="Image 0" descr="preencoded.png">    </p:cNvPr>
          <p:cNvPicPr>
            <a:picLocks noChangeAspect="1"/>
          </p:cNvPicPr>
          <p:nvPr/>
        </p:nvPicPr>
        <p:blipFill>
          <a:blip r:embed="rId1"/>
          <a:stretch>
            <a:fillRect/>
          </a:stretch>
        </p:blipFill>
        <p:spPr>
          <a:xfrm>
            <a:off x="962680" y="1831360"/>
            <a:ext cx="342351" cy="342351"/>
          </a:xfrm>
          <a:prstGeom prst="rect">
            <a:avLst/>
          </a:prstGeom>
        </p:spPr>
      </p:pic>
      <p:sp>
        <p:nvSpPr>
          <p:cNvPr id="8" name="Text 5"/>
          <p:cNvSpPr/>
          <p:nvPr/>
        </p:nvSpPr>
        <p:spPr>
          <a:xfrm>
            <a:off x="1645920" y="1709928"/>
            <a:ext cx="4206240" cy="457200"/>
          </a:xfrm>
          <a:prstGeom prst="rect">
            <a:avLst/>
          </a:prstGeom>
          <a:noFill/>
          <a:ln/>
        </p:spPr>
        <p:txBody>
          <a:bodyPr wrap="square" lIns="0" tIns="0" rIns="0" bIns="0" rtlCol="0" anchor="ctr"/>
          <a:lstStyle/>
          <a:p>
            <a:pPr indent="0" marL="0">
              <a:buNone/>
            </a:pPr>
            <a:r>
              <a:rPr lang="en-US" sz="1600" b="1" dirty="0">
                <a:solidFill>
                  <a:srgbClr val="12132E"/>
                </a:solidFill>
                <a:latin typeface="Calibri" pitchFamily="34" charset="0"/>
                <a:ea typeface="Calibri" pitchFamily="34" charset="-122"/>
                <a:cs typeface="Calibri" pitchFamily="34" charset="-120"/>
              </a:rPr>
              <a:t>Customer support agent</a:t>
            </a:r>
            <a:endParaRPr lang="en-US" sz="1600" dirty="0"/>
          </a:p>
        </p:txBody>
      </p:sp>
      <p:sp>
        <p:nvSpPr>
          <p:cNvPr id="9" name="Text 6"/>
          <p:cNvSpPr/>
          <p:nvPr/>
        </p:nvSpPr>
        <p:spPr>
          <a:xfrm>
            <a:off x="1645920" y="2148840"/>
            <a:ext cx="4206240" cy="36576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Single routed agent · MCP tools · 80%+ first-contact resolution</a:t>
            </a:r>
            <a:endParaRPr lang="en-US" sz="1100" dirty="0"/>
          </a:p>
        </p:txBody>
      </p:sp>
      <p:sp>
        <p:nvSpPr>
          <p:cNvPr id="10" name="Text 7"/>
          <p:cNvSpPr/>
          <p:nvPr/>
        </p:nvSpPr>
        <p:spPr>
          <a:xfrm>
            <a:off x="914400" y="2651760"/>
            <a:ext cx="4846320" cy="2926080"/>
          </a:xfrm>
          <a:prstGeom prst="rect">
            <a:avLst/>
          </a:prstGeom>
          <a:noFill/>
          <a:ln/>
        </p:spPr>
        <p:txBody>
          <a:bodyPr wrap="square" lIns="0" tIns="0" rIns="0" bIns="0" rtlCol="0" anchor="ctr"/>
          <a:lstStyle/>
          <a:p>
            <a:pPr marL="342900" indent="-342900">
              <a:spcAft>
                <a:spcPts val="800"/>
              </a:spcAft>
              <a:buSzPct val="100000"/>
              <a:buChar char="•"/>
            </a:pPr>
            <a:r>
              <a:rPr lang="en-US" sz="1180" dirty="0">
                <a:solidFill>
                  <a:srgbClr val="1E293B"/>
                </a:solidFill>
                <a:latin typeface="Calibri" pitchFamily="34" charset="0"/>
                <a:ea typeface="Calibri" pitchFamily="34" charset="-122"/>
                <a:cs typeface="Calibri" pitchFamily="34" charset="-120"/>
              </a:rPr>
              <a:t>Tools: get_customer, lookup_order, process_refund, escalate_to_human</a:t>
            </a:r>
            <a:endParaRPr lang="en-US" sz="1180" dirty="0"/>
          </a:p>
          <a:p>
            <a:pPr marL="342900" indent="-342900">
              <a:spcAft>
                <a:spcPts val="800"/>
              </a:spcAft>
              <a:buSzPct val="100000"/>
              <a:buChar char="•"/>
            </a:pPr>
            <a:r>
              <a:rPr lang="en-US" sz="1180" dirty="0">
                <a:solidFill>
                  <a:srgbClr val="1E293B"/>
                </a:solidFill>
                <a:latin typeface="Calibri" pitchFamily="34" charset="0"/>
                <a:ea typeface="Calibri" pitchFamily="34" charset="-122"/>
                <a:cs typeface="Calibri" pitchFamily="34" charset="-120"/>
              </a:rPr>
              <a:t>Prerequisite gate: verify identity before order/refund ops</a:t>
            </a:r>
            <a:endParaRPr lang="en-US" sz="1180" dirty="0"/>
          </a:p>
          <a:p>
            <a:pPr marL="342900" indent="-342900">
              <a:spcAft>
                <a:spcPts val="800"/>
              </a:spcAft>
              <a:buSzPct val="100000"/>
              <a:buChar char="•"/>
            </a:pPr>
            <a:r>
              <a:rPr lang="en-US" sz="1180" dirty="0">
                <a:solidFill>
                  <a:srgbClr val="1E293B"/>
                </a:solidFill>
                <a:latin typeface="Calibri" pitchFamily="34" charset="0"/>
                <a:ea typeface="Calibri" pitchFamily="34" charset="-122"/>
                <a:cs typeface="Calibri" pitchFamily="34" charset="-120"/>
              </a:rPr>
              <a:t>PreToolUse hook: cap refunds; redirect to escalation</a:t>
            </a:r>
            <a:endParaRPr lang="en-US" sz="1180" dirty="0"/>
          </a:p>
          <a:p>
            <a:pPr marL="342900" indent="-342900">
              <a:spcAft>
                <a:spcPts val="800"/>
              </a:spcAft>
              <a:buSzPct val="100000"/>
              <a:buChar char="•"/>
            </a:pPr>
            <a:r>
              <a:rPr lang="en-US" sz="1180" dirty="0">
                <a:solidFill>
                  <a:srgbClr val="1E293B"/>
                </a:solidFill>
                <a:latin typeface="Calibri" pitchFamily="34" charset="0"/>
                <a:ea typeface="Calibri" pitchFamily="34" charset="-122"/>
                <a:cs typeface="Calibri" pitchFamily="34" charset="-120"/>
              </a:rPr>
              <a:t>Escalate on explicit request, policy gaps, no progress</a:t>
            </a:r>
            <a:endParaRPr lang="en-US" sz="1180" dirty="0"/>
          </a:p>
          <a:p>
            <a:pPr marL="342900" indent="-342900">
              <a:spcAft>
                <a:spcPts val="800"/>
              </a:spcAft>
              <a:buSzPct val="100000"/>
              <a:buChar char="•"/>
            </a:pPr>
            <a:r>
              <a:rPr lang="en-US" sz="1180" dirty="0">
                <a:solidFill>
                  <a:srgbClr val="1E293B"/>
                </a:solidFill>
                <a:latin typeface="Calibri" pitchFamily="34" charset="0"/>
                <a:ea typeface="Calibri" pitchFamily="34" charset="-122"/>
                <a:cs typeface="Calibri" pitchFamily="34" charset="-120"/>
              </a:rPr>
              <a:t>Persist a 'case facts' block; trim verbose tool output</a:t>
            </a:r>
            <a:endParaRPr lang="en-US" sz="1180" dirty="0"/>
          </a:p>
        </p:txBody>
      </p:sp>
      <p:sp>
        <p:nvSpPr>
          <p:cNvPr id="11" name="Shape 8"/>
          <p:cNvSpPr/>
          <p:nvPr/>
        </p:nvSpPr>
        <p:spPr>
          <a:xfrm>
            <a:off x="6217920" y="1417320"/>
            <a:ext cx="5394960" cy="4251960"/>
          </a:xfrm>
          <a:prstGeom prst="roundRect">
            <a:avLst>
              <a:gd name="adj" fmla="val 129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2" name="Shape 9"/>
          <p:cNvSpPr/>
          <p:nvPr/>
        </p:nvSpPr>
        <p:spPr>
          <a:xfrm>
            <a:off x="6446520" y="1645920"/>
            <a:ext cx="713232" cy="713232"/>
          </a:xfrm>
          <a:prstGeom prst="ellipse">
            <a:avLst/>
          </a:prstGeom>
          <a:solidFill>
            <a:srgbClr val="8B5CF6"/>
          </a:solidFill>
          <a:ln/>
          <a:effectLst>
            <a:outerShdw sx="100000" sy="100000" kx="0" ky="0" algn="bl" rotWithShape="0" blurRad="88900" dist="38100" dir="5400000">
              <a:srgbClr val="000000">
                <a:alpha val="16000"/>
              </a:srgbClr>
            </a:outerShdw>
          </a:effectLst>
        </p:spPr>
      </p:sp>
      <p:pic>
        <p:nvPicPr>
          <p:cNvPr id="13" name="Image 1" descr="preencoded.png">    </p:cNvPr>
          <p:cNvPicPr>
            <a:picLocks noChangeAspect="1"/>
          </p:cNvPicPr>
          <p:nvPr/>
        </p:nvPicPr>
        <p:blipFill>
          <a:blip r:embed="rId2"/>
          <a:stretch>
            <a:fillRect/>
          </a:stretch>
        </p:blipFill>
        <p:spPr>
          <a:xfrm>
            <a:off x="6631960" y="1831360"/>
            <a:ext cx="342351" cy="342351"/>
          </a:xfrm>
          <a:prstGeom prst="rect">
            <a:avLst/>
          </a:prstGeom>
        </p:spPr>
      </p:pic>
      <p:sp>
        <p:nvSpPr>
          <p:cNvPr id="14" name="Text 10"/>
          <p:cNvSpPr/>
          <p:nvPr/>
        </p:nvSpPr>
        <p:spPr>
          <a:xfrm>
            <a:off x="7315200" y="1709928"/>
            <a:ext cx="4206240" cy="457200"/>
          </a:xfrm>
          <a:prstGeom prst="rect">
            <a:avLst/>
          </a:prstGeom>
          <a:noFill/>
          <a:ln/>
        </p:spPr>
        <p:txBody>
          <a:bodyPr wrap="square" lIns="0" tIns="0" rIns="0" bIns="0" rtlCol="0" anchor="ctr"/>
          <a:lstStyle/>
          <a:p>
            <a:pPr indent="0" marL="0">
              <a:buNone/>
            </a:pPr>
            <a:r>
              <a:rPr lang="en-US" sz="1600" b="1" dirty="0">
                <a:solidFill>
                  <a:srgbClr val="12132E"/>
                </a:solidFill>
                <a:latin typeface="Calibri" pitchFamily="34" charset="0"/>
                <a:ea typeface="Calibri" pitchFamily="34" charset="-122"/>
                <a:cs typeface="Calibri" pitchFamily="34" charset="-120"/>
              </a:rPr>
              <a:t>Multi-agent research</a:t>
            </a:r>
            <a:endParaRPr lang="en-US" sz="1600" dirty="0"/>
          </a:p>
        </p:txBody>
      </p:sp>
      <p:sp>
        <p:nvSpPr>
          <p:cNvPr id="15" name="Text 11"/>
          <p:cNvSpPr/>
          <p:nvPr/>
        </p:nvSpPr>
        <p:spPr>
          <a:xfrm>
            <a:off x="7315200" y="2148840"/>
            <a:ext cx="4206240" cy="36576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Orchestrator–workers · search / analysis / synthesis / report</a:t>
            </a:r>
            <a:endParaRPr lang="en-US" sz="1100" dirty="0"/>
          </a:p>
        </p:txBody>
      </p:sp>
      <p:sp>
        <p:nvSpPr>
          <p:cNvPr id="16" name="Text 12"/>
          <p:cNvSpPr/>
          <p:nvPr/>
        </p:nvSpPr>
        <p:spPr>
          <a:xfrm>
            <a:off x="6583680" y="2651760"/>
            <a:ext cx="4846320" cy="2926080"/>
          </a:xfrm>
          <a:prstGeom prst="rect">
            <a:avLst/>
          </a:prstGeom>
          <a:noFill/>
          <a:ln/>
        </p:spPr>
        <p:txBody>
          <a:bodyPr wrap="square" lIns="0" tIns="0" rIns="0" bIns="0" rtlCol="0" anchor="ctr"/>
          <a:lstStyle/>
          <a:p>
            <a:pPr marL="342900" indent="-342900">
              <a:spcAft>
                <a:spcPts val="800"/>
              </a:spcAft>
              <a:buSzPct val="100000"/>
              <a:buChar char="•"/>
            </a:pPr>
            <a:r>
              <a:rPr lang="en-US" sz="1180" dirty="0">
                <a:solidFill>
                  <a:srgbClr val="1E293B"/>
                </a:solidFill>
                <a:latin typeface="Calibri" pitchFamily="34" charset="0"/>
                <a:ea typeface="Calibri" pitchFamily="34" charset="-122"/>
                <a:cs typeface="Calibri" pitchFamily="34" charset="-120"/>
              </a:rPr>
              <a:t>Coordinator decomposes broadly; spawns searchers in parallel</a:t>
            </a:r>
            <a:endParaRPr lang="en-US" sz="1180" dirty="0"/>
          </a:p>
          <a:p>
            <a:pPr marL="342900" indent="-342900">
              <a:spcAft>
                <a:spcPts val="800"/>
              </a:spcAft>
              <a:buSzPct val="100000"/>
              <a:buChar char="•"/>
            </a:pPr>
            <a:r>
              <a:rPr lang="en-US" sz="1180" dirty="0">
                <a:solidFill>
                  <a:srgbClr val="1E293B"/>
                </a:solidFill>
                <a:latin typeface="Calibri" pitchFamily="34" charset="0"/>
                <a:ea typeface="Calibri" pitchFamily="34" charset="-122"/>
                <a:cs typeface="Calibri" pitchFamily="34" charset="-120"/>
              </a:rPr>
              <a:t>Subagents: isolated context, scoped tools, cited findings</a:t>
            </a:r>
            <a:endParaRPr lang="en-US" sz="1180" dirty="0"/>
          </a:p>
          <a:p>
            <a:pPr marL="342900" indent="-342900">
              <a:spcAft>
                <a:spcPts val="800"/>
              </a:spcAft>
              <a:buSzPct val="100000"/>
              <a:buChar char="•"/>
            </a:pPr>
            <a:r>
              <a:rPr lang="en-US" sz="1180" dirty="0">
                <a:solidFill>
                  <a:srgbClr val="1E293B"/>
                </a:solidFill>
                <a:latin typeface="Calibri" pitchFamily="34" charset="0"/>
                <a:ea typeface="Calibri" pitchFamily="34" charset="-122"/>
                <a:cs typeface="Calibri" pitchFamily="34" charset="-120"/>
              </a:rPr>
              <a:t>Pass findings + metadata explicitly to synthesis</a:t>
            </a:r>
            <a:endParaRPr lang="en-US" sz="1180" dirty="0"/>
          </a:p>
          <a:p>
            <a:pPr marL="342900" indent="-342900">
              <a:spcAft>
                <a:spcPts val="800"/>
              </a:spcAft>
              <a:buSzPct val="100000"/>
              <a:buChar char="•"/>
            </a:pPr>
            <a:r>
              <a:rPr lang="en-US" sz="1180" dirty="0">
                <a:solidFill>
                  <a:srgbClr val="1E293B"/>
                </a:solidFill>
                <a:latin typeface="Calibri" pitchFamily="34" charset="0"/>
                <a:ea typeface="Calibri" pitchFamily="34" charset="-122"/>
                <a:cs typeface="Calibri" pitchFamily="34" charset="-120"/>
              </a:rPr>
              <a:t>Structured error context → recover with partial results</a:t>
            </a:r>
            <a:endParaRPr lang="en-US" sz="1180" dirty="0"/>
          </a:p>
          <a:p>
            <a:pPr marL="342900" indent="-342900">
              <a:spcAft>
                <a:spcPts val="800"/>
              </a:spcAft>
              <a:buSzPct val="100000"/>
              <a:buChar char="•"/>
            </a:pPr>
            <a:r>
              <a:rPr lang="en-US" sz="1180" dirty="0">
                <a:solidFill>
                  <a:srgbClr val="1E293B"/>
                </a:solidFill>
                <a:latin typeface="Calibri" pitchFamily="34" charset="0"/>
                <a:ea typeface="Calibri" pitchFamily="34" charset="-122"/>
                <a:cs typeface="Calibri" pitchFamily="34" charset="-120"/>
              </a:rPr>
              <a:t>Annotate coverage gaps and conflicting sources</a:t>
            </a:r>
            <a:endParaRPr lang="en-US" sz="1180" dirty="0"/>
          </a:p>
        </p:txBody>
      </p:sp>
      <p:sp>
        <p:nvSpPr>
          <p:cNvPr id="17" name="Text 13"/>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18" name="Text 14"/>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19" name="Text 15"/>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RAPID REVIEW</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Exam cheat sheet — traps &amp; truths</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exam guide · in-scope topics</a:t>
            </a:r>
            <a:endParaRPr lang="en-US" sz="1050" dirty="0"/>
          </a:p>
        </p:txBody>
      </p:sp>
      <p:sp>
        <p:nvSpPr>
          <p:cNvPr id="5" name="Shape 3"/>
          <p:cNvSpPr/>
          <p:nvPr/>
        </p:nvSpPr>
        <p:spPr>
          <a:xfrm>
            <a:off x="548640" y="1417320"/>
            <a:ext cx="5394960" cy="786384"/>
          </a:xfrm>
          <a:prstGeom prst="roundRect">
            <a:avLst>
              <a:gd name="adj" fmla="val 5814"/>
            </a:avLst>
          </a:prstGeom>
          <a:solidFill>
            <a:srgbClr val="FFFFFF"/>
          </a:solidFill>
          <a:ln w="12700">
            <a:solidFill>
              <a:srgbClr val="E2E8F0"/>
            </a:solidFill>
            <a:prstDash val="solid"/>
          </a:ln>
        </p:spPr>
      </p:sp>
      <p:sp>
        <p:nvSpPr>
          <p:cNvPr id="6" name="Text 4"/>
          <p:cNvSpPr/>
          <p:nvPr/>
        </p:nvSpPr>
        <p:spPr>
          <a:xfrm>
            <a:off x="777240" y="1508760"/>
            <a:ext cx="4937760" cy="292608"/>
          </a:xfrm>
          <a:prstGeom prst="rect">
            <a:avLst/>
          </a:prstGeom>
          <a:noFill/>
          <a:ln/>
        </p:spPr>
        <p:txBody>
          <a:bodyPr wrap="square" lIns="0" tIns="0" rIns="0" bIns="0" rtlCol="0" anchor="ctr"/>
          <a:lstStyle/>
          <a:p>
            <a:pPr indent="0" marL="0">
              <a:buNone/>
            </a:pPr>
            <a:r>
              <a:rPr lang="en-US" sz="1250" b="1" dirty="0">
                <a:solidFill>
                  <a:srgbClr val="4F46E5"/>
                </a:solidFill>
                <a:latin typeface="Calibri" pitchFamily="34" charset="0"/>
                <a:ea typeface="Calibri" pitchFamily="34" charset="-122"/>
                <a:cs typeface="Calibri" pitchFamily="34" charset="-120"/>
              </a:rPr>
              <a:t>Loop control</a:t>
            </a:r>
            <a:endParaRPr lang="en-US" sz="1250" dirty="0"/>
          </a:p>
        </p:txBody>
      </p:sp>
      <p:sp>
        <p:nvSpPr>
          <p:cNvPr id="7" name="Text 5"/>
          <p:cNvSpPr/>
          <p:nvPr/>
        </p:nvSpPr>
        <p:spPr>
          <a:xfrm>
            <a:off x="777240" y="1801368"/>
            <a:ext cx="4937760" cy="365760"/>
          </a:xfrm>
          <a:prstGeom prst="rect">
            <a:avLst/>
          </a:prstGeom>
          <a:noFill/>
          <a:ln/>
        </p:spPr>
        <p:txBody>
          <a:bodyPr wrap="square" lIns="0" tIns="0" rIns="0" bIns="0" rtlCol="0" anchor="ctr"/>
          <a:lstStyle/>
          <a:p>
            <a:pPr indent="0" marL="0">
              <a:lnSpc>
                <a:spcPct val="100000"/>
              </a:lnSpc>
              <a:buNone/>
            </a:pPr>
            <a:r>
              <a:rPr lang="en-US" sz="1100" dirty="0">
                <a:solidFill>
                  <a:srgbClr val="1E293B"/>
                </a:solidFill>
                <a:latin typeface="Calibri" pitchFamily="34" charset="0"/>
                <a:ea typeface="Calibri" pitchFamily="34" charset="-122"/>
                <a:cs typeface="Calibri" pitchFamily="34" charset="-120"/>
              </a:rPr>
              <a:t>Drive on stop_reason — not text, not iteration caps.</a:t>
            </a:r>
            <a:endParaRPr lang="en-US" sz="1100" dirty="0"/>
          </a:p>
        </p:txBody>
      </p:sp>
      <p:sp>
        <p:nvSpPr>
          <p:cNvPr id="8" name="Shape 6"/>
          <p:cNvSpPr/>
          <p:nvPr/>
        </p:nvSpPr>
        <p:spPr>
          <a:xfrm>
            <a:off x="6217920" y="1417320"/>
            <a:ext cx="5394960" cy="786384"/>
          </a:xfrm>
          <a:prstGeom prst="roundRect">
            <a:avLst>
              <a:gd name="adj" fmla="val 5814"/>
            </a:avLst>
          </a:prstGeom>
          <a:solidFill>
            <a:srgbClr val="F8FAFC"/>
          </a:solidFill>
          <a:ln w="12700">
            <a:solidFill>
              <a:srgbClr val="E2E8F0"/>
            </a:solidFill>
            <a:prstDash val="solid"/>
          </a:ln>
        </p:spPr>
      </p:sp>
      <p:sp>
        <p:nvSpPr>
          <p:cNvPr id="9" name="Text 7"/>
          <p:cNvSpPr/>
          <p:nvPr/>
        </p:nvSpPr>
        <p:spPr>
          <a:xfrm>
            <a:off x="6446520" y="1508760"/>
            <a:ext cx="4937760" cy="292608"/>
          </a:xfrm>
          <a:prstGeom prst="rect">
            <a:avLst/>
          </a:prstGeom>
          <a:noFill/>
          <a:ln/>
        </p:spPr>
        <p:txBody>
          <a:bodyPr wrap="square" lIns="0" tIns="0" rIns="0" bIns="0" rtlCol="0" anchor="ctr"/>
          <a:lstStyle/>
          <a:p>
            <a:pPr indent="0" marL="0">
              <a:buNone/>
            </a:pPr>
            <a:r>
              <a:rPr lang="en-US" sz="1250" b="1" dirty="0">
                <a:solidFill>
                  <a:srgbClr val="4F46E5"/>
                </a:solidFill>
                <a:latin typeface="Calibri" pitchFamily="34" charset="0"/>
                <a:ea typeface="Calibri" pitchFamily="34" charset="-122"/>
                <a:cs typeface="Calibri" pitchFamily="34" charset="-120"/>
              </a:rPr>
              <a:t>Tool results</a:t>
            </a:r>
            <a:endParaRPr lang="en-US" sz="1250" dirty="0"/>
          </a:p>
        </p:txBody>
      </p:sp>
      <p:sp>
        <p:nvSpPr>
          <p:cNvPr id="10" name="Text 8"/>
          <p:cNvSpPr/>
          <p:nvPr/>
        </p:nvSpPr>
        <p:spPr>
          <a:xfrm>
            <a:off x="6446520" y="1801368"/>
            <a:ext cx="4937760" cy="365760"/>
          </a:xfrm>
          <a:prstGeom prst="rect">
            <a:avLst/>
          </a:prstGeom>
          <a:noFill/>
          <a:ln/>
        </p:spPr>
        <p:txBody>
          <a:bodyPr wrap="square" lIns="0" tIns="0" rIns="0" bIns="0" rtlCol="0" anchor="ctr"/>
          <a:lstStyle/>
          <a:p>
            <a:pPr indent="0" marL="0">
              <a:lnSpc>
                <a:spcPct val="100000"/>
              </a:lnSpc>
              <a:buNone/>
            </a:pPr>
            <a:r>
              <a:rPr lang="en-US" sz="1100" dirty="0">
                <a:solidFill>
                  <a:srgbClr val="1E293B"/>
                </a:solidFill>
                <a:latin typeface="Calibri" pitchFamily="34" charset="0"/>
                <a:ea typeface="Calibri" pitchFamily="34" charset="-122"/>
                <a:cs typeface="Calibri" pitchFamily="34" charset="-120"/>
              </a:rPr>
              <a:t>Append as a user turn with tool_result + tool_use_id.</a:t>
            </a:r>
            <a:endParaRPr lang="en-US" sz="1100" dirty="0"/>
          </a:p>
        </p:txBody>
      </p:sp>
      <p:sp>
        <p:nvSpPr>
          <p:cNvPr id="11" name="Shape 9"/>
          <p:cNvSpPr/>
          <p:nvPr/>
        </p:nvSpPr>
        <p:spPr>
          <a:xfrm>
            <a:off x="548640" y="2350008"/>
            <a:ext cx="5394960" cy="786384"/>
          </a:xfrm>
          <a:prstGeom prst="roundRect">
            <a:avLst>
              <a:gd name="adj" fmla="val 5814"/>
            </a:avLst>
          </a:prstGeom>
          <a:solidFill>
            <a:srgbClr val="FFFFFF"/>
          </a:solidFill>
          <a:ln w="12700">
            <a:solidFill>
              <a:srgbClr val="E2E8F0"/>
            </a:solidFill>
            <a:prstDash val="solid"/>
          </a:ln>
        </p:spPr>
      </p:sp>
      <p:sp>
        <p:nvSpPr>
          <p:cNvPr id="12" name="Text 10"/>
          <p:cNvSpPr/>
          <p:nvPr/>
        </p:nvSpPr>
        <p:spPr>
          <a:xfrm>
            <a:off x="777240" y="2441448"/>
            <a:ext cx="4937760" cy="292608"/>
          </a:xfrm>
          <a:prstGeom prst="rect">
            <a:avLst/>
          </a:prstGeom>
          <a:noFill/>
          <a:ln/>
        </p:spPr>
        <p:txBody>
          <a:bodyPr wrap="square" lIns="0" tIns="0" rIns="0" bIns="0" rtlCol="0" anchor="ctr"/>
          <a:lstStyle/>
          <a:p>
            <a:pPr indent="0" marL="0">
              <a:buNone/>
            </a:pPr>
            <a:r>
              <a:rPr lang="en-US" sz="1250" b="1" dirty="0">
                <a:solidFill>
                  <a:srgbClr val="4F46E5"/>
                </a:solidFill>
                <a:latin typeface="Calibri" pitchFamily="34" charset="0"/>
                <a:ea typeface="Calibri" pitchFamily="34" charset="-122"/>
                <a:cs typeface="Calibri" pitchFamily="34" charset="-120"/>
              </a:rPr>
              <a:t>Spawning</a:t>
            </a:r>
            <a:endParaRPr lang="en-US" sz="1250" dirty="0"/>
          </a:p>
        </p:txBody>
      </p:sp>
      <p:sp>
        <p:nvSpPr>
          <p:cNvPr id="13" name="Text 11"/>
          <p:cNvSpPr/>
          <p:nvPr/>
        </p:nvSpPr>
        <p:spPr>
          <a:xfrm>
            <a:off x="777240" y="2734056"/>
            <a:ext cx="4937760" cy="365760"/>
          </a:xfrm>
          <a:prstGeom prst="rect">
            <a:avLst/>
          </a:prstGeom>
          <a:noFill/>
          <a:ln/>
        </p:spPr>
        <p:txBody>
          <a:bodyPr wrap="square" lIns="0" tIns="0" rIns="0" bIns="0" rtlCol="0" anchor="ctr"/>
          <a:lstStyle/>
          <a:p>
            <a:pPr indent="0" marL="0">
              <a:lnSpc>
                <a:spcPct val="100000"/>
              </a:lnSpc>
              <a:buNone/>
            </a:pPr>
            <a:r>
              <a:rPr lang="en-US" sz="1100" dirty="0">
                <a:solidFill>
                  <a:srgbClr val="1E293B"/>
                </a:solidFill>
                <a:latin typeface="Calibri" pitchFamily="34" charset="0"/>
                <a:ea typeface="Calibri" pitchFamily="34" charset="-122"/>
                <a:cs typeface="Calibri" pitchFamily="34" charset="-120"/>
              </a:rPr>
              <a:t>Coordinator needs Task/Agent; subagents can't recurse.</a:t>
            </a:r>
            <a:endParaRPr lang="en-US" sz="1100" dirty="0"/>
          </a:p>
        </p:txBody>
      </p:sp>
      <p:sp>
        <p:nvSpPr>
          <p:cNvPr id="14" name="Shape 12"/>
          <p:cNvSpPr/>
          <p:nvPr/>
        </p:nvSpPr>
        <p:spPr>
          <a:xfrm>
            <a:off x="6217920" y="2350008"/>
            <a:ext cx="5394960" cy="786384"/>
          </a:xfrm>
          <a:prstGeom prst="roundRect">
            <a:avLst>
              <a:gd name="adj" fmla="val 5814"/>
            </a:avLst>
          </a:prstGeom>
          <a:solidFill>
            <a:srgbClr val="F8FAFC"/>
          </a:solidFill>
          <a:ln w="12700">
            <a:solidFill>
              <a:srgbClr val="E2E8F0"/>
            </a:solidFill>
            <a:prstDash val="solid"/>
          </a:ln>
        </p:spPr>
      </p:sp>
      <p:sp>
        <p:nvSpPr>
          <p:cNvPr id="15" name="Text 13"/>
          <p:cNvSpPr/>
          <p:nvPr/>
        </p:nvSpPr>
        <p:spPr>
          <a:xfrm>
            <a:off x="6446520" y="2441448"/>
            <a:ext cx="4937760" cy="292608"/>
          </a:xfrm>
          <a:prstGeom prst="rect">
            <a:avLst/>
          </a:prstGeom>
          <a:noFill/>
          <a:ln/>
        </p:spPr>
        <p:txBody>
          <a:bodyPr wrap="square" lIns="0" tIns="0" rIns="0" bIns="0" rtlCol="0" anchor="ctr"/>
          <a:lstStyle/>
          <a:p>
            <a:pPr indent="0" marL="0">
              <a:buNone/>
            </a:pPr>
            <a:r>
              <a:rPr lang="en-US" sz="1250" b="1" dirty="0">
                <a:solidFill>
                  <a:srgbClr val="4F46E5"/>
                </a:solidFill>
                <a:latin typeface="Calibri" pitchFamily="34" charset="0"/>
                <a:ea typeface="Calibri" pitchFamily="34" charset="-122"/>
                <a:cs typeface="Calibri" pitchFamily="34" charset="-120"/>
              </a:rPr>
              <a:t>Subagent context</a:t>
            </a:r>
            <a:endParaRPr lang="en-US" sz="1250" dirty="0"/>
          </a:p>
        </p:txBody>
      </p:sp>
      <p:sp>
        <p:nvSpPr>
          <p:cNvPr id="16" name="Text 14"/>
          <p:cNvSpPr/>
          <p:nvPr/>
        </p:nvSpPr>
        <p:spPr>
          <a:xfrm>
            <a:off x="6446520" y="2734056"/>
            <a:ext cx="4937760" cy="365760"/>
          </a:xfrm>
          <a:prstGeom prst="rect">
            <a:avLst/>
          </a:prstGeom>
          <a:noFill/>
          <a:ln/>
        </p:spPr>
        <p:txBody>
          <a:bodyPr wrap="square" lIns="0" tIns="0" rIns="0" bIns="0" rtlCol="0" anchor="ctr"/>
          <a:lstStyle/>
          <a:p>
            <a:pPr indent="0" marL="0">
              <a:lnSpc>
                <a:spcPct val="100000"/>
              </a:lnSpc>
              <a:buNone/>
            </a:pPr>
            <a:r>
              <a:rPr lang="en-US" sz="1100" dirty="0">
                <a:solidFill>
                  <a:srgbClr val="1E293B"/>
                </a:solidFill>
                <a:latin typeface="Calibri" pitchFamily="34" charset="0"/>
                <a:ea typeface="Calibri" pitchFamily="34" charset="-122"/>
                <a:cs typeface="Calibri" pitchFamily="34" charset="-120"/>
              </a:rPr>
              <a:t>Isolated — pass everything in the spawn prompt.</a:t>
            </a:r>
            <a:endParaRPr lang="en-US" sz="1100" dirty="0"/>
          </a:p>
        </p:txBody>
      </p:sp>
      <p:sp>
        <p:nvSpPr>
          <p:cNvPr id="17" name="Shape 15"/>
          <p:cNvSpPr/>
          <p:nvPr/>
        </p:nvSpPr>
        <p:spPr>
          <a:xfrm>
            <a:off x="548640" y="3282696"/>
            <a:ext cx="5394960" cy="786384"/>
          </a:xfrm>
          <a:prstGeom prst="roundRect">
            <a:avLst>
              <a:gd name="adj" fmla="val 5814"/>
            </a:avLst>
          </a:prstGeom>
          <a:solidFill>
            <a:srgbClr val="FFFFFF"/>
          </a:solidFill>
          <a:ln w="12700">
            <a:solidFill>
              <a:srgbClr val="E2E8F0"/>
            </a:solidFill>
            <a:prstDash val="solid"/>
          </a:ln>
        </p:spPr>
      </p:sp>
      <p:sp>
        <p:nvSpPr>
          <p:cNvPr id="18" name="Text 16"/>
          <p:cNvSpPr/>
          <p:nvPr/>
        </p:nvSpPr>
        <p:spPr>
          <a:xfrm>
            <a:off x="777240" y="3374136"/>
            <a:ext cx="4937760" cy="292608"/>
          </a:xfrm>
          <a:prstGeom prst="rect">
            <a:avLst/>
          </a:prstGeom>
          <a:noFill/>
          <a:ln/>
        </p:spPr>
        <p:txBody>
          <a:bodyPr wrap="square" lIns="0" tIns="0" rIns="0" bIns="0" rtlCol="0" anchor="ctr"/>
          <a:lstStyle/>
          <a:p>
            <a:pPr indent="0" marL="0">
              <a:buNone/>
            </a:pPr>
            <a:r>
              <a:rPr lang="en-US" sz="1250" b="1" dirty="0">
                <a:solidFill>
                  <a:srgbClr val="4F46E5"/>
                </a:solidFill>
                <a:latin typeface="Calibri" pitchFamily="34" charset="0"/>
                <a:ea typeface="Calibri" pitchFamily="34" charset="-122"/>
                <a:cs typeface="Calibri" pitchFamily="34" charset="-120"/>
              </a:rPr>
              <a:t>Parallelism</a:t>
            </a:r>
            <a:endParaRPr lang="en-US" sz="1250" dirty="0"/>
          </a:p>
        </p:txBody>
      </p:sp>
      <p:sp>
        <p:nvSpPr>
          <p:cNvPr id="19" name="Text 17"/>
          <p:cNvSpPr/>
          <p:nvPr/>
        </p:nvSpPr>
        <p:spPr>
          <a:xfrm>
            <a:off x="777240" y="3666744"/>
            <a:ext cx="4937760" cy="365760"/>
          </a:xfrm>
          <a:prstGeom prst="rect">
            <a:avLst/>
          </a:prstGeom>
          <a:noFill/>
          <a:ln/>
        </p:spPr>
        <p:txBody>
          <a:bodyPr wrap="square" lIns="0" tIns="0" rIns="0" bIns="0" rtlCol="0" anchor="ctr"/>
          <a:lstStyle/>
          <a:p>
            <a:pPr indent="0" marL="0">
              <a:lnSpc>
                <a:spcPct val="100000"/>
              </a:lnSpc>
              <a:buNone/>
            </a:pPr>
            <a:r>
              <a:rPr lang="en-US" sz="1100" dirty="0">
                <a:solidFill>
                  <a:srgbClr val="1E293B"/>
                </a:solidFill>
                <a:latin typeface="Calibri" pitchFamily="34" charset="0"/>
                <a:ea typeface="Calibri" pitchFamily="34" charset="-122"/>
                <a:cs typeface="Calibri" pitchFamily="34" charset="-120"/>
              </a:rPr>
              <a:t>Multiple spawn calls in ONE response.</a:t>
            </a:r>
            <a:endParaRPr lang="en-US" sz="1100" dirty="0"/>
          </a:p>
        </p:txBody>
      </p:sp>
      <p:sp>
        <p:nvSpPr>
          <p:cNvPr id="20" name="Shape 18"/>
          <p:cNvSpPr/>
          <p:nvPr/>
        </p:nvSpPr>
        <p:spPr>
          <a:xfrm>
            <a:off x="6217920" y="3282696"/>
            <a:ext cx="5394960" cy="786384"/>
          </a:xfrm>
          <a:prstGeom prst="roundRect">
            <a:avLst>
              <a:gd name="adj" fmla="val 5814"/>
            </a:avLst>
          </a:prstGeom>
          <a:solidFill>
            <a:srgbClr val="F8FAFC"/>
          </a:solidFill>
          <a:ln w="12700">
            <a:solidFill>
              <a:srgbClr val="E2E8F0"/>
            </a:solidFill>
            <a:prstDash val="solid"/>
          </a:ln>
        </p:spPr>
      </p:sp>
      <p:sp>
        <p:nvSpPr>
          <p:cNvPr id="21" name="Text 19"/>
          <p:cNvSpPr/>
          <p:nvPr/>
        </p:nvSpPr>
        <p:spPr>
          <a:xfrm>
            <a:off x="6446520" y="3374136"/>
            <a:ext cx="4937760" cy="292608"/>
          </a:xfrm>
          <a:prstGeom prst="rect">
            <a:avLst/>
          </a:prstGeom>
          <a:noFill/>
          <a:ln/>
        </p:spPr>
        <p:txBody>
          <a:bodyPr wrap="square" lIns="0" tIns="0" rIns="0" bIns="0" rtlCol="0" anchor="ctr"/>
          <a:lstStyle/>
          <a:p>
            <a:pPr indent="0" marL="0">
              <a:buNone/>
            </a:pPr>
            <a:r>
              <a:rPr lang="en-US" sz="1250" b="1" dirty="0">
                <a:solidFill>
                  <a:srgbClr val="4F46E5"/>
                </a:solidFill>
                <a:latin typeface="Calibri" pitchFamily="34" charset="0"/>
                <a:ea typeface="Calibri" pitchFamily="34" charset="-122"/>
                <a:cs typeface="Calibri" pitchFamily="34" charset="-120"/>
              </a:rPr>
              <a:t>Hooks vs prompts</a:t>
            </a:r>
            <a:endParaRPr lang="en-US" sz="1250" dirty="0"/>
          </a:p>
        </p:txBody>
      </p:sp>
      <p:sp>
        <p:nvSpPr>
          <p:cNvPr id="22" name="Text 20"/>
          <p:cNvSpPr/>
          <p:nvPr/>
        </p:nvSpPr>
        <p:spPr>
          <a:xfrm>
            <a:off x="6446520" y="3666744"/>
            <a:ext cx="4937760" cy="365760"/>
          </a:xfrm>
          <a:prstGeom prst="rect">
            <a:avLst/>
          </a:prstGeom>
          <a:noFill/>
          <a:ln/>
        </p:spPr>
        <p:txBody>
          <a:bodyPr wrap="square" lIns="0" tIns="0" rIns="0" bIns="0" rtlCol="0" anchor="ctr"/>
          <a:lstStyle/>
          <a:p>
            <a:pPr indent="0" marL="0">
              <a:lnSpc>
                <a:spcPct val="100000"/>
              </a:lnSpc>
              <a:buNone/>
            </a:pPr>
            <a:r>
              <a:rPr lang="en-US" sz="1100" dirty="0">
                <a:solidFill>
                  <a:srgbClr val="1E293B"/>
                </a:solidFill>
                <a:latin typeface="Calibri" pitchFamily="34" charset="0"/>
                <a:ea typeface="Calibri" pitchFamily="34" charset="-122"/>
                <a:cs typeface="Calibri" pitchFamily="34" charset="-120"/>
              </a:rPr>
              <a:t>Must-hold rule → hook; judgment → prompt/few-shot.</a:t>
            </a:r>
            <a:endParaRPr lang="en-US" sz="1100" dirty="0"/>
          </a:p>
        </p:txBody>
      </p:sp>
      <p:sp>
        <p:nvSpPr>
          <p:cNvPr id="23" name="Shape 21"/>
          <p:cNvSpPr/>
          <p:nvPr/>
        </p:nvSpPr>
        <p:spPr>
          <a:xfrm>
            <a:off x="548640" y="4215384"/>
            <a:ext cx="5394960" cy="786384"/>
          </a:xfrm>
          <a:prstGeom prst="roundRect">
            <a:avLst>
              <a:gd name="adj" fmla="val 5814"/>
            </a:avLst>
          </a:prstGeom>
          <a:solidFill>
            <a:srgbClr val="FFFFFF"/>
          </a:solidFill>
          <a:ln w="12700">
            <a:solidFill>
              <a:srgbClr val="E2E8F0"/>
            </a:solidFill>
            <a:prstDash val="solid"/>
          </a:ln>
        </p:spPr>
      </p:sp>
      <p:sp>
        <p:nvSpPr>
          <p:cNvPr id="24" name="Text 22"/>
          <p:cNvSpPr/>
          <p:nvPr/>
        </p:nvSpPr>
        <p:spPr>
          <a:xfrm>
            <a:off x="777240" y="4306824"/>
            <a:ext cx="4937760" cy="292608"/>
          </a:xfrm>
          <a:prstGeom prst="rect">
            <a:avLst/>
          </a:prstGeom>
          <a:noFill/>
          <a:ln/>
        </p:spPr>
        <p:txBody>
          <a:bodyPr wrap="square" lIns="0" tIns="0" rIns="0" bIns="0" rtlCol="0" anchor="ctr"/>
          <a:lstStyle/>
          <a:p>
            <a:pPr indent="0" marL="0">
              <a:buNone/>
            </a:pPr>
            <a:r>
              <a:rPr lang="en-US" sz="1250" b="1" dirty="0">
                <a:solidFill>
                  <a:srgbClr val="4F46E5"/>
                </a:solidFill>
                <a:latin typeface="Calibri" pitchFamily="34" charset="0"/>
                <a:ea typeface="Calibri" pitchFamily="34" charset="-122"/>
                <a:cs typeface="Calibri" pitchFamily="34" charset="-120"/>
              </a:rPr>
              <a:t>Tool count</a:t>
            </a:r>
            <a:endParaRPr lang="en-US" sz="1250" dirty="0"/>
          </a:p>
        </p:txBody>
      </p:sp>
      <p:sp>
        <p:nvSpPr>
          <p:cNvPr id="25" name="Text 23"/>
          <p:cNvSpPr/>
          <p:nvPr/>
        </p:nvSpPr>
        <p:spPr>
          <a:xfrm>
            <a:off x="777240" y="4599432"/>
            <a:ext cx="4937760" cy="365760"/>
          </a:xfrm>
          <a:prstGeom prst="rect">
            <a:avLst/>
          </a:prstGeom>
          <a:noFill/>
          <a:ln/>
        </p:spPr>
        <p:txBody>
          <a:bodyPr wrap="square" lIns="0" tIns="0" rIns="0" bIns="0" rtlCol="0" anchor="ctr"/>
          <a:lstStyle/>
          <a:p>
            <a:pPr indent="0" marL="0">
              <a:lnSpc>
                <a:spcPct val="100000"/>
              </a:lnSpc>
              <a:buNone/>
            </a:pPr>
            <a:r>
              <a:rPr lang="en-US" sz="1100" dirty="0">
                <a:solidFill>
                  <a:srgbClr val="1E293B"/>
                </a:solidFill>
                <a:latin typeface="Calibri" pitchFamily="34" charset="0"/>
                <a:ea typeface="Calibri" pitchFamily="34" charset="-122"/>
                <a:cs typeface="Calibri" pitchFamily="34" charset="-120"/>
              </a:rPr>
              <a:t>Scope tightly; ~4–5 beats 18 for reliability.</a:t>
            </a:r>
            <a:endParaRPr lang="en-US" sz="1100" dirty="0"/>
          </a:p>
        </p:txBody>
      </p:sp>
      <p:sp>
        <p:nvSpPr>
          <p:cNvPr id="26" name="Shape 24"/>
          <p:cNvSpPr/>
          <p:nvPr/>
        </p:nvSpPr>
        <p:spPr>
          <a:xfrm>
            <a:off x="6217920" y="4215384"/>
            <a:ext cx="5394960" cy="786384"/>
          </a:xfrm>
          <a:prstGeom prst="roundRect">
            <a:avLst>
              <a:gd name="adj" fmla="val 5814"/>
            </a:avLst>
          </a:prstGeom>
          <a:solidFill>
            <a:srgbClr val="F8FAFC"/>
          </a:solidFill>
          <a:ln w="12700">
            <a:solidFill>
              <a:srgbClr val="E2E8F0"/>
            </a:solidFill>
            <a:prstDash val="solid"/>
          </a:ln>
        </p:spPr>
      </p:sp>
      <p:sp>
        <p:nvSpPr>
          <p:cNvPr id="27" name="Text 25"/>
          <p:cNvSpPr/>
          <p:nvPr/>
        </p:nvSpPr>
        <p:spPr>
          <a:xfrm>
            <a:off x="6446520" y="4306824"/>
            <a:ext cx="4937760" cy="292608"/>
          </a:xfrm>
          <a:prstGeom prst="rect">
            <a:avLst/>
          </a:prstGeom>
          <a:noFill/>
          <a:ln/>
        </p:spPr>
        <p:txBody>
          <a:bodyPr wrap="square" lIns="0" tIns="0" rIns="0" bIns="0" rtlCol="0" anchor="ctr"/>
          <a:lstStyle/>
          <a:p>
            <a:pPr indent="0" marL="0">
              <a:buNone/>
            </a:pPr>
            <a:r>
              <a:rPr lang="en-US" sz="1250" b="1" dirty="0">
                <a:solidFill>
                  <a:srgbClr val="4F46E5"/>
                </a:solidFill>
                <a:latin typeface="Calibri" pitchFamily="34" charset="0"/>
                <a:ea typeface="Calibri" pitchFamily="34" charset="-122"/>
                <a:cs typeface="Calibri" pitchFamily="34" charset="-120"/>
              </a:rPr>
              <a:t>Errors</a:t>
            </a:r>
            <a:endParaRPr lang="en-US" sz="1250" dirty="0"/>
          </a:p>
        </p:txBody>
      </p:sp>
      <p:sp>
        <p:nvSpPr>
          <p:cNvPr id="28" name="Text 26"/>
          <p:cNvSpPr/>
          <p:nvPr/>
        </p:nvSpPr>
        <p:spPr>
          <a:xfrm>
            <a:off x="6446520" y="4599432"/>
            <a:ext cx="4937760" cy="365760"/>
          </a:xfrm>
          <a:prstGeom prst="rect">
            <a:avLst/>
          </a:prstGeom>
          <a:noFill/>
          <a:ln/>
        </p:spPr>
        <p:txBody>
          <a:bodyPr wrap="square" lIns="0" tIns="0" rIns="0" bIns="0" rtlCol="0" anchor="ctr"/>
          <a:lstStyle/>
          <a:p>
            <a:pPr indent="0" marL="0">
              <a:lnSpc>
                <a:spcPct val="100000"/>
              </a:lnSpc>
              <a:buNone/>
            </a:pPr>
            <a:r>
              <a:rPr lang="en-US" sz="1100" dirty="0">
                <a:solidFill>
                  <a:srgbClr val="1E293B"/>
                </a:solidFill>
                <a:latin typeface="Calibri" pitchFamily="34" charset="0"/>
                <a:ea typeface="Calibri" pitchFamily="34" charset="-122"/>
                <a:cs typeface="Calibri" pitchFamily="34" charset="-120"/>
              </a:rPr>
              <a:t>Structured context &gt; generic 'failed'; is_error to recover.</a:t>
            </a:r>
            <a:endParaRPr lang="en-US" sz="1100" dirty="0"/>
          </a:p>
        </p:txBody>
      </p:sp>
      <p:sp>
        <p:nvSpPr>
          <p:cNvPr id="29" name="Shape 27"/>
          <p:cNvSpPr/>
          <p:nvPr/>
        </p:nvSpPr>
        <p:spPr>
          <a:xfrm>
            <a:off x="548640" y="5148072"/>
            <a:ext cx="5394960" cy="786384"/>
          </a:xfrm>
          <a:prstGeom prst="roundRect">
            <a:avLst>
              <a:gd name="adj" fmla="val 5814"/>
            </a:avLst>
          </a:prstGeom>
          <a:solidFill>
            <a:srgbClr val="FFFFFF"/>
          </a:solidFill>
          <a:ln w="12700">
            <a:solidFill>
              <a:srgbClr val="E2E8F0"/>
            </a:solidFill>
            <a:prstDash val="solid"/>
          </a:ln>
        </p:spPr>
      </p:sp>
      <p:sp>
        <p:nvSpPr>
          <p:cNvPr id="30" name="Text 28"/>
          <p:cNvSpPr/>
          <p:nvPr/>
        </p:nvSpPr>
        <p:spPr>
          <a:xfrm>
            <a:off x="777240" y="5239512"/>
            <a:ext cx="4937760" cy="292608"/>
          </a:xfrm>
          <a:prstGeom prst="rect">
            <a:avLst/>
          </a:prstGeom>
          <a:noFill/>
          <a:ln/>
        </p:spPr>
        <p:txBody>
          <a:bodyPr wrap="square" lIns="0" tIns="0" rIns="0" bIns="0" rtlCol="0" anchor="ctr"/>
          <a:lstStyle/>
          <a:p>
            <a:pPr indent="0" marL="0">
              <a:buNone/>
            </a:pPr>
            <a:r>
              <a:rPr lang="en-US" sz="1250" b="1" dirty="0">
                <a:solidFill>
                  <a:srgbClr val="4F46E5"/>
                </a:solidFill>
                <a:latin typeface="Calibri" pitchFamily="34" charset="0"/>
                <a:ea typeface="Calibri" pitchFamily="34" charset="-122"/>
                <a:cs typeface="Calibri" pitchFamily="34" charset="-120"/>
              </a:rPr>
              <a:t>Production</a:t>
            </a:r>
            <a:endParaRPr lang="en-US" sz="1250" dirty="0"/>
          </a:p>
        </p:txBody>
      </p:sp>
      <p:sp>
        <p:nvSpPr>
          <p:cNvPr id="31" name="Text 29"/>
          <p:cNvSpPr/>
          <p:nvPr/>
        </p:nvSpPr>
        <p:spPr>
          <a:xfrm>
            <a:off x="777240" y="5532120"/>
            <a:ext cx="4937760" cy="365760"/>
          </a:xfrm>
          <a:prstGeom prst="rect">
            <a:avLst/>
          </a:prstGeom>
          <a:noFill/>
          <a:ln/>
        </p:spPr>
        <p:txBody>
          <a:bodyPr wrap="square" lIns="0" tIns="0" rIns="0" bIns="0" rtlCol="0" anchor="ctr"/>
          <a:lstStyle/>
          <a:p>
            <a:pPr indent="0" marL="0">
              <a:lnSpc>
                <a:spcPct val="100000"/>
              </a:lnSpc>
              <a:buNone/>
            </a:pPr>
            <a:r>
              <a:rPr lang="en-US" sz="1100" dirty="0">
                <a:solidFill>
                  <a:srgbClr val="1E293B"/>
                </a:solidFill>
                <a:latin typeface="Calibri" pitchFamily="34" charset="0"/>
                <a:ea typeface="Calibri" pitchFamily="34" charset="-122"/>
                <a:cs typeface="Calibri" pitchFamily="34" charset="-120"/>
              </a:rPr>
              <a:t>Set max_budget_usd; check ResultMessage subtype.</a:t>
            </a:r>
            <a:endParaRPr lang="en-US" sz="1100" dirty="0"/>
          </a:p>
        </p:txBody>
      </p:sp>
      <p:sp>
        <p:nvSpPr>
          <p:cNvPr id="32" name="Shape 30"/>
          <p:cNvSpPr/>
          <p:nvPr/>
        </p:nvSpPr>
        <p:spPr>
          <a:xfrm>
            <a:off x="6217920" y="5148072"/>
            <a:ext cx="5394960" cy="786384"/>
          </a:xfrm>
          <a:prstGeom prst="roundRect">
            <a:avLst>
              <a:gd name="adj" fmla="val 5814"/>
            </a:avLst>
          </a:prstGeom>
          <a:solidFill>
            <a:srgbClr val="F8FAFC"/>
          </a:solidFill>
          <a:ln w="12700">
            <a:solidFill>
              <a:srgbClr val="E2E8F0"/>
            </a:solidFill>
            <a:prstDash val="solid"/>
          </a:ln>
        </p:spPr>
      </p:sp>
      <p:sp>
        <p:nvSpPr>
          <p:cNvPr id="33" name="Text 31"/>
          <p:cNvSpPr/>
          <p:nvPr/>
        </p:nvSpPr>
        <p:spPr>
          <a:xfrm>
            <a:off x="6446520" y="5239512"/>
            <a:ext cx="4937760" cy="292608"/>
          </a:xfrm>
          <a:prstGeom prst="rect">
            <a:avLst/>
          </a:prstGeom>
          <a:noFill/>
          <a:ln/>
        </p:spPr>
        <p:txBody>
          <a:bodyPr wrap="square" lIns="0" tIns="0" rIns="0" bIns="0" rtlCol="0" anchor="ctr"/>
          <a:lstStyle/>
          <a:p>
            <a:pPr indent="0" marL="0">
              <a:buNone/>
            </a:pPr>
            <a:r>
              <a:rPr lang="en-US" sz="1250" b="1" dirty="0">
                <a:solidFill>
                  <a:srgbClr val="4F46E5"/>
                </a:solidFill>
                <a:latin typeface="Calibri" pitchFamily="34" charset="0"/>
                <a:ea typeface="Calibri" pitchFamily="34" charset="-122"/>
                <a:cs typeface="Calibri" pitchFamily="34" charset="-120"/>
              </a:rPr>
              <a:t>Continuity</a:t>
            </a:r>
            <a:endParaRPr lang="en-US" sz="1250" dirty="0"/>
          </a:p>
        </p:txBody>
      </p:sp>
      <p:sp>
        <p:nvSpPr>
          <p:cNvPr id="34" name="Text 32"/>
          <p:cNvSpPr/>
          <p:nvPr/>
        </p:nvSpPr>
        <p:spPr>
          <a:xfrm>
            <a:off x="6446520" y="5532120"/>
            <a:ext cx="4937760" cy="365760"/>
          </a:xfrm>
          <a:prstGeom prst="rect">
            <a:avLst/>
          </a:prstGeom>
          <a:noFill/>
          <a:ln/>
        </p:spPr>
        <p:txBody>
          <a:bodyPr wrap="square" lIns="0" tIns="0" rIns="0" bIns="0" rtlCol="0" anchor="ctr"/>
          <a:lstStyle/>
          <a:p>
            <a:pPr indent="0" marL="0">
              <a:lnSpc>
                <a:spcPct val="100000"/>
              </a:lnSpc>
              <a:buNone/>
            </a:pPr>
            <a:r>
              <a:rPr lang="en-US" sz="1100" dirty="0">
                <a:solidFill>
                  <a:srgbClr val="1E293B"/>
                </a:solidFill>
                <a:latin typeface="Calibri" pitchFamily="34" charset="0"/>
                <a:ea typeface="Calibri" pitchFamily="34" charset="-122"/>
                <a:cs typeface="Calibri" pitchFamily="34" charset="-120"/>
              </a:rPr>
              <a:t>Stale results → fresh session + summary, not resume.</a:t>
            </a:r>
            <a:endParaRPr lang="en-US" sz="1100" dirty="0"/>
          </a:p>
        </p:txBody>
      </p:sp>
      <p:sp>
        <p:nvSpPr>
          <p:cNvPr id="35" name="Text 33"/>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36" name="Text 34"/>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37" name="Text 35"/>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548640" y="310896"/>
            <a:ext cx="6858000" cy="274320"/>
          </a:xfrm>
          <a:prstGeom prst="rect">
            <a:avLst/>
          </a:prstGeom>
          <a:noFill/>
          <a:ln/>
        </p:spPr>
        <p:txBody>
          <a:bodyPr wrap="square" lIns="0" tIns="0" rIns="0" bIns="0" rtlCol="0" anchor="ctr"/>
          <a:lstStyle/>
          <a:p>
            <a:pPr indent="0" marL="0">
              <a:buNone/>
            </a:pPr>
            <a:r>
              <a:rPr lang="en-US" sz="1200" b="1" spc="200" kern="0" dirty="0">
                <a:solidFill>
                  <a:srgbClr val="4F46E5"/>
                </a:solidFill>
                <a:latin typeface="Calibri" pitchFamily="34" charset="0"/>
                <a:ea typeface="Calibri" pitchFamily="34" charset="-122"/>
                <a:cs typeface="Calibri" pitchFamily="34" charset="-120"/>
              </a:rPr>
              <a:t>PRACTICE</a:t>
            </a:r>
            <a:endParaRPr lang="en-US" sz="1200" dirty="0"/>
          </a:p>
        </p:txBody>
      </p:sp>
      <p:sp>
        <p:nvSpPr>
          <p:cNvPr id="3" name="Text 1"/>
          <p:cNvSpPr/>
          <p:nvPr/>
        </p:nvSpPr>
        <p:spPr>
          <a:xfrm>
            <a:off x="548640" y="548640"/>
            <a:ext cx="11064240" cy="731520"/>
          </a:xfrm>
          <a:prstGeom prst="rect">
            <a:avLst/>
          </a:prstGeom>
          <a:noFill/>
          <a:ln/>
        </p:spPr>
        <p:txBody>
          <a:bodyPr wrap="square" lIns="0" tIns="0" rIns="0" bIns="0" rtlCol="0" anchor="ctr"/>
          <a:lstStyle/>
          <a:p>
            <a:pPr indent="0" marL="0">
              <a:buNone/>
            </a:pPr>
            <a:r>
              <a:rPr lang="en-US" sz="2900" b="1" dirty="0">
                <a:solidFill>
                  <a:srgbClr val="12132E"/>
                </a:solidFill>
                <a:latin typeface="Cambria" pitchFamily="34" charset="0"/>
                <a:ea typeface="Cambria" pitchFamily="34" charset="-122"/>
                <a:cs typeface="Cambria" pitchFamily="34" charset="-120"/>
              </a:rPr>
              <a:t>Hands-on lab — code walkthrough files</a:t>
            </a:r>
            <a:endParaRPr lang="en-US" sz="2900" dirty="0"/>
          </a:p>
        </p:txBody>
      </p:sp>
      <p:sp>
        <p:nvSpPr>
          <p:cNvPr id="4" name="Text 2"/>
          <p:cNvSpPr/>
          <p:nvPr/>
        </p:nvSpPr>
        <p:spPr>
          <a:xfrm>
            <a:off x="6583680" y="338328"/>
            <a:ext cx="5029200" cy="274320"/>
          </a:xfrm>
          <a:prstGeom prst="rect">
            <a:avLst/>
          </a:prstGeom>
          <a:noFill/>
          <a:ln/>
        </p:spPr>
        <p:txBody>
          <a:bodyPr wrap="square" lIns="0" tIns="0" rIns="0" bIns="0" rtlCol="0" anchor="ctr"/>
          <a:lstStyle/>
          <a:p>
            <a:pPr algn="r" indent="0" marL="0">
              <a:buNone/>
            </a:pPr>
            <a:r>
              <a:rPr lang="en-US" sz="1050" i="1" dirty="0">
                <a:solidFill>
                  <a:srgbClr val="64748B"/>
                </a:solidFill>
                <a:latin typeface="Calibri" pitchFamily="34" charset="0"/>
                <a:ea typeface="Calibri" pitchFamily="34" charset="-122"/>
                <a:cs typeface="Calibri" pitchFamily="34" charset="-120"/>
              </a:rPr>
              <a:t>↗ Topic1 folder · /code</a:t>
            </a:r>
            <a:endParaRPr lang="en-US" sz="1050" dirty="0"/>
          </a:p>
        </p:txBody>
      </p:sp>
      <p:sp>
        <p:nvSpPr>
          <p:cNvPr id="5" name="Shape 3"/>
          <p:cNvSpPr/>
          <p:nvPr/>
        </p:nvSpPr>
        <p:spPr>
          <a:xfrm>
            <a:off x="548640" y="1463040"/>
            <a:ext cx="3456432" cy="1371600"/>
          </a:xfrm>
          <a:prstGeom prst="roundRect">
            <a:avLst>
              <a:gd name="adj" fmla="val 4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6" name="Shape 4"/>
          <p:cNvSpPr/>
          <p:nvPr/>
        </p:nvSpPr>
        <p:spPr>
          <a:xfrm>
            <a:off x="777240" y="1700784"/>
            <a:ext cx="640080" cy="640080"/>
          </a:xfrm>
          <a:prstGeom prst="ellipse">
            <a:avLst/>
          </a:prstGeom>
          <a:solidFill>
            <a:srgbClr val="4F46E5"/>
          </a:solidFill>
          <a:ln/>
          <a:effectLst>
            <a:outerShdw sx="100000" sy="100000" kx="0" ky="0" algn="bl" rotWithShape="0" blurRad="88900" dist="38100" dir="5400000">
              <a:srgbClr val="000000">
                <a:alpha val="16000"/>
              </a:srgbClr>
            </a:outerShdw>
          </a:effectLst>
        </p:spPr>
      </p:sp>
      <p:pic>
        <p:nvPicPr>
          <p:cNvPr id="7" name="Image 0" descr="preencoded.png">    </p:cNvPr>
          <p:cNvPicPr>
            <a:picLocks noChangeAspect="1"/>
          </p:cNvPicPr>
          <p:nvPr/>
        </p:nvPicPr>
        <p:blipFill>
          <a:blip r:embed="rId1"/>
          <a:stretch>
            <a:fillRect/>
          </a:stretch>
        </p:blipFill>
        <p:spPr>
          <a:xfrm>
            <a:off x="943661" y="1867205"/>
            <a:ext cx="307238" cy="307238"/>
          </a:xfrm>
          <a:prstGeom prst="rect">
            <a:avLst/>
          </a:prstGeom>
        </p:spPr>
      </p:pic>
      <p:sp>
        <p:nvSpPr>
          <p:cNvPr id="8" name="Text 5"/>
          <p:cNvSpPr/>
          <p:nvPr/>
        </p:nvSpPr>
        <p:spPr>
          <a:xfrm>
            <a:off x="1554480" y="1682496"/>
            <a:ext cx="2313432" cy="502920"/>
          </a:xfrm>
          <a:prstGeom prst="rect">
            <a:avLst/>
          </a:prstGeom>
          <a:noFill/>
          <a:ln/>
        </p:spPr>
        <p:txBody>
          <a:bodyPr wrap="square" lIns="0" tIns="0" rIns="0" bIns="0" rtlCol="0" anchor="ctr"/>
          <a:lstStyle/>
          <a:p>
            <a:pPr indent="0" marL="0">
              <a:lnSpc>
                <a:spcPct val="95000"/>
              </a:lnSpc>
              <a:buNone/>
            </a:pPr>
            <a:r>
              <a:rPr lang="en-US" sz="1050" b="1" dirty="0">
                <a:solidFill>
                  <a:srgbClr val="12132E"/>
                </a:solidFill>
                <a:latin typeface="Courier New" pitchFamily="34" charset="0"/>
                <a:ea typeface="Courier New" pitchFamily="34" charset="-122"/>
                <a:cs typeface="Courier New" pitchFamily="34" charset="-120"/>
              </a:rPr>
              <a:t>01_agentic_loop_raw_api.py</a:t>
            </a:r>
            <a:endParaRPr lang="en-US" sz="1050" dirty="0"/>
          </a:p>
        </p:txBody>
      </p:sp>
      <p:sp>
        <p:nvSpPr>
          <p:cNvPr id="9" name="Text 6"/>
          <p:cNvSpPr/>
          <p:nvPr/>
        </p:nvSpPr>
        <p:spPr>
          <a:xfrm>
            <a:off x="1554480" y="2194560"/>
            <a:ext cx="2313432" cy="502920"/>
          </a:xfrm>
          <a:prstGeom prst="rect">
            <a:avLst/>
          </a:prstGeom>
          <a:noFill/>
          <a:ln/>
        </p:spPr>
        <p:txBody>
          <a:bodyPr wrap="square" lIns="0" tIns="0" rIns="0" bIns="0" rtlCol="0" anchor="ctr"/>
          <a:lstStyle/>
          <a:p>
            <a:pPr indent="0" marL="0">
              <a:lnSpc>
                <a:spcPct val="100000"/>
              </a:lnSpc>
              <a:buNone/>
            </a:pPr>
            <a:r>
              <a:rPr lang="en-US" sz="1050" dirty="0">
                <a:solidFill>
                  <a:srgbClr val="64748B"/>
                </a:solidFill>
                <a:latin typeface="Calibri" pitchFamily="34" charset="0"/>
                <a:ea typeface="Calibri" pitchFamily="34" charset="-122"/>
                <a:cs typeface="Calibri" pitchFamily="34" charset="-120"/>
              </a:rPr>
              <a:t>Bare-metal loop on stop_reason.</a:t>
            </a:r>
            <a:endParaRPr lang="en-US" sz="1050" dirty="0"/>
          </a:p>
        </p:txBody>
      </p:sp>
      <p:sp>
        <p:nvSpPr>
          <p:cNvPr id="10" name="Shape 7"/>
          <p:cNvSpPr/>
          <p:nvPr/>
        </p:nvSpPr>
        <p:spPr>
          <a:xfrm>
            <a:off x="4389120" y="1463040"/>
            <a:ext cx="3456432" cy="1371600"/>
          </a:xfrm>
          <a:prstGeom prst="roundRect">
            <a:avLst>
              <a:gd name="adj" fmla="val 4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1" name="Shape 8"/>
          <p:cNvSpPr/>
          <p:nvPr/>
        </p:nvSpPr>
        <p:spPr>
          <a:xfrm>
            <a:off x="4617720" y="1700784"/>
            <a:ext cx="640080" cy="640080"/>
          </a:xfrm>
          <a:prstGeom prst="ellipse">
            <a:avLst/>
          </a:prstGeom>
          <a:solidFill>
            <a:srgbClr val="14B8A6"/>
          </a:solidFill>
          <a:ln/>
          <a:effectLst>
            <a:outerShdw sx="100000" sy="100000" kx="0" ky="0" algn="bl" rotWithShape="0" blurRad="88900" dist="38100" dir="5400000">
              <a:srgbClr val="000000">
                <a:alpha val="16000"/>
              </a:srgbClr>
            </a:outerShdw>
          </a:effectLst>
        </p:spPr>
      </p:sp>
      <p:pic>
        <p:nvPicPr>
          <p:cNvPr id="12" name="Image 1" descr="preencoded.png">    </p:cNvPr>
          <p:cNvPicPr>
            <a:picLocks noChangeAspect="1"/>
          </p:cNvPicPr>
          <p:nvPr/>
        </p:nvPicPr>
        <p:blipFill>
          <a:blip r:embed="rId2"/>
          <a:stretch>
            <a:fillRect/>
          </a:stretch>
        </p:blipFill>
        <p:spPr>
          <a:xfrm>
            <a:off x="4784141" y="1867205"/>
            <a:ext cx="307238" cy="307238"/>
          </a:xfrm>
          <a:prstGeom prst="rect">
            <a:avLst/>
          </a:prstGeom>
        </p:spPr>
      </p:pic>
      <p:sp>
        <p:nvSpPr>
          <p:cNvPr id="13" name="Text 9"/>
          <p:cNvSpPr/>
          <p:nvPr/>
        </p:nvSpPr>
        <p:spPr>
          <a:xfrm>
            <a:off x="5394960" y="1682496"/>
            <a:ext cx="2313432" cy="502920"/>
          </a:xfrm>
          <a:prstGeom prst="rect">
            <a:avLst/>
          </a:prstGeom>
          <a:noFill/>
          <a:ln/>
        </p:spPr>
        <p:txBody>
          <a:bodyPr wrap="square" lIns="0" tIns="0" rIns="0" bIns="0" rtlCol="0" anchor="ctr"/>
          <a:lstStyle/>
          <a:p>
            <a:pPr indent="0" marL="0">
              <a:lnSpc>
                <a:spcPct val="95000"/>
              </a:lnSpc>
              <a:buNone/>
            </a:pPr>
            <a:r>
              <a:rPr lang="en-US" sz="1050" b="1" dirty="0">
                <a:solidFill>
                  <a:srgbClr val="12132E"/>
                </a:solidFill>
                <a:latin typeface="Courier New" pitchFamily="34" charset="0"/>
                <a:ea typeface="Courier New" pitchFamily="34" charset="-122"/>
                <a:cs typeface="Courier New" pitchFamily="34" charset="-120"/>
              </a:rPr>
              <a:t>02_custom_tools_sdk.py</a:t>
            </a:r>
            <a:endParaRPr lang="en-US" sz="1050" dirty="0"/>
          </a:p>
        </p:txBody>
      </p:sp>
      <p:sp>
        <p:nvSpPr>
          <p:cNvPr id="14" name="Text 10"/>
          <p:cNvSpPr/>
          <p:nvPr/>
        </p:nvSpPr>
        <p:spPr>
          <a:xfrm>
            <a:off x="5394960" y="2194560"/>
            <a:ext cx="2313432" cy="502920"/>
          </a:xfrm>
          <a:prstGeom prst="rect">
            <a:avLst/>
          </a:prstGeom>
          <a:noFill/>
          <a:ln/>
        </p:spPr>
        <p:txBody>
          <a:bodyPr wrap="square" lIns="0" tIns="0" rIns="0" bIns="0" rtlCol="0" anchor="ctr"/>
          <a:lstStyle/>
          <a:p>
            <a:pPr indent="0" marL="0">
              <a:lnSpc>
                <a:spcPct val="100000"/>
              </a:lnSpc>
              <a:buNone/>
            </a:pPr>
            <a:r>
              <a:rPr lang="en-US" sz="1050" dirty="0">
                <a:solidFill>
                  <a:srgbClr val="64748B"/>
                </a:solidFill>
                <a:latin typeface="Calibri" pitchFamily="34" charset="0"/>
                <a:ea typeface="Calibri" pitchFamily="34" charset="-122"/>
                <a:cs typeface="Calibri" pitchFamily="34" charset="-120"/>
              </a:rPr>
              <a:t>@tool + in-process MCP server.</a:t>
            </a:r>
            <a:endParaRPr lang="en-US" sz="1050" dirty="0"/>
          </a:p>
        </p:txBody>
      </p:sp>
      <p:sp>
        <p:nvSpPr>
          <p:cNvPr id="15" name="Shape 11"/>
          <p:cNvSpPr/>
          <p:nvPr/>
        </p:nvSpPr>
        <p:spPr>
          <a:xfrm>
            <a:off x="8229600" y="1463040"/>
            <a:ext cx="3456432" cy="1371600"/>
          </a:xfrm>
          <a:prstGeom prst="roundRect">
            <a:avLst>
              <a:gd name="adj" fmla="val 4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16" name="Shape 12"/>
          <p:cNvSpPr/>
          <p:nvPr/>
        </p:nvSpPr>
        <p:spPr>
          <a:xfrm>
            <a:off x="8458200" y="1700784"/>
            <a:ext cx="640080" cy="640080"/>
          </a:xfrm>
          <a:prstGeom prst="ellipse">
            <a:avLst/>
          </a:prstGeom>
          <a:solidFill>
            <a:srgbClr val="8B5CF6"/>
          </a:solidFill>
          <a:ln/>
          <a:effectLst>
            <a:outerShdw sx="100000" sy="100000" kx="0" ky="0" algn="bl" rotWithShape="0" blurRad="88900" dist="38100" dir="5400000">
              <a:srgbClr val="000000">
                <a:alpha val="16000"/>
              </a:srgbClr>
            </a:outerShdw>
          </a:effectLst>
        </p:spPr>
      </p:sp>
      <p:pic>
        <p:nvPicPr>
          <p:cNvPr id="17" name="Image 2" descr="preencoded.png">    </p:cNvPr>
          <p:cNvPicPr>
            <a:picLocks noChangeAspect="1"/>
          </p:cNvPicPr>
          <p:nvPr/>
        </p:nvPicPr>
        <p:blipFill>
          <a:blip r:embed="rId3"/>
          <a:stretch>
            <a:fillRect/>
          </a:stretch>
        </p:blipFill>
        <p:spPr>
          <a:xfrm>
            <a:off x="8624621" y="1867205"/>
            <a:ext cx="307238" cy="307238"/>
          </a:xfrm>
          <a:prstGeom prst="rect">
            <a:avLst/>
          </a:prstGeom>
        </p:spPr>
      </p:pic>
      <p:sp>
        <p:nvSpPr>
          <p:cNvPr id="18" name="Text 13"/>
          <p:cNvSpPr/>
          <p:nvPr/>
        </p:nvSpPr>
        <p:spPr>
          <a:xfrm>
            <a:off x="9235440" y="1682496"/>
            <a:ext cx="2313432" cy="502920"/>
          </a:xfrm>
          <a:prstGeom prst="rect">
            <a:avLst/>
          </a:prstGeom>
          <a:noFill/>
          <a:ln/>
        </p:spPr>
        <p:txBody>
          <a:bodyPr wrap="square" lIns="0" tIns="0" rIns="0" bIns="0" rtlCol="0" anchor="ctr"/>
          <a:lstStyle/>
          <a:p>
            <a:pPr indent="0" marL="0">
              <a:lnSpc>
                <a:spcPct val="95000"/>
              </a:lnSpc>
              <a:buNone/>
            </a:pPr>
            <a:r>
              <a:rPr lang="en-US" sz="1050" b="1" dirty="0">
                <a:solidFill>
                  <a:srgbClr val="12132E"/>
                </a:solidFill>
                <a:latin typeface="Courier New" pitchFamily="34" charset="0"/>
                <a:ea typeface="Courier New" pitchFamily="34" charset="-122"/>
                <a:cs typeface="Courier New" pitchFamily="34" charset="-120"/>
              </a:rPr>
              <a:t>03_coordinator_subagents.py</a:t>
            </a:r>
            <a:endParaRPr lang="en-US" sz="1050" dirty="0"/>
          </a:p>
        </p:txBody>
      </p:sp>
      <p:sp>
        <p:nvSpPr>
          <p:cNvPr id="19" name="Text 14"/>
          <p:cNvSpPr/>
          <p:nvPr/>
        </p:nvSpPr>
        <p:spPr>
          <a:xfrm>
            <a:off x="9235440" y="2194560"/>
            <a:ext cx="2313432" cy="502920"/>
          </a:xfrm>
          <a:prstGeom prst="rect">
            <a:avLst/>
          </a:prstGeom>
          <a:noFill/>
          <a:ln/>
        </p:spPr>
        <p:txBody>
          <a:bodyPr wrap="square" lIns="0" tIns="0" rIns="0" bIns="0" rtlCol="0" anchor="ctr"/>
          <a:lstStyle/>
          <a:p>
            <a:pPr indent="0" marL="0">
              <a:lnSpc>
                <a:spcPct val="100000"/>
              </a:lnSpc>
              <a:buNone/>
            </a:pPr>
            <a:r>
              <a:rPr lang="en-US" sz="1050" dirty="0">
                <a:solidFill>
                  <a:srgbClr val="64748B"/>
                </a:solidFill>
                <a:latin typeface="Calibri" pitchFamily="34" charset="0"/>
                <a:ea typeface="Calibri" pitchFamily="34" charset="-122"/>
                <a:cs typeface="Calibri" pitchFamily="34" charset="-120"/>
              </a:rPr>
              <a:t>Coordinator + scoped subagents.</a:t>
            </a:r>
            <a:endParaRPr lang="en-US" sz="1050" dirty="0"/>
          </a:p>
        </p:txBody>
      </p:sp>
      <p:sp>
        <p:nvSpPr>
          <p:cNvPr id="20" name="Shape 15"/>
          <p:cNvSpPr/>
          <p:nvPr/>
        </p:nvSpPr>
        <p:spPr>
          <a:xfrm>
            <a:off x="548640" y="3108960"/>
            <a:ext cx="3456432" cy="1371600"/>
          </a:xfrm>
          <a:prstGeom prst="roundRect">
            <a:avLst>
              <a:gd name="adj" fmla="val 4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21" name="Shape 16"/>
          <p:cNvSpPr/>
          <p:nvPr/>
        </p:nvSpPr>
        <p:spPr>
          <a:xfrm>
            <a:off x="777240" y="3346704"/>
            <a:ext cx="640080" cy="640080"/>
          </a:xfrm>
          <a:prstGeom prst="ellipse">
            <a:avLst/>
          </a:prstGeom>
          <a:solidFill>
            <a:srgbClr val="F43F5E"/>
          </a:solidFill>
          <a:ln/>
          <a:effectLst>
            <a:outerShdw sx="100000" sy="100000" kx="0" ky="0" algn="bl" rotWithShape="0" blurRad="88900" dist="38100" dir="5400000">
              <a:srgbClr val="000000">
                <a:alpha val="16000"/>
              </a:srgbClr>
            </a:outerShdw>
          </a:effectLst>
        </p:spPr>
      </p:sp>
      <p:pic>
        <p:nvPicPr>
          <p:cNvPr id="22" name="Image 3" descr="preencoded.png">    </p:cNvPr>
          <p:cNvPicPr>
            <a:picLocks noChangeAspect="1"/>
          </p:cNvPicPr>
          <p:nvPr/>
        </p:nvPicPr>
        <p:blipFill>
          <a:blip r:embed="rId4"/>
          <a:stretch>
            <a:fillRect/>
          </a:stretch>
        </p:blipFill>
        <p:spPr>
          <a:xfrm>
            <a:off x="943661" y="3513125"/>
            <a:ext cx="307238" cy="307238"/>
          </a:xfrm>
          <a:prstGeom prst="rect">
            <a:avLst/>
          </a:prstGeom>
        </p:spPr>
      </p:pic>
      <p:sp>
        <p:nvSpPr>
          <p:cNvPr id="23" name="Text 17"/>
          <p:cNvSpPr/>
          <p:nvPr/>
        </p:nvSpPr>
        <p:spPr>
          <a:xfrm>
            <a:off x="1554480" y="3328416"/>
            <a:ext cx="2313432" cy="502920"/>
          </a:xfrm>
          <a:prstGeom prst="rect">
            <a:avLst/>
          </a:prstGeom>
          <a:noFill/>
          <a:ln/>
        </p:spPr>
        <p:txBody>
          <a:bodyPr wrap="square" lIns="0" tIns="0" rIns="0" bIns="0" rtlCol="0" anchor="ctr"/>
          <a:lstStyle/>
          <a:p>
            <a:pPr indent="0" marL="0">
              <a:lnSpc>
                <a:spcPct val="95000"/>
              </a:lnSpc>
              <a:buNone/>
            </a:pPr>
            <a:r>
              <a:rPr lang="en-US" sz="1050" b="1" dirty="0">
                <a:solidFill>
                  <a:srgbClr val="12132E"/>
                </a:solidFill>
                <a:latin typeface="Courier New" pitchFamily="34" charset="0"/>
                <a:ea typeface="Courier New" pitchFamily="34" charset="-122"/>
                <a:cs typeface="Courier New" pitchFamily="34" charset="-120"/>
              </a:rPr>
              <a:t>04_lifecycle_hooks.py</a:t>
            </a:r>
            <a:endParaRPr lang="en-US" sz="1050" dirty="0"/>
          </a:p>
        </p:txBody>
      </p:sp>
      <p:sp>
        <p:nvSpPr>
          <p:cNvPr id="24" name="Text 18"/>
          <p:cNvSpPr/>
          <p:nvPr/>
        </p:nvSpPr>
        <p:spPr>
          <a:xfrm>
            <a:off x="1554480" y="3840480"/>
            <a:ext cx="2313432" cy="502920"/>
          </a:xfrm>
          <a:prstGeom prst="rect">
            <a:avLst/>
          </a:prstGeom>
          <a:noFill/>
          <a:ln/>
        </p:spPr>
        <p:txBody>
          <a:bodyPr wrap="square" lIns="0" tIns="0" rIns="0" bIns="0" rtlCol="0" anchor="ctr"/>
          <a:lstStyle/>
          <a:p>
            <a:pPr indent="0" marL="0">
              <a:lnSpc>
                <a:spcPct val="100000"/>
              </a:lnSpc>
              <a:buNone/>
            </a:pPr>
            <a:r>
              <a:rPr lang="en-US" sz="1050" dirty="0">
                <a:solidFill>
                  <a:srgbClr val="64748B"/>
                </a:solidFill>
                <a:latin typeface="Calibri" pitchFamily="34" charset="0"/>
                <a:ea typeface="Calibri" pitchFamily="34" charset="-122"/>
                <a:cs typeface="Calibri" pitchFamily="34" charset="-120"/>
              </a:rPr>
              <a:t>PreToolUse block + PostToolUse normalize.</a:t>
            </a:r>
            <a:endParaRPr lang="en-US" sz="1050" dirty="0"/>
          </a:p>
        </p:txBody>
      </p:sp>
      <p:sp>
        <p:nvSpPr>
          <p:cNvPr id="25" name="Shape 19"/>
          <p:cNvSpPr/>
          <p:nvPr/>
        </p:nvSpPr>
        <p:spPr>
          <a:xfrm>
            <a:off x="4389120" y="3108960"/>
            <a:ext cx="3456432" cy="1371600"/>
          </a:xfrm>
          <a:prstGeom prst="roundRect">
            <a:avLst>
              <a:gd name="adj" fmla="val 4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26" name="Shape 20"/>
          <p:cNvSpPr/>
          <p:nvPr/>
        </p:nvSpPr>
        <p:spPr>
          <a:xfrm>
            <a:off x="4617720" y="3346704"/>
            <a:ext cx="640080" cy="640080"/>
          </a:xfrm>
          <a:prstGeom prst="ellipse">
            <a:avLst/>
          </a:prstGeom>
          <a:solidFill>
            <a:srgbClr val="F59E0B"/>
          </a:solidFill>
          <a:ln/>
          <a:effectLst>
            <a:outerShdw sx="100000" sy="100000" kx="0" ky="0" algn="bl" rotWithShape="0" blurRad="88900" dist="38100" dir="5400000">
              <a:srgbClr val="000000">
                <a:alpha val="16000"/>
              </a:srgbClr>
            </a:outerShdw>
          </a:effectLst>
        </p:spPr>
      </p:sp>
      <p:pic>
        <p:nvPicPr>
          <p:cNvPr id="27" name="Image 4" descr="preencoded.png">    </p:cNvPr>
          <p:cNvPicPr>
            <a:picLocks noChangeAspect="1"/>
          </p:cNvPicPr>
          <p:nvPr/>
        </p:nvPicPr>
        <p:blipFill>
          <a:blip r:embed="rId5"/>
          <a:stretch>
            <a:fillRect/>
          </a:stretch>
        </p:blipFill>
        <p:spPr>
          <a:xfrm>
            <a:off x="4784141" y="3513125"/>
            <a:ext cx="307238" cy="307238"/>
          </a:xfrm>
          <a:prstGeom prst="rect">
            <a:avLst/>
          </a:prstGeom>
        </p:spPr>
      </p:pic>
      <p:sp>
        <p:nvSpPr>
          <p:cNvPr id="28" name="Text 21"/>
          <p:cNvSpPr/>
          <p:nvPr/>
        </p:nvSpPr>
        <p:spPr>
          <a:xfrm>
            <a:off x="5394960" y="3328416"/>
            <a:ext cx="2313432" cy="502920"/>
          </a:xfrm>
          <a:prstGeom prst="rect">
            <a:avLst/>
          </a:prstGeom>
          <a:noFill/>
          <a:ln/>
        </p:spPr>
        <p:txBody>
          <a:bodyPr wrap="square" lIns="0" tIns="0" rIns="0" bIns="0" rtlCol="0" anchor="ctr"/>
          <a:lstStyle/>
          <a:p>
            <a:pPr indent="0" marL="0">
              <a:lnSpc>
                <a:spcPct val="95000"/>
              </a:lnSpc>
              <a:buNone/>
            </a:pPr>
            <a:r>
              <a:rPr lang="en-US" sz="1050" b="1" dirty="0">
                <a:solidFill>
                  <a:srgbClr val="12132E"/>
                </a:solidFill>
                <a:latin typeface="Courier New" pitchFamily="34" charset="0"/>
                <a:ea typeface="Courier New" pitchFamily="34" charset="-122"/>
                <a:cs typeface="Courier New" pitchFamily="34" charset="-120"/>
              </a:rPr>
              <a:t>05_prerequisite_gate.py</a:t>
            </a:r>
            <a:endParaRPr lang="en-US" sz="1050" dirty="0"/>
          </a:p>
        </p:txBody>
      </p:sp>
      <p:sp>
        <p:nvSpPr>
          <p:cNvPr id="29" name="Text 22"/>
          <p:cNvSpPr/>
          <p:nvPr/>
        </p:nvSpPr>
        <p:spPr>
          <a:xfrm>
            <a:off x="5394960" y="3840480"/>
            <a:ext cx="2313432" cy="502920"/>
          </a:xfrm>
          <a:prstGeom prst="rect">
            <a:avLst/>
          </a:prstGeom>
          <a:noFill/>
          <a:ln/>
        </p:spPr>
        <p:txBody>
          <a:bodyPr wrap="square" lIns="0" tIns="0" rIns="0" bIns="0" rtlCol="0" anchor="ctr"/>
          <a:lstStyle/>
          <a:p>
            <a:pPr indent="0" marL="0">
              <a:lnSpc>
                <a:spcPct val="100000"/>
              </a:lnSpc>
              <a:buNone/>
            </a:pPr>
            <a:r>
              <a:rPr lang="en-US" sz="1050" dirty="0">
                <a:solidFill>
                  <a:srgbClr val="64748B"/>
                </a:solidFill>
                <a:latin typeface="Calibri" pitchFamily="34" charset="0"/>
                <a:ea typeface="Calibri" pitchFamily="34" charset="-122"/>
                <a:cs typeface="Calibri" pitchFamily="34" charset="-120"/>
              </a:rPr>
              <a:t>Deterministic verify-before-refund gate.</a:t>
            </a:r>
            <a:endParaRPr lang="en-US" sz="1050" dirty="0"/>
          </a:p>
        </p:txBody>
      </p:sp>
      <p:sp>
        <p:nvSpPr>
          <p:cNvPr id="30" name="Shape 23"/>
          <p:cNvSpPr/>
          <p:nvPr/>
        </p:nvSpPr>
        <p:spPr>
          <a:xfrm>
            <a:off x="8229600" y="3108960"/>
            <a:ext cx="3456432" cy="1371600"/>
          </a:xfrm>
          <a:prstGeom prst="roundRect">
            <a:avLst>
              <a:gd name="adj" fmla="val 4000"/>
            </a:avLst>
          </a:prstGeom>
          <a:solidFill>
            <a:srgbClr val="FFFFFF"/>
          </a:solidFill>
          <a:ln w="12700">
            <a:solidFill>
              <a:srgbClr val="E2E8F0"/>
            </a:solidFill>
            <a:prstDash val="solid"/>
          </a:ln>
          <a:effectLst>
            <a:outerShdw sx="100000" sy="100000" kx="0" ky="0" algn="bl" rotWithShape="0" blurRad="88900" dist="38100" dir="5400000">
              <a:srgbClr val="000000">
                <a:alpha val="16000"/>
              </a:srgbClr>
            </a:outerShdw>
          </a:effectLst>
        </p:spPr>
      </p:sp>
      <p:sp>
        <p:nvSpPr>
          <p:cNvPr id="31" name="Shape 24"/>
          <p:cNvSpPr/>
          <p:nvPr/>
        </p:nvSpPr>
        <p:spPr>
          <a:xfrm>
            <a:off x="8458200" y="3346704"/>
            <a:ext cx="640080" cy="640080"/>
          </a:xfrm>
          <a:prstGeom prst="ellipse">
            <a:avLst/>
          </a:prstGeom>
          <a:solidFill>
            <a:srgbClr val="6366F1"/>
          </a:solidFill>
          <a:ln/>
          <a:effectLst>
            <a:outerShdw sx="100000" sy="100000" kx="0" ky="0" algn="bl" rotWithShape="0" blurRad="88900" dist="38100" dir="5400000">
              <a:srgbClr val="000000">
                <a:alpha val="16000"/>
              </a:srgbClr>
            </a:outerShdw>
          </a:effectLst>
        </p:spPr>
      </p:sp>
      <p:pic>
        <p:nvPicPr>
          <p:cNvPr id="32" name="Image 5" descr="preencoded.png">    </p:cNvPr>
          <p:cNvPicPr>
            <a:picLocks noChangeAspect="1"/>
          </p:cNvPicPr>
          <p:nvPr/>
        </p:nvPicPr>
        <p:blipFill>
          <a:blip r:embed="rId6"/>
          <a:stretch>
            <a:fillRect/>
          </a:stretch>
        </p:blipFill>
        <p:spPr>
          <a:xfrm>
            <a:off x="8624621" y="3513125"/>
            <a:ext cx="307238" cy="307238"/>
          </a:xfrm>
          <a:prstGeom prst="rect">
            <a:avLst/>
          </a:prstGeom>
        </p:spPr>
      </p:pic>
      <p:sp>
        <p:nvSpPr>
          <p:cNvPr id="33" name="Text 25"/>
          <p:cNvSpPr/>
          <p:nvPr/>
        </p:nvSpPr>
        <p:spPr>
          <a:xfrm>
            <a:off x="9235440" y="3328416"/>
            <a:ext cx="2313432" cy="502920"/>
          </a:xfrm>
          <a:prstGeom prst="rect">
            <a:avLst/>
          </a:prstGeom>
          <a:noFill/>
          <a:ln/>
        </p:spPr>
        <p:txBody>
          <a:bodyPr wrap="square" lIns="0" tIns="0" rIns="0" bIns="0" rtlCol="0" anchor="ctr"/>
          <a:lstStyle/>
          <a:p>
            <a:pPr indent="0" marL="0">
              <a:lnSpc>
                <a:spcPct val="95000"/>
              </a:lnSpc>
              <a:buNone/>
            </a:pPr>
            <a:r>
              <a:rPr lang="en-US" sz="1050" b="1" dirty="0">
                <a:solidFill>
                  <a:srgbClr val="12132E"/>
                </a:solidFill>
                <a:latin typeface="Courier New" pitchFamily="34" charset="0"/>
                <a:ea typeface="Courier New" pitchFamily="34" charset="-122"/>
                <a:cs typeface="Courier New" pitchFamily="34" charset="-120"/>
              </a:rPr>
              <a:t>Agent_SDK_Walkthrough.ipynb</a:t>
            </a:r>
            <a:endParaRPr lang="en-US" sz="1050" dirty="0"/>
          </a:p>
        </p:txBody>
      </p:sp>
      <p:sp>
        <p:nvSpPr>
          <p:cNvPr id="34" name="Text 26"/>
          <p:cNvSpPr/>
          <p:nvPr/>
        </p:nvSpPr>
        <p:spPr>
          <a:xfrm>
            <a:off x="9235440" y="3840480"/>
            <a:ext cx="2313432" cy="502920"/>
          </a:xfrm>
          <a:prstGeom prst="rect">
            <a:avLst/>
          </a:prstGeom>
          <a:noFill/>
          <a:ln/>
        </p:spPr>
        <p:txBody>
          <a:bodyPr wrap="square" lIns="0" tIns="0" rIns="0" bIns="0" rtlCol="0" anchor="ctr"/>
          <a:lstStyle/>
          <a:p>
            <a:pPr indent="0" marL="0">
              <a:lnSpc>
                <a:spcPct val="100000"/>
              </a:lnSpc>
              <a:buNone/>
            </a:pPr>
            <a:r>
              <a:rPr lang="en-US" sz="1050" dirty="0">
                <a:solidFill>
                  <a:srgbClr val="64748B"/>
                </a:solidFill>
                <a:latin typeface="Calibri" pitchFamily="34" charset="0"/>
                <a:ea typeface="Calibri" pitchFamily="34" charset="-122"/>
                <a:cs typeface="Calibri" pitchFamily="34" charset="-120"/>
              </a:rPr>
              <a:t>Colab notebook — run all five live.</a:t>
            </a:r>
            <a:endParaRPr lang="en-US" sz="1050" dirty="0"/>
          </a:p>
        </p:txBody>
      </p:sp>
      <p:sp>
        <p:nvSpPr>
          <p:cNvPr id="35" name="Shape 27"/>
          <p:cNvSpPr/>
          <p:nvPr/>
        </p:nvSpPr>
        <p:spPr>
          <a:xfrm>
            <a:off x="548640" y="5029200"/>
            <a:ext cx="11064240" cy="731520"/>
          </a:xfrm>
          <a:prstGeom prst="roundRect">
            <a:avLst>
              <a:gd name="adj" fmla="val 7500"/>
            </a:avLst>
          </a:prstGeom>
          <a:solidFill>
            <a:srgbClr val="F1F3FB"/>
          </a:solidFill>
          <a:ln/>
        </p:spPr>
      </p:sp>
      <p:sp>
        <p:nvSpPr>
          <p:cNvPr id="36" name="Text 28"/>
          <p:cNvSpPr/>
          <p:nvPr/>
        </p:nvSpPr>
        <p:spPr>
          <a:xfrm>
            <a:off x="822960" y="5120640"/>
            <a:ext cx="10515600" cy="548640"/>
          </a:xfrm>
          <a:prstGeom prst="rect">
            <a:avLst/>
          </a:prstGeom>
          <a:noFill/>
          <a:ln/>
        </p:spPr>
        <p:txBody>
          <a:bodyPr wrap="square" lIns="0" tIns="0" rIns="0" bIns="0" rtlCol="0" anchor="ctr"/>
          <a:lstStyle/>
          <a:p>
            <a:pPr indent="0" marL="0">
              <a:buNone/>
            </a:pPr>
            <a:r>
              <a:rPr lang="en-US" sz="1250" b="1" dirty="0">
                <a:solidFill>
                  <a:srgbClr val="4F46E5"/>
                </a:solidFill>
                <a:latin typeface="Calibri" pitchFamily="34" charset="0"/>
                <a:ea typeface="Calibri" pitchFamily="34" charset="-122"/>
                <a:cs typeface="Calibri" pitchFamily="34" charset="-120"/>
              </a:rPr>
              <a:t>Try it:  </a:t>
            </a:r>
            <a:pPr indent="0" marL="0">
              <a:buNone/>
            </a:pPr>
            <a:r>
              <a:rPr lang="en-US" sz="1250" dirty="0">
                <a:solidFill>
                  <a:srgbClr val="12132E"/>
                </a:solidFill>
                <a:latin typeface="Courier New" pitchFamily="34" charset="0"/>
                <a:ea typeface="Courier New" pitchFamily="34" charset="-122"/>
                <a:cs typeface="Courier New" pitchFamily="34" charset="-120"/>
              </a:rPr>
              <a:t>pip install anthropic claude-agent-sdk</a:t>
            </a:r>
            <a:pPr indent="0" marL="0">
              <a:buNone/>
            </a:pPr>
            <a:r>
              <a:rPr lang="en-US" sz="1250" dirty="0">
                <a:solidFill>
                  <a:srgbClr val="1E293B"/>
                </a:solidFill>
                <a:latin typeface="Calibri" pitchFamily="34" charset="0"/>
                <a:ea typeface="Calibri" pitchFamily="34" charset="-122"/>
                <a:cs typeface="Calibri" pitchFamily="34" charset="-120"/>
              </a:rPr>
              <a:t>  ·  set ANTHROPIC_API_KEY  ·  then run each file or open the notebook in Colab. Pair with the 15-question MCQ set.</a:t>
            </a:r>
            <a:endParaRPr lang="en-US" sz="1250" dirty="0"/>
          </a:p>
        </p:txBody>
      </p:sp>
      <p:sp>
        <p:nvSpPr>
          <p:cNvPr id="37" name="Text 29"/>
          <p:cNvSpPr/>
          <p:nvPr/>
        </p:nvSpPr>
        <p:spPr>
          <a:xfrm>
            <a:off x="548640" y="6519672"/>
            <a:ext cx="731520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Domain 1 · Agentic Architecture &amp; Orchestration</a:t>
            </a:r>
            <a:endParaRPr lang="en-US" sz="900" dirty="0"/>
          </a:p>
        </p:txBody>
      </p:sp>
      <p:sp>
        <p:nvSpPr>
          <p:cNvPr id="38" name="Text 30"/>
          <p:cNvSpPr/>
          <p:nvPr/>
        </p:nvSpPr>
        <p:spPr>
          <a:xfrm>
            <a:off x="7315200" y="6519672"/>
            <a:ext cx="36576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Claude Certified Architect — Foundations</a:t>
            </a:r>
            <a:endParaRPr lang="en-US" sz="900" dirty="0"/>
          </a:p>
        </p:txBody>
      </p:sp>
      <p:sp>
        <p:nvSpPr>
          <p:cNvPr id="39" name="Text 31"/>
          <p:cNvSpPr/>
          <p:nvPr/>
        </p:nvSpPr>
        <p:spPr>
          <a:xfrm>
            <a:off x="11384280" y="6519672"/>
            <a:ext cx="41148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2132E"/>
        </a:solidFill>
      </p:bgPr>
    </p:bg>
    <p:spTree>
      <p:nvGrpSpPr>
        <p:cNvPr id="1" name=""/>
        <p:cNvGrpSpPr/>
        <p:nvPr/>
      </p:nvGrpSpPr>
      <p:grpSpPr>
        <a:xfrm>
          <a:off x="0" y="0"/>
          <a:ext cx="0" cy="0"/>
          <a:chOff x="0" y="0"/>
          <a:chExt cx="0" cy="0"/>
        </a:xfrm>
      </p:grpSpPr>
      <p:sp>
        <p:nvSpPr>
          <p:cNvPr id="2" name="Shape 0"/>
          <p:cNvSpPr/>
          <p:nvPr/>
        </p:nvSpPr>
        <p:spPr>
          <a:xfrm>
            <a:off x="9692640" y="-1280160"/>
            <a:ext cx="4206240" cy="4206240"/>
          </a:xfrm>
          <a:prstGeom prst="ellipse">
            <a:avLst/>
          </a:prstGeom>
          <a:solidFill>
            <a:srgbClr val="1E2150"/>
          </a:solidFill>
          <a:ln/>
        </p:spPr>
      </p:sp>
      <p:sp>
        <p:nvSpPr>
          <p:cNvPr id="3" name="Text 1"/>
          <p:cNvSpPr/>
          <p:nvPr/>
        </p:nvSpPr>
        <p:spPr>
          <a:xfrm>
            <a:off x="640080" y="457200"/>
            <a:ext cx="10058400" cy="365760"/>
          </a:xfrm>
          <a:prstGeom prst="rect">
            <a:avLst/>
          </a:prstGeom>
          <a:noFill/>
          <a:ln/>
        </p:spPr>
        <p:txBody>
          <a:bodyPr wrap="square" lIns="0" tIns="0" rIns="0" bIns="0" rtlCol="0" anchor="ctr"/>
          <a:lstStyle/>
          <a:p>
            <a:pPr indent="0" marL="0">
              <a:buNone/>
            </a:pPr>
            <a:r>
              <a:rPr lang="en-US" sz="1400" b="1" spc="200" kern="0" dirty="0">
                <a:solidFill>
                  <a:srgbClr val="F59E0B"/>
                </a:solidFill>
                <a:latin typeface="Calibri" pitchFamily="34" charset="0"/>
                <a:ea typeface="Calibri" pitchFamily="34" charset="-122"/>
                <a:cs typeface="Calibri" pitchFamily="34" charset="-120"/>
              </a:rPr>
              <a:t>KEY TAKEAWAYS</a:t>
            </a:r>
            <a:endParaRPr lang="en-US" sz="1400" dirty="0"/>
          </a:p>
        </p:txBody>
      </p:sp>
      <p:sp>
        <p:nvSpPr>
          <p:cNvPr id="4" name="Text 2"/>
          <p:cNvSpPr/>
          <p:nvPr/>
        </p:nvSpPr>
        <p:spPr>
          <a:xfrm>
            <a:off x="594360" y="822960"/>
            <a:ext cx="10789920" cy="64008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Six things to carry into the exam — and into prod</a:t>
            </a:r>
            <a:endParaRPr lang="en-US" sz="2700" dirty="0"/>
          </a:p>
        </p:txBody>
      </p:sp>
      <p:sp>
        <p:nvSpPr>
          <p:cNvPr id="5" name="Text 3"/>
          <p:cNvSpPr/>
          <p:nvPr/>
        </p:nvSpPr>
        <p:spPr>
          <a:xfrm>
            <a:off x="777240" y="1691640"/>
            <a:ext cx="10698480" cy="3017520"/>
          </a:xfrm>
          <a:prstGeom prst="rect">
            <a:avLst/>
          </a:prstGeom>
          <a:noFill/>
          <a:ln/>
        </p:spPr>
        <p:txBody>
          <a:bodyPr wrap="square" lIns="0" tIns="0" rIns="0" bIns="0" rtlCol="0" anchor="ctr"/>
          <a:lstStyle/>
          <a:p>
            <a:pPr marL="342900" indent="-342900">
              <a:lnSpc>
                <a:spcPct val="103000"/>
              </a:lnSpc>
              <a:spcAft>
                <a:spcPts val="1100"/>
              </a:spcAft>
              <a:buSzPct val="100000"/>
              <a:buChar char="•"/>
            </a:pPr>
            <a:r>
              <a:rPr lang="en-US" sz="1500" dirty="0">
                <a:solidFill>
                  <a:srgbClr val="E2E8F0"/>
                </a:solidFill>
                <a:latin typeface="Calibri" pitchFamily="34" charset="0"/>
                <a:ea typeface="Calibri" pitchFamily="34" charset="-122"/>
                <a:cs typeface="Calibri" pitchFamily="34" charset="-120"/>
              </a:rPr>
              <a:t>Choose the simplest architecture; agency is a cost/latency trade, not a default.</a:t>
            </a:r>
            <a:endParaRPr lang="en-US" sz="1500" dirty="0"/>
          </a:p>
          <a:p>
            <a:pPr marL="342900" indent="-342900">
              <a:lnSpc>
                <a:spcPct val="103000"/>
              </a:lnSpc>
              <a:spcAft>
                <a:spcPts val="1100"/>
              </a:spcAft>
              <a:buSzPct val="100000"/>
              <a:buChar char="•"/>
            </a:pPr>
            <a:r>
              <a:rPr lang="en-US" sz="1500" dirty="0">
                <a:solidFill>
                  <a:srgbClr val="E2E8F0"/>
                </a:solidFill>
                <a:latin typeface="Calibri" pitchFamily="34" charset="0"/>
                <a:ea typeface="Calibri" pitchFamily="34" charset="-122"/>
                <a:cs typeface="Calibri" pitchFamily="34" charset="-120"/>
              </a:rPr>
              <a:t>The agent IS the loop — drive on stop_reason; the SDK runs it, you control it.</a:t>
            </a:r>
            <a:endParaRPr lang="en-US" sz="1500" dirty="0"/>
          </a:p>
          <a:p>
            <a:pPr marL="342900" indent="-342900">
              <a:lnSpc>
                <a:spcPct val="103000"/>
              </a:lnSpc>
              <a:spcAft>
                <a:spcPts val="1100"/>
              </a:spcAft>
              <a:buSzPct val="100000"/>
              <a:buChar char="•"/>
            </a:pPr>
            <a:r>
              <a:rPr lang="en-US" sz="1500" dirty="0">
                <a:solidFill>
                  <a:srgbClr val="E2E8F0"/>
                </a:solidFill>
                <a:latin typeface="Calibri" pitchFamily="34" charset="0"/>
                <a:ea typeface="Calibri" pitchFamily="34" charset="-122"/>
                <a:cs typeface="Calibri" pitchFamily="34" charset="-120"/>
              </a:rPr>
              <a:t>Orchestrate hub-and-spoke; coordinators decompose broadly and route everything.</a:t>
            </a:r>
            <a:endParaRPr lang="en-US" sz="1500" dirty="0"/>
          </a:p>
          <a:p>
            <a:pPr marL="342900" indent="-342900">
              <a:lnSpc>
                <a:spcPct val="103000"/>
              </a:lnSpc>
              <a:spcAft>
                <a:spcPts val="1100"/>
              </a:spcAft>
              <a:buSzPct val="100000"/>
              <a:buChar char="•"/>
            </a:pPr>
            <a:r>
              <a:rPr lang="en-US" sz="1500" dirty="0">
                <a:solidFill>
                  <a:srgbClr val="E2E8F0"/>
                </a:solidFill>
                <a:latin typeface="Calibri" pitchFamily="34" charset="0"/>
                <a:ea typeface="Calibri" pitchFamily="34" charset="-122"/>
                <a:cs typeface="Calibri" pitchFamily="34" charset="-120"/>
              </a:rPr>
              <a:t>Subagents = isolated context + scoped tools; pass what they need explicitly.</a:t>
            </a:r>
            <a:endParaRPr lang="en-US" sz="1500" dirty="0"/>
          </a:p>
          <a:p>
            <a:pPr marL="342900" indent="-342900">
              <a:lnSpc>
                <a:spcPct val="103000"/>
              </a:lnSpc>
              <a:spcAft>
                <a:spcPts val="1100"/>
              </a:spcAft>
              <a:buSzPct val="100000"/>
              <a:buChar char="•"/>
            </a:pPr>
            <a:r>
              <a:rPr lang="en-US" sz="1500" dirty="0">
                <a:solidFill>
                  <a:srgbClr val="E2E8F0"/>
                </a:solidFill>
                <a:latin typeface="Calibri" pitchFamily="34" charset="0"/>
                <a:ea typeface="Calibri" pitchFamily="34" charset="-122"/>
                <a:cs typeface="Calibri" pitchFamily="34" charset="-120"/>
              </a:rPr>
              <a:t>Hooks give deterministic guarantees; use them whenever a rule must always hold.</a:t>
            </a:r>
            <a:endParaRPr lang="en-US" sz="1500" dirty="0"/>
          </a:p>
          <a:p>
            <a:pPr marL="342900" indent="-342900">
              <a:lnSpc>
                <a:spcPct val="103000"/>
              </a:lnSpc>
              <a:spcAft>
                <a:spcPts val="1100"/>
              </a:spcAft>
              <a:buSzPct val="100000"/>
              <a:buChar char="•"/>
            </a:pPr>
            <a:r>
              <a:rPr lang="en-US" sz="1500" dirty="0">
                <a:solidFill>
                  <a:srgbClr val="E2E8F0"/>
                </a:solidFill>
                <a:latin typeface="Calibri" pitchFamily="34" charset="0"/>
                <a:ea typeface="Calibri" pitchFamily="34" charset="-122"/>
                <a:cs typeface="Calibri" pitchFamily="34" charset="-120"/>
              </a:rPr>
              <a:t>Operate it: budget, permissions, observability, sessions, structured errors.</a:t>
            </a:r>
            <a:endParaRPr lang="en-US" sz="1500" dirty="0"/>
          </a:p>
        </p:txBody>
      </p:sp>
      <p:sp>
        <p:nvSpPr>
          <p:cNvPr id="6" name="Shape 4"/>
          <p:cNvSpPr/>
          <p:nvPr/>
        </p:nvSpPr>
        <p:spPr>
          <a:xfrm>
            <a:off x="640080" y="5074920"/>
            <a:ext cx="10927080" cy="1234440"/>
          </a:xfrm>
          <a:prstGeom prst="roundRect">
            <a:avLst>
              <a:gd name="adj" fmla="val 4444"/>
            </a:avLst>
          </a:prstGeom>
          <a:solidFill>
            <a:srgbClr val="1E2150"/>
          </a:solidFill>
          <a:ln/>
        </p:spPr>
      </p:sp>
      <p:sp>
        <p:nvSpPr>
          <p:cNvPr id="7" name="Shape 5"/>
          <p:cNvSpPr/>
          <p:nvPr/>
        </p:nvSpPr>
        <p:spPr>
          <a:xfrm>
            <a:off x="868680" y="5303520"/>
            <a:ext cx="713232" cy="713232"/>
          </a:xfrm>
          <a:prstGeom prst="ellipse">
            <a:avLst/>
          </a:prstGeom>
          <a:solidFill>
            <a:srgbClr val="14B8A6"/>
          </a:solidFill>
          <a:ln/>
          <a:effectLst>
            <a:outerShdw sx="100000" sy="100000" kx="0" ky="0" algn="bl" rotWithShape="0" blurRad="88900" dist="38100" dir="5400000">
              <a:srgbClr val="000000">
                <a:alpha val="16000"/>
              </a:srgbClr>
            </a:outerShdw>
          </a:effectLst>
        </p:spPr>
      </p:sp>
      <p:pic>
        <p:nvPicPr>
          <p:cNvPr id="8" name="Image 0" descr="preencoded.png">    </p:cNvPr>
          <p:cNvPicPr>
            <a:picLocks noChangeAspect="1"/>
          </p:cNvPicPr>
          <p:nvPr/>
        </p:nvPicPr>
        <p:blipFill>
          <a:blip r:embed="rId1"/>
          <a:stretch>
            <a:fillRect/>
          </a:stretch>
        </p:blipFill>
        <p:spPr>
          <a:xfrm>
            <a:off x="1054120" y="5488960"/>
            <a:ext cx="342351" cy="342351"/>
          </a:xfrm>
          <a:prstGeom prst="rect">
            <a:avLst/>
          </a:prstGeom>
        </p:spPr>
      </p:pic>
      <p:sp>
        <p:nvSpPr>
          <p:cNvPr id="9" name="Text 6"/>
          <p:cNvSpPr/>
          <p:nvPr/>
        </p:nvSpPr>
        <p:spPr>
          <a:xfrm>
            <a:off x="1783080" y="5166360"/>
            <a:ext cx="9601200" cy="1051560"/>
          </a:xfrm>
          <a:prstGeom prst="rect">
            <a:avLst/>
          </a:prstGeom>
          <a:noFill/>
          <a:ln/>
        </p:spPr>
        <p:txBody>
          <a:bodyPr wrap="square" lIns="0" tIns="0" rIns="0" bIns="0" rtlCol="0" anchor="ctr"/>
          <a:lstStyle/>
          <a:p>
            <a:pPr indent="0" marL="0">
              <a:lnSpc>
                <a:spcPct val="106000"/>
              </a:lnSpc>
              <a:buNone/>
            </a:pPr>
            <a:r>
              <a:rPr lang="en-US" sz="1250" b="1" dirty="0">
                <a:solidFill>
                  <a:srgbClr val="F59E0B"/>
                </a:solidFill>
                <a:latin typeface="Calibri" pitchFamily="34" charset="0"/>
                <a:ea typeface="Calibri" pitchFamily="34" charset="-122"/>
                <a:cs typeface="Calibri" pitchFamily="34" charset="-120"/>
              </a:rPr>
              <a:t>Go deeper:  </a:t>
            </a:r>
            <a:pPr indent="0" marL="0">
              <a:lnSpc>
                <a:spcPct val="106000"/>
              </a:lnSpc>
              <a:buNone/>
            </a:pPr>
            <a:r>
              <a:rPr lang="en-US" sz="1250" dirty="0">
                <a:solidFill>
                  <a:srgbClr val="E2E8F0"/>
                </a:solidFill>
                <a:latin typeface="Calibri" pitchFamily="34" charset="0"/>
                <a:ea typeface="Calibri" pitchFamily="34" charset="-122"/>
                <a:cs typeface="Calibri" pitchFamily="34" charset="-120"/>
              </a:rPr>
              <a:t>platform.claude.com/docs/en/agent-sdk  (overview · agent-loop · subagents · hooks · custom-tools · sessions)  ·  anthropic.com/engineering (building effective agents · multi-agent research).  Full annotated list in Reference_Links.md.</a:t>
            </a:r>
            <a:endParaRPr lang="en-US" sz="12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2132E"/>
        </a:solidFill>
      </p:bgPr>
    </p:bg>
    <p:spTree>
      <p:nvGrpSpPr>
        <p:cNvPr id="1" name=""/>
        <p:cNvGrpSpPr/>
        <p:nvPr/>
      </p:nvGrpSpPr>
      <p:grpSpPr>
        <a:xfrm>
          <a:off x="0" y="0"/>
          <a:ext cx="0" cy="0"/>
          <a:chOff x="0" y="0"/>
          <a:chExt cx="0" cy="0"/>
        </a:xfrm>
      </p:grpSpPr>
      <p:sp>
        <p:nvSpPr>
          <p:cNvPr id="2" name="Shape 0"/>
          <p:cNvSpPr/>
          <p:nvPr/>
        </p:nvSpPr>
        <p:spPr>
          <a:xfrm>
            <a:off x="-1463040" y="3840480"/>
            <a:ext cx="4572000" cy="4572000"/>
          </a:xfrm>
          <a:prstGeom prst="ellipse">
            <a:avLst/>
          </a:prstGeom>
          <a:solidFill>
            <a:srgbClr val="1E2150"/>
          </a:solidFill>
          <a:ln/>
        </p:spPr>
      </p:sp>
      <p:sp>
        <p:nvSpPr>
          <p:cNvPr id="3" name="Shape 1"/>
          <p:cNvSpPr/>
          <p:nvPr/>
        </p:nvSpPr>
        <p:spPr>
          <a:xfrm>
            <a:off x="9875520" y="-1371600"/>
            <a:ext cx="4206240" cy="4206240"/>
          </a:xfrm>
          <a:prstGeom prst="ellipse">
            <a:avLst/>
          </a:prstGeom>
          <a:solidFill>
            <a:srgbClr val="4F46E5">
              <a:alpha val="45000"/>
            </a:srgbClr>
          </a:solidFill>
          <a:ln/>
        </p:spPr>
      </p:sp>
      <p:sp>
        <p:nvSpPr>
          <p:cNvPr id="4" name="Shape 2"/>
          <p:cNvSpPr/>
          <p:nvPr/>
        </p:nvSpPr>
        <p:spPr>
          <a:xfrm>
            <a:off x="5440680" y="1691640"/>
            <a:ext cx="1280160" cy="1280160"/>
          </a:xfrm>
          <a:prstGeom prst="ellipse">
            <a:avLst/>
          </a:prstGeom>
          <a:solidFill>
            <a:srgbClr val="4F46E5"/>
          </a:solidFill>
          <a:ln/>
          <a:effectLst>
            <a:outerShdw sx="100000" sy="100000" kx="0" ky="0" algn="bl" rotWithShape="0" blurRad="88900" dist="38100" dir="5400000">
              <a:srgbClr val="000000">
                <a:alpha val="16000"/>
              </a:srgbClr>
            </a:outerShdw>
          </a:effectLst>
        </p:spPr>
      </p:sp>
      <p:pic>
        <p:nvPicPr>
          <p:cNvPr id="5" name="Image 0" descr="preencoded.png">    </p:cNvPr>
          <p:cNvPicPr>
            <a:picLocks noChangeAspect="1"/>
          </p:cNvPicPr>
          <p:nvPr/>
        </p:nvPicPr>
        <p:blipFill>
          <a:blip r:embed="rId1"/>
          <a:stretch>
            <a:fillRect/>
          </a:stretch>
        </p:blipFill>
        <p:spPr>
          <a:xfrm>
            <a:off x="5773522" y="2024482"/>
            <a:ext cx="614477" cy="614477"/>
          </a:xfrm>
          <a:prstGeom prst="rect">
            <a:avLst/>
          </a:prstGeom>
        </p:spPr>
      </p:pic>
      <p:sp>
        <p:nvSpPr>
          <p:cNvPr id="6" name="Text 3"/>
          <p:cNvSpPr/>
          <p:nvPr/>
        </p:nvSpPr>
        <p:spPr>
          <a:xfrm>
            <a:off x="914400" y="3200400"/>
            <a:ext cx="10332720" cy="822960"/>
          </a:xfrm>
          <a:prstGeom prst="rect">
            <a:avLst/>
          </a:prstGeom>
          <a:noFill/>
          <a:ln/>
        </p:spPr>
        <p:txBody>
          <a:bodyPr wrap="square" lIns="0" tIns="0" rIns="0" bIns="0" rtlCol="0" anchor="ctr"/>
          <a:lstStyle/>
          <a:p>
            <a:pPr algn="ctr" indent="0" marL="0">
              <a:buNone/>
            </a:pPr>
            <a:r>
              <a:rPr lang="en-US" sz="3800" b="1" dirty="0">
                <a:solidFill>
                  <a:srgbClr val="FFFFFF"/>
                </a:solidFill>
                <a:latin typeface="Cambria" pitchFamily="34" charset="0"/>
                <a:ea typeface="Cambria" pitchFamily="34" charset="-122"/>
                <a:cs typeface="Cambria" pitchFamily="34" charset="-120"/>
              </a:rPr>
              <a:t>Questions &amp; discussion</a:t>
            </a:r>
            <a:endParaRPr lang="en-US" sz="3800" dirty="0"/>
          </a:p>
        </p:txBody>
      </p:sp>
      <p:sp>
        <p:nvSpPr>
          <p:cNvPr id="7" name="Text 4"/>
          <p:cNvSpPr/>
          <p:nvPr/>
        </p:nvSpPr>
        <p:spPr>
          <a:xfrm>
            <a:off x="914400" y="4114800"/>
            <a:ext cx="10332720" cy="457200"/>
          </a:xfrm>
          <a:prstGeom prst="rect">
            <a:avLst/>
          </a:prstGeom>
          <a:noFill/>
          <a:ln/>
        </p:spPr>
        <p:txBody>
          <a:bodyPr wrap="square" lIns="0" tIns="0" rIns="0" bIns="0" rtlCol="0" anchor="ctr"/>
          <a:lstStyle/>
          <a:p>
            <a:pPr algn="ctr" indent="0" marL="0">
              <a:buNone/>
            </a:pPr>
            <a:r>
              <a:rPr lang="en-US" sz="1550" dirty="0">
                <a:solidFill>
                  <a:srgbClr val="E2E8F0"/>
                </a:solidFill>
                <a:latin typeface="Calibri" pitchFamily="34" charset="0"/>
                <a:ea typeface="Calibri" pitchFamily="34" charset="-122"/>
                <a:cs typeface="Calibri" pitchFamily="34" charset="-120"/>
              </a:rPr>
              <a:t>Next: run the Colab lab → take the 15-question MCQ set → bring edge cases back to the group.</a:t>
            </a:r>
            <a:endParaRPr lang="en-US" sz="1550" dirty="0"/>
          </a:p>
        </p:txBody>
      </p:sp>
      <p:sp>
        <p:nvSpPr>
          <p:cNvPr id="8" name="Text 5"/>
          <p:cNvSpPr/>
          <p:nvPr/>
        </p:nvSpPr>
        <p:spPr>
          <a:xfrm>
            <a:off x="914400" y="6035040"/>
            <a:ext cx="10332720" cy="365760"/>
          </a:xfrm>
          <a:prstGeom prst="rect">
            <a:avLst/>
          </a:prstGeom>
          <a:noFill/>
          <a:ln/>
        </p:spPr>
        <p:txBody>
          <a:bodyPr wrap="square" lIns="0" tIns="0" rIns="0" bIns="0" rtlCol="0" anchor="ctr"/>
          <a:lstStyle/>
          <a:p>
            <a:pPr algn="ctr" indent="0" marL="0">
              <a:buNone/>
            </a:pPr>
            <a:r>
              <a:rPr lang="en-US" sz="1200" i="1" dirty="0">
                <a:solidFill>
                  <a:srgbClr val="6366F1"/>
                </a:solidFill>
                <a:latin typeface="Calibri" pitchFamily="34" charset="0"/>
                <a:ea typeface="Calibri" pitchFamily="34" charset="-122"/>
                <a:cs typeface="Calibri" pitchFamily="34" charset="-120"/>
              </a:rPr>
              <a:t>AAA Learning Group · Claude Certified Architect — Foundations · Topic 1 · Domain 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Agentic Applications with the Claude Agent SDK</dc:title>
  <dc:subject>PptxGenJS Presentation</dc:subject>
  <dc:creator>AAA Learning Group</dc:creator>
  <cp:lastModifiedBy>AAA Learning Group</cp:lastModifiedBy>
  <cp:revision>1</cp:revision>
  <dcterms:created xsi:type="dcterms:W3CDTF">2026-06-29T07:07:33Z</dcterms:created>
  <dcterms:modified xsi:type="dcterms:W3CDTF">2026-06-29T07:07:33Z</dcterms:modified>
</cp:coreProperties>
</file>