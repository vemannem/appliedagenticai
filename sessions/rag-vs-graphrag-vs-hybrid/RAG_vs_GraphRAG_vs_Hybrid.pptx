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RAG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Speed</c:v>
                  </c:pt>
                  <c:pt idx="2">
                    <c:v>Low cost</c:v>
                  </c:pt>
                  <c:pt idx="3">
                    <c:v>Explainable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Graph RAG</c:v>
                </c:pt>
              </c:strCache>
            </c:strRef>
          </c:tx>
          <c:spPr>
            <a:solidFill>
              <a:srgbClr val="0E9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Speed</c:v>
                  </c:pt>
                  <c:pt idx="2">
                    <c:v>Low cost</c:v>
                  </c:pt>
                  <c:pt idx="3">
                    <c:v>Explainable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Hybrid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Speed</c:v>
                  </c:pt>
                  <c:pt idx="2">
                    <c:v>Low cost</c:v>
                  </c:pt>
                  <c:pt idx="3">
                    <c:v>Explainable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+ framing. Today is the practical follow-up: three retrieval architectures, when each wins, and a hands-on Colab. We mirror the colours from the infographics — blue = RAG, green = Graph RAG, amber =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Roadmap. ~25 min concepts, ~15 min trade-offs/use cases, then the rest hands-on in Colab.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Hammer this: 'garbage retrieval -&gt; garbage answer.' The three approaches differ only in how knowledge is organised and searched.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Stress that chunks are independent — this independence is the root of naive RAG's weakness on connected/global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queries are local and fact-based, naive RAG is usually the right and cheapest answer. Don't over-engineer.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hinge of the talk. Use a concrete example: 'Which suppliers are indirectly exposed to factory X?' — naive RAG can't traverse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with slide 4's flat chunks. The graph encodes connections explicitly, enabling traversal and global summarisation.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Graph RAG has TWO query modes. Local = entity-centric (like enhanced RAG). Global = map-reduce over community summaries, which naive RAG simply cannot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Pattern: high-stakes, interconnected, multi-document domains where 'show your reasoning' matters. The upfront indexing cost buys depth and traceability.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read every cell — point to the shape: RAG wins speed/cost, Graph wins accuracy/explainability, Hybrid trades the middle. This sets up the routing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router can be a cheap LLM call or a small classifier. Start simple: keyword/length heuristics, then upgrade to an LLM classifier. This is what the Colab builds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cheat-sheet learners can screenshot. Emphasise: most teams start with RAG, add Graph for the hard 20%, then formalise routing =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back to the trade-off table. The enterprise case is the realistic end-state for most orgs — it's why we teach the router.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learners: no exotic infra. Everything runs in Colab on a free tier with an API key. Local-only path via Ollama + sentence-transformers is mentioned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flow. Run Part 1 live, then show the SAME hard question failing in RAG but answered by Graph in Part 2, then let the router pick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counts are approximate, June 2026. Point learners to nano-graphrag to read internals and RAG_Techniques for breadth.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real-world lesson: most 'LLM problems' are retrieval problems. Evaluate retrieval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then open the floor. Hand off to the Colab for the hands-on portion.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E7C8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291840"/>
            <a:ext cx="4023360" cy="4023360"/>
          </a:xfrm>
          <a:prstGeom prst="ellipse">
            <a:avLst/>
          </a:prstGeom>
          <a:solidFill>
            <a:srgbClr val="0E9F6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AAA LEARNING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vs Graph RAG vs Hybrid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49808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3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 cases, trade-offs, and step-by-step implementation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41605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0" y="41605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41605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4160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 + Colab notebook + session notes included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9384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095805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8379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RAG premise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45920" y="22768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retrieval-augmented generation exists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60020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65392" y="192938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813" y="2095805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1837944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RAG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06640" y="22768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strengths, and where it breaks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21868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547872"/>
            <a:ext cx="640080" cy="64008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371429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3456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45920" y="389534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graphs, local vs global search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321868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65392" y="3547872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3" y="371429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345643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+ routing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06640" y="389534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both, decided per query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371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04672" y="516636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5332781"/>
            <a:ext cx="307238" cy="30723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0749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use cases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1645920" y="5513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Support, healthcare, legal, enterprise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309360" y="483717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565392" y="5166360"/>
            <a:ext cx="640080" cy="640080"/>
          </a:xfrm>
          <a:prstGeom prst="ellipse">
            <a:avLst/>
          </a:prstGeom>
          <a:solidFill>
            <a:srgbClr val="0E22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813" y="5332781"/>
            <a:ext cx="307238" cy="30723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6640" y="50749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build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7406640" y="55138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Colab walkthrough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retrieval? The RAG premise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knows its training data. RAG injects fresh, private, or domain knowledge into the prompt at query time — so answers are grounded in your data, not just the model's memory.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50492" y="2862072"/>
            <a:ext cx="768096" cy="768096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197" y="3061777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55264" y="3236976"/>
            <a:ext cx="457200" cy="29260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1" name="Shape 8"/>
          <p:cNvSpPr/>
          <p:nvPr/>
        </p:nvSpPr>
        <p:spPr>
          <a:xfrm>
            <a:off x="3767328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49140" y="2862072"/>
            <a:ext cx="768096" cy="768096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845" y="3061777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67328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153912" y="3236976"/>
            <a:ext cx="457200" cy="29260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16" name="Shape 12"/>
          <p:cNvSpPr/>
          <p:nvPr/>
        </p:nvSpPr>
        <p:spPr>
          <a:xfrm>
            <a:off x="6665976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447788" y="2862072"/>
            <a:ext cx="768096" cy="768096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493" y="3061777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65976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052560" y="3236976"/>
            <a:ext cx="457200" cy="292608"/>
          </a:xfrm>
          <a:prstGeom prst="rightArrow">
            <a:avLst/>
          </a:prstGeom>
          <a:solidFill>
            <a:srgbClr val="64748B"/>
          </a:solidFill>
          <a:ln/>
        </p:spPr>
      </p:sp>
      <p:sp>
        <p:nvSpPr>
          <p:cNvPr id="21" name="Shape 16"/>
          <p:cNvSpPr/>
          <p:nvPr/>
        </p:nvSpPr>
        <p:spPr>
          <a:xfrm>
            <a:off x="9564624" y="2606040"/>
            <a:ext cx="2331720" cy="1554480"/>
          </a:xfrm>
          <a:prstGeom prst="roundRect">
            <a:avLst>
              <a:gd name="adj" fmla="val 470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346436" y="2862072"/>
            <a:ext cx="768096" cy="768096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6141" y="3061777"/>
            <a:ext cx="368686" cy="36868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64624" y="3703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868680" y="4526280"/>
            <a:ext cx="10469880" cy="1600200"/>
          </a:xfrm>
          <a:prstGeom prst="roundRect">
            <a:avLst>
              <a:gd name="adj" fmla="val 4571"/>
            </a:avLst>
          </a:prstGeom>
          <a:solidFill>
            <a:srgbClr val="E3F2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1143000" y="47091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retrieval step is the whole game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143000" y="5120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quality is capped by what you retrieve.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index and search your knowledge — flat vectors vs. a graph vs. a mix — is exactly what separates the three approaches we cover today.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 · VECTOR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RAG — 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88136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312" y="233830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1792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docs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40864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50592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862072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48" y="2338304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40864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Chunk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2395728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passages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114800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224528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636008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84" y="2338304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14800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169664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888736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5998464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09944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120" y="2338304"/>
            <a:ext cx="316017" cy="31601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888736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</a:t>
            </a:r>
            <a:endParaRPr lang="en-US" sz="1450" dirty="0"/>
          </a:p>
        </p:txBody>
      </p:sp>
      <p:sp>
        <p:nvSpPr>
          <p:cNvPr id="28" name="Text 22"/>
          <p:cNvSpPr/>
          <p:nvPr/>
        </p:nvSpPr>
        <p:spPr>
          <a:xfrm>
            <a:off x="5943600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+ index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662672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7772400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8183880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5056" y="2338304"/>
            <a:ext cx="316017" cy="31601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62672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450" dirty="0"/>
          </a:p>
        </p:txBody>
      </p:sp>
      <p:sp>
        <p:nvSpPr>
          <p:cNvPr id="34" name="Text 27"/>
          <p:cNvSpPr/>
          <p:nvPr/>
        </p:nvSpPr>
        <p:spPr>
          <a:xfrm>
            <a:off x="7717536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by similarity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9436608" y="1783080"/>
            <a:ext cx="1700784" cy="1783080"/>
          </a:xfrm>
          <a:prstGeom prst="roundRect">
            <a:avLst>
              <a:gd name="adj" fmla="val 4301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6" name="Text 29"/>
          <p:cNvSpPr/>
          <p:nvPr/>
        </p:nvSpPr>
        <p:spPr>
          <a:xfrm>
            <a:off x="9546336" y="1874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9957816" y="2167128"/>
            <a:ext cx="658368" cy="65836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8992" y="2338304"/>
            <a:ext cx="316017" cy="31601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436608" y="2880360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450" dirty="0"/>
          </a:p>
        </p:txBody>
      </p:sp>
      <p:sp>
        <p:nvSpPr>
          <p:cNvPr id="40" name="Text 32"/>
          <p:cNvSpPr/>
          <p:nvPr/>
        </p:nvSpPr>
        <p:spPr>
          <a:xfrm>
            <a:off x="9491472" y="3172968"/>
            <a:ext cx="1591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context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566928" y="3703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Load → Chunk → Embed → Store     |     At query time: Retrieve → Generate</a:t>
            </a:r>
            <a:endParaRPr lang="en-US" sz="1300" dirty="0"/>
          </a:p>
        </p:txBody>
      </p:sp>
      <p:sp>
        <p:nvSpPr>
          <p:cNvPr id="42" name="Shape 34"/>
          <p:cNvSpPr/>
          <p:nvPr/>
        </p:nvSpPr>
        <p:spPr>
          <a:xfrm>
            <a:off x="566928" y="4251960"/>
            <a:ext cx="11064240" cy="1874520"/>
          </a:xfrm>
          <a:prstGeom prst="roundRect">
            <a:avLst>
              <a:gd name="adj" fmla="val 3902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43" name="Text 35"/>
          <p:cNvSpPr/>
          <p:nvPr/>
        </p:nvSpPr>
        <p:spPr>
          <a:xfrm>
            <a:off x="841248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model</a:t>
            </a:r>
            <a:endParaRPr lang="en-US" sz="1500" dirty="0"/>
          </a:p>
        </p:txBody>
      </p:sp>
      <p:sp>
        <p:nvSpPr>
          <p:cNvPr id="44" name="Text 36"/>
          <p:cNvSpPr/>
          <p:nvPr/>
        </p:nvSpPr>
        <p:spPr>
          <a:xfrm>
            <a:off x="841248" y="4828032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librarian with sticky notes.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becomes a point in vector space. A query is embedded the same way, and the system returns the nearest passages. It is fast, cheap, and </a:t>
            </a:r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chunk stands alone, with no awareness of how it connects to the others.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1 · VECTOR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RAG — strengths &amp; best fit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288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995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938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build and operate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responses, low latency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infrastructure &amp; token cost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data updates are trivial (just re-embed)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single-document, fact-based questions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tooling (LangChain, LlamaIndex, FAISS, Chroma)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36208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18288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49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938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Best-fit use cases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6510528" y="269748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65" y="2830617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27340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&amp; FAQ bots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510528" y="3374136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65" y="3507273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410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&amp; policy search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510528" y="4050792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65" y="418392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40873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knowledge bases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510528" y="4727448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65" y="4860585"/>
            <a:ext cx="245791" cy="24579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4764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over manuals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510528" y="5404104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665" y="5537241"/>
            <a:ext cx="245791" cy="24579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5440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over a single report/PDF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MOTIVATION FOR GRAPHS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naive RAG breaks down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2424" y="2201144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questions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main themes across all docs?” Top-k similarity only sees a few chunks, never the whole corpus.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79976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54296" y="2029968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472" y="2201144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4296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Multi-hop reasoning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54296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needing A→B→C across documents fail — related facts live in chunks that aren't textually similar.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93024" y="1737360"/>
            <a:ext cx="3611880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2029968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520" y="2201144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2834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Scattered context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67344" y="3310128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described in many places get fragmented; the model never assembles the full picture.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66928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E22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68680" y="49834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cause:  </a:t>
            </a:r>
            <a:pPr indent="0" marL="0">
              <a:buNone/>
            </a:pPr>
            <a:r>
              <a:rPr lang="en-US" sz="15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capture </a:t>
            </a:r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pPr indent="0" marL="0">
              <a:buNone/>
            </a:pPr>
            <a:r>
              <a:rPr lang="en-US" sz="15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pPr indent="0" marL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pPr indent="0" marL="0">
              <a:buNone/>
            </a:pPr>
            <a:r>
              <a:rPr lang="en-US" sz="155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Graph RAG adds the missing structure — entities and the links between them.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· KNOWLEDGE-GRAPH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 — what it 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 flat list of chunks, build a knowledge graph: extract entities (nodes) and relationships (edges), then group densely-connected nodes into community summaries.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898648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3046049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81328" y="2825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Entities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481328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People, orgs, concepts → nodes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6928" y="3776472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397764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1" y="412504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3904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1481328" y="42793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entities connect → edges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66928" y="4855464"/>
            <a:ext cx="640080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5056632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641" y="520403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81328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Communities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481328" y="53583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+ LLM summaries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269480" y="1600200"/>
            <a:ext cx="4370832" cy="4526280"/>
          </a:xfrm>
          <a:prstGeom prst="roundRect">
            <a:avLst>
              <a:gd name="adj" fmla="val 1674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269480" y="1783080"/>
            <a:ext cx="4370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9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graph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503920" y="2788920"/>
            <a:ext cx="2194560" cy="18288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503920" y="2788920"/>
            <a:ext cx="1234440" cy="118872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698480" y="2971800"/>
            <a:ext cx="-960120" cy="100584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698480" y="2971800"/>
            <a:ext cx="411480" cy="164592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183880" y="4251960"/>
            <a:ext cx="1554480" cy="-27432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738360" y="3977640"/>
            <a:ext cx="-594360" cy="137160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738360" y="3977640"/>
            <a:ext cx="1371600" cy="64008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183880" y="4251960"/>
            <a:ext cx="960120" cy="1097280"/>
          </a:xfrm>
          <a:prstGeom prst="line">
            <a:avLst/>
          </a:prstGeom>
          <a:noFill/>
          <a:ln w="22225">
            <a:solidFill>
              <a:srgbClr val="9CC9B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229600" y="2514600"/>
            <a:ext cx="548640" cy="548640"/>
          </a:xfrm>
          <a:prstGeom prst="ellipse">
            <a:avLst/>
          </a:prstGeom>
          <a:solidFill>
            <a:srgbClr val="0E9F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424160" y="2697480"/>
            <a:ext cx="548640" cy="54864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7909560" y="3977640"/>
            <a:ext cx="548640" cy="548640"/>
          </a:xfrm>
          <a:prstGeom prst="ellipse">
            <a:avLst/>
          </a:prstGeom>
          <a:solidFill>
            <a:srgbClr val="2563E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464040" y="3703320"/>
            <a:ext cx="548640" cy="548640"/>
          </a:xfrm>
          <a:prstGeom prst="ellipse">
            <a:avLst/>
          </a:prstGeom>
          <a:solidFill>
            <a:srgbClr val="0E9F6E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10835640" y="4343400"/>
            <a:ext cx="548640" cy="548640"/>
          </a:xfrm>
          <a:prstGeom prst="ellipse">
            <a:avLst/>
          </a:prstGeom>
          <a:solidFill>
            <a:srgbClr val="D9770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869680" y="5074920"/>
            <a:ext cx="548640" cy="548640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7269480" y="5715000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entities · edges = relationships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· KNOWLEDGE-GRAPH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 — indexing &amp; query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8132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INDEXING (offline)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2029968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45" y="21631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8688" y="2327148"/>
            <a:ext cx="256032" cy="237744"/>
          </a:xfrm>
          <a:prstGeom prst="rightArrow">
            <a:avLst/>
          </a:prstGeom>
          <a:solidFill>
            <a:srgbClr val="9CC9B7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029968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737" y="216310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21024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entities + relations (LLM)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2327148"/>
            <a:ext cx="256032" cy="237744"/>
          </a:xfrm>
          <a:prstGeom prst="rightArrow">
            <a:avLst/>
          </a:prstGeom>
          <a:solidFill>
            <a:srgbClr val="9CC9B7"/>
          </a:solidFill>
          <a:ln/>
        </p:spPr>
      </p:sp>
      <p:sp>
        <p:nvSpPr>
          <p:cNvPr id="16" name="Shape 12"/>
          <p:cNvSpPr/>
          <p:nvPr/>
        </p:nvSpPr>
        <p:spPr>
          <a:xfrm>
            <a:off x="6382512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65392" y="2029968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529" y="216310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28816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34272" y="2327148"/>
            <a:ext cx="256032" cy="237744"/>
          </a:xfrm>
          <a:prstGeom prst="rightArrow">
            <a:avLst/>
          </a:prstGeom>
          <a:solidFill>
            <a:srgbClr val="9CC9B7"/>
          </a:solidFill>
          <a:ln/>
        </p:spPr>
      </p:sp>
      <p:sp>
        <p:nvSpPr>
          <p:cNvPr id="21" name="Shape 16"/>
          <p:cNvSpPr/>
          <p:nvPr/>
        </p:nvSpPr>
        <p:spPr>
          <a:xfrm>
            <a:off x="9290304" y="1828800"/>
            <a:ext cx="2670048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73184" y="2029968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321" y="2163105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36608" y="257860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communities + summarise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66928" y="33832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(two search modes)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566928" y="3730752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3950208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871" y="4107119"/>
            <a:ext cx="289682" cy="28968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572768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search</a:t>
            </a:r>
            <a:endParaRPr lang="en-US" sz="1700" dirty="0"/>
          </a:p>
        </p:txBody>
      </p:sp>
      <p:sp>
        <p:nvSpPr>
          <p:cNvPr id="30" name="Text 23"/>
          <p:cNvSpPr/>
          <p:nvPr/>
        </p:nvSpPr>
        <p:spPr>
          <a:xfrm>
            <a:off x="1572768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entity questions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914400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matching entities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their neighbourhood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connected facts + chunks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6199632" y="3730752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455664" y="3950208"/>
            <a:ext cx="603504" cy="60350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575" y="4107119"/>
            <a:ext cx="289682" cy="28968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5472" y="4023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search</a:t>
            </a:r>
            <a:endParaRPr lang="en-US" sz="1700" dirty="0"/>
          </a:p>
        </p:txBody>
      </p:sp>
      <p:sp>
        <p:nvSpPr>
          <p:cNvPr id="36" name="Text 28"/>
          <p:cNvSpPr/>
          <p:nvPr/>
        </p:nvSpPr>
        <p:spPr>
          <a:xfrm>
            <a:off x="7205472" y="4389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Whole-corpus / thematic questions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547104" y="48463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over community summaries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&amp; filter partial answers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into one global answer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2 · KNOWLEDGE-GRAPH RAG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 — strengths &amp; best fit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28800"/>
            <a:ext cx="640080" cy="64008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199522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938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6517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facts across many documents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&amp; relationship reasoning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global, thematic questions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explainability — traceable paths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Richer, more comprehensive responses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236208" y="160020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1828800"/>
            <a:ext cx="640080" cy="64008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49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9385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Best-fit use cases</a:t>
            </a:r>
            <a:endParaRPr lang="en-US" sz="1900" dirty="0"/>
          </a:p>
        </p:txBody>
      </p:sp>
      <p:sp>
        <p:nvSpPr>
          <p:cNvPr id="14" name="Shape 10"/>
          <p:cNvSpPr/>
          <p:nvPr/>
        </p:nvSpPr>
        <p:spPr>
          <a:xfrm>
            <a:off x="6510528" y="2697480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665" y="2830617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78040" y="27340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biomedical Q&amp;A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510528" y="3374136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665" y="3507273"/>
            <a:ext cx="245791" cy="2457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4107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research &amp; case law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6510528" y="4050792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665" y="4183929"/>
            <a:ext cx="245791" cy="2457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78040" y="40873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510528" y="4727448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665" y="4860585"/>
            <a:ext cx="245791" cy="24579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78040" y="476402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reasoning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510528" y="5404104"/>
            <a:ext cx="512064" cy="512064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665" y="5537241"/>
            <a:ext cx="245791" cy="245791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78040" y="54406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investigation graphs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FACTORS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trade-offs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7040880" cy="4114800"/>
        </p:xfrm>
        <a:graphic>
          <a:graphicData uri="http://schemas.openxmlformats.org/drawingml/2006/table">
            <a:tbl>
              <a:tblPr/>
              <a:tblGrid>
                <a:gridCol w="2103120"/>
                <a:gridCol w="1645920"/>
                <a:gridCol w="1645920"/>
                <a:gridCol w="16459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Traditional RAG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Graph RAG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Hybrid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Best question type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Fact-based, local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Exploratory, multi-hop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Mixed workloads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Accuracy on complex Qs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Medium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Very 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High–Very 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Speed / latency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Fast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Slower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Routed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Explainability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Lower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Higher (paths)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Higher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Update speed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Fast (re-embed)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Slower (re-index)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Mixed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</a:rPr>
                        <a:t>Relative cost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Low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Higher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Medium–High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645920"/>
            <a:ext cx="3767328" cy="4114800"/>
          </a:xfrm>
          <a:prstGeom prst="roundRect">
            <a:avLst>
              <a:gd name="adj" fmla="val 1942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profile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1–5 rating  ·  1 = low, 5 = high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882128" y="2331720"/>
          <a:ext cx="3703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 3 · ROUTED RETRIEVAL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hybrid approach — best of both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pick one architecture for every query. Put a lightweight router in front that classifies each query and sends it down the cheapest path that can answer it well.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0E2233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615184"/>
            <a:ext cx="658368" cy="65836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2776" y="2786360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3467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router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675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intent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3200400"/>
            <a:ext cx="1097280" cy="-457200"/>
          </a:xfrm>
          <a:prstGeom prst="line">
            <a:avLst/>
          </a:prstGeom>
          <a:noFill/>
          <a:ln w="25400">
            <a:solidFill>
              <a:srgbClr val="2563EB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4297680" y="23317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26280" y="25328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Text 11"/>
          <p:cNvSpPr/>
          <p:nvPr/>
        </p:nvSpPr>
        <p:spPr>
          <a:xfrm>
            <a:off x="4526280" y="25328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/ factual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0" y="29352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RAG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3154680" y="3200400"/>
            <a:ext cx="1097280" cy="914400"/>
          </a:xfrm>
          <a:prstGeom prst="line">
            <a:avLst/>
          </a:prstGeom>
          <a:noFill/>
          <a:ln w="25400">
            <a:solidFill>
              <a:srgbClr val="0E9F6E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4297680" y="37033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26280" y="39044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9" name="Text 16"/>
          <p:cNvSpPr/>
          <p:nvPr/>
        </p:nvSpPr>
        <p:spPr>
          <a:xfrm>
            <a:off x="4526280" y="39044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Multi-hop / thematic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0" y="43068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3154680" y="3200400"/>
            <a:ext cx="1097280" cy="2286000"/>
          </a:xfrm>
          <a:prstGeom prst="line">
            <a:avLst/>
          </a:prstGeom>
          <a:noFill/>
          <a:ln w="25400">
            <a:solidFill>
              <a:srgbClr val="D97706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4297680" y="5074920"/>
            <a:ext cx="3657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26280" y="52760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4" name="Text 21"/>
          <p:cNvSpPr/>
          <p:nvPr/>
        </p:nvSpPr>
        <p:spPr>
          <a:xfrm>
            <a:off x="4526280" y="52760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Ambiguous / broad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572000" y="56784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both, then merge &amp; rerank</a:t>
            </a:r>
            <a:endParaRPr lang="en-US" sz="1450" dirty="0"/>
          </a:p>
        </p:txBody>
      </p:sp>
      <p:sp>
        <p:nvSpPr>
          <p:cNvPr id="26" name="Shape 23"/>
          <p:cNvSpPr/>
          <p:nvPr/>
        </p:nvSpPr>
        <p:spPr>
          <a:xfrm>
            <a:off x="8229600" y="2331720"/>
            <a:ext cx="3401568" cy="3794760"/>
          </a:xfrm>
          <a:prstGeom prst="roundRect">
            <a:avLst>
              <a:gd name="adj" fmla="val 2151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485632" y="2560320"/>
            <a:ext cx="603504" cy="603504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2543" y="2717231"/>
            <a:ext cx="289682" cy="289682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235440" y="26151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wins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503920" y="3246120"/>
            <a:ext cx="2926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graph cost only when needed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RAG speed for the easy 80%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covers all query types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routing as you learn traffic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DECISION GUIDE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one should I use?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3852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361" y="2085929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4708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question fact-based and answerable from one place?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412480" y="2103120"/>
            <a:ext cx="457200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10" name="Shape 7"/>
          <p:cNvSpPr/>
          <p:nvPr/>
        </p:nvSpPr>
        <p:spPr>
          <a:xfrm>
            <a:off x="9006840" y="202996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9006840" y="2029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Traditional RAG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" y="28346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" y="3035808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318320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54480" y="294436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span many documents or need multi-hop reasoning?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412480" y="3200400"/>
            <a:ext cx="457200" cy="237744"/>
          </a:xfrm>
          <a:prstGeom prst="rightArrow">
            <a:avLst/>
          </a:prstGeom>
          <a:solidFill>
            <a:srgbClr val="0E9F6E"/>
          </a:solidFill>
          <a:ln/>
        </p:spPr>
      </p:sp>
      <p:sp>
        <p:nvSpPr>
          <p:cNvPr id="17" name="Shape 13"/>
          <p:cNvSpPr/>
          <p:nvPr/>
        </p:nvSpPr>
        <p:spPr>
          <a:xfrm>
            <a:off x="9006840" y="312724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8" name="Text 14"/>
          <p:cNvSpPr/>
          <p:nvPr/>
        </p:nvSpPr>
        <p:spPr>
          <a:xfrm>
            <a:off x="9006840" y="3127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Graph RAG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66928" y="39319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13308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4280489"/>
            <a:ext cx="272125" cy="2721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40416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traffic mixed, or are you unsure per query?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8412480" y="4297680"/>
            <a:ext cx="457200" cy="237744"/>
          </a:xfrm>
          <a:prstGeom prst="rightArrow">
            <a:avLst/>
          </a:prstGeom>
          <a:solidFill>
            <a:srgbClr val="D97706"/>
          </a:solidFill>
          <a:ln/>
        </p:spPr>
      </p:sp>
      <p:sp>
        <p:nvSpPr>
          <p:cNvPr id="24" name="Shape 19"/>
          <p:cNvSpPr/>
          <p:nvPr/>
        </p:nvSpPr>
        <p:spPr>
          <a:xfrm>
            <a:off x="9006840" y="422452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5" name="Text 20"/>
          <p:cNvSpPr/>
          <p:nvPr/>
        </p:nvSpPr>
        <p:spPr>
          <a:xfrm>
            <a:off x="9006840" y="4224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Hybrid + routing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566928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2960" y="523036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5377769"/>
            <a:ext cx="272125" cy="2721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513892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latency / budget and simple data?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8412480" y="5394960"/>
            <a:ext cx="457200" cy="237744"/>
          </a:xfrm>
          <a:prstGeom prst="rightArrow">
            <a:avLst/>
          </a:prstGeom>
          <a:solidFill>
            <a:srgbClr val="2563EB"/>
          </a:solidFill>
          <a:ln/>
        </p:spPr>
      </p:sp>
      <p:sp>
        <p:nvSpPr>
          <p:cNvPr id="31" name="Shape 25"/>
          <p:cNvSpPr/>
          <p:nvPr/>
        </p:nvSpPr>
        <p:spPr>
          <a:xfrm>
            <a:off x="9006840" y="5321808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2" name="Text 26"/>
          <p:cNvSpPr/>
          <p:nvPr/>
        </p:nvSpPr>
        <p:spPr>
          <a:xfrm>
            <a:off x="9006840" y="5321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 with Traditional RAG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PATTERN TO PRODUCTION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use cases, side by 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EAF1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920240"/>
            <a:ext cx="713232" cy="713232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688" y="21056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assistant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41248" y="331012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3310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RAG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96112" y="38862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help-centre articles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Single-doc, factual queries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cost sensitive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content daily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79976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E7F6E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4296" y="1920240"/>
            <a:ext cx="713232" cy="713232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736" y="2105680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4296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knowledge base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4654296" y="331012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7" name="Text 13"/>
          <p:cNvSpPr/>
          <p:nvPr/>
        </p:nvSpPr>
        <p:spPr>
          <a:xfrm>
            <a:off x="4654296" y="3310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709160" y="38862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symptoms, drugs, studies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medical reasoning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traceable evidence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over speed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193024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67344" y="1920240"/>
            <a:ext cx="713232" cy="713232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784" y="2105680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67344" y="2743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“ask-your-docs”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467344" y="331012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8467344" y="33101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522208" y="38862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lookups &amp; analysis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simple vs. complex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for cross-team themes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quick facts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SETUP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— the stack we'll use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0E223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80590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764792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+ embeddings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663440" y="1764792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(gpt-4o-mini) or any provider; sentence-transformers for local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66928" y="262432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77063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91327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6974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store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269748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or Chroma — fast similarity search for the RAG path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66928" y="355701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84596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630168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layer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63440" y="3630168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 from LLM-extracted entities &amp; relations (concepts behind GraphRAG / LightRAG)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66928" y="448970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463600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778654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4562856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4663440" y="4562856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LLM classifier picks RAG vs Graph vs both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66928" y="542239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5568696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886" y="5711342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5495544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63440" y="5495544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to glue loading, chunking, retrieval &amp; generation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21208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Swappable: works with LlamaIndex, Neo4j, Weaviate, Qdrant, or managed GraphRAG.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Colab notebook builds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314A"/>
          </a:solidFill>
          <a:ln w="12700">
            <a:solidFill>
              <a:srgbClr val="1E47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29968"/>
            <a:ext cx="777240" cy="7772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83080" y="20299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RAG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83080" y="257860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chunk → embed → FAISS → retrieve → answer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314A"/>
          </a:solidFill>
          <a:ln w="12700">
            <a:solidFill>
              <a:srgbClr val="1E47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029968"/>
            <a:ext cx="777240" cy="7772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02996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635240" y="202996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RAG (from scratch)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35240" y="257860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extracts entities/relations → networkx graph → traverse → answer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314A"/>
          </a:solidFill>
          <a:ln w="12700">
            <a:solidFill>
              <a:srgbClr val="1E47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78808"/>
            <a:ext cx="777240" cy="7772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78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783080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router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83080" y="472744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query → route to RAG, Graph, or both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8862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3314A"/>
          </a:solidFill>
          <a:ln w="12700">
            <a:solidFill>
              <a:srgbClr val="1E47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417880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178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635240" y="4178808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&amp; evaluate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35240" y="472744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questions through all three; inspect differences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CURATED, CURRENT AS OF JUNE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references &amp; high-star repos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1865376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965960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8176" y="1810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/ graphrag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910328" y="1847088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7"/>
          <p:cNvSpPr/>
          <p:nvPr/>
        </p:nvSpPr>
        <p:spPr>
          <a:xfrm>
            <a:off x="4910328" y="184708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~33.6k★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408176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canonical Graph RAG system: entity graph + community summaries, local &amp; global search.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73368" y="1627632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92824" y="1865376"/>
            <a:ext cx="457200" cy="457200"/>
          </a:xfrm>
          <a:prstGeom prst="ellipse">
            <a:avLst/>
          </a:prstGeom>
          <a:solidFill>
            <a:srgbClr val="0E9F6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965960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14616" y="18105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HKUDS / LightRAG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10716768" y="1847088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7" name="Text 13"/>
          <p:cNvSpPr/>
          <p:nvPr/>
        </p:nvSpPr>
        <p:spPr>
          <a:xfrm>
            <a:off x="10716768" y="184708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~36.5k★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7214616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&amp; fast KG-RAG; dual-level retrieval, cheap incremental updates. Great GraphRAG alternative.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3200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86384" y="34381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538728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08176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gusye1234 / nano-graphrag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910328" y="3419856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Text 19"/>
          <p:cNvSpPr/>
          <p:nvPr/>
        </p:nvSpPr>
        <p:spPr>
          <a:xfrm>
            <a:off x="4910328" y="341985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hackable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408176" y="38587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Tiny, readable GraphRAG implementation — ideal for learning the internals.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373368" y="320040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592824" y="34381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538728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14616" y="33832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NirDiamant / RAG_Techniques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10716768" y="3419856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1" name="Text 25"/>
          <p:cNvSpPr/>
          <p:nvPr/>
        </p:nvSpPr>
        <p:spPr>
          <a:xfrm>
            <a:off x="10716768" y="3419856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~27.8k★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214616" y="3858768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notebook tutorials: simple, adaptive, corrective, agentic &amp; graph RAG.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66928" y="4773168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86384" y="501091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111496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408176" y="4956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 / neo4j-graphrag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4910328" y="4992624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8" name="Text 31"/>
          <p:cNvSpPr/>
          <p:nvPr/>
        </p:nvSpPr>
        <p:spPr>
          <a:xfrm>
            <a:off x="4910328" y="499262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~5k★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1408176" y="54315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KGs from unstructured data (llm-graph-builder); production graph retrievers on Neo4j.</a:t>
            </a:r>
            <a:endParaRPr lang="en-US" sz="1150" dirty="0"/>
          </a:p>
        </p:txBody>
      </p:sp>
      <p:sp>
        <p:nvSpPr>
          <p:cNvPr id="40" name="Shape 33"/>
          <p:cNvSpPr/>
          <p:nvPr/>
        </p:nvSpPr>
        <p:spPr>
          <a:xfrm>
            <a:off x="6373368" y="4773168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6F8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592824" y="501091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111496"/>
            <a:ext cx="256032" cy="25603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14616" y="4956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Awesome-GraphRAG (DEEP-PolyU)</a:t>
            </a:r>
            <a:endParaRPr lang="en-US" sz="1400" dirty="0"/>
          </a:p>
        </p:txBody>
      </p:sp>
      <p:sp>
        <p:nvSpPr>
          <p:cNvPr id="44" name="Shape 36"/>
          <p:cNvSpPr/>
          <p:nvPr/>
        </p:nvSpPr>
        <p:spPr>
          <a:xfrm>
            <a:off x="10716768" y="4992624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45" name="Text 37"/>
          <p:cNvSpPr/>
          <p:nvPr/>
        </p:nvSpPr>
        <p:spPr>
          <a:xfrm>
            <a:off x="10716768" y="4992624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</a:t>
            </a:r>
            <a:endParaRPr lang="en-US" sz="1250" dirty="0"/>
          </a:p>
        </p:txBody>
      </p:sp>
      <p:sp>
        <p:nvSpPr>
          <p:cNvPr id="46" name="Text 38"/>
          <p:cNvSpPr/>
          <p:nvPr/>
        </p:nvSpPr>
        <p:spPr>
          <a:xfrm>
            <a:off x="7214616" y="5431536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surveys, papers, benchmarks &amp; open-source GraphRAG projects.</a:t>
            </a:r>
            <a:endParaRPr lang="en-US" sz="1150" dirty="0"/>
          </a:p>
        </p:txBody>
      </p:sp>
      <p:sp>
        <p:nvSpPr>
          <p:cNvPr id="47" name="Text 39"/>
          <p:cNvSpPr/>
          <p:nvPr/>
        </p:nvSpPr>
        <p:spPr>
          <a:xfrm>
            <a:off x="5212080" y="65288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links with notes are in the session notes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IT WELL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&amp; best practices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DF1D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18745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9" y="2040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27632" y="1984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pitfalls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67004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Graph RAG when RAG suffices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graph indexing cost &amp; time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chunking — too big or too small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evaluation harness (flying blind)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index after data changes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retrieval quality, blaming the LLM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36208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3F2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10528" y="187452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949" y="204094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198424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83680" y="2670048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RAG; add graph for the hard 20%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faithfulness, recall, relevancy (Ragas)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chunk size &amp; overlap to your docs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reranking before generation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embeddings; re-index incrementally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golden Q&amp;A set for regression tests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28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Agentic AI (AAA) learning community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-1645920" y="3931920"/>
            <a:ext cx="4754880" cy="4754880"/>
          </a:xfrm>
          <a:prstGeom prst="ellipse">
            <a:avLst/>
          </a:prstGeom>
          <a:solidFill>
            <a:srgbClr val="0E7C8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E9F6E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29844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is the architecture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fast, cheap, flat — best for local, factual questions.</a:t>
            </a:r>
            <a:endParaRPr lang="en-US" sz="17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RAG = relationships &amp; global reasoning, at higher cost.</a:t>
            </a:r>
            <a:endParaRPr lang="en-US" sz="17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= route per query; pay for depth only when you need it.</a:t>
            </a:r>
            <a:endParaRPr lang="en-US" sz="17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700" dirty="0">
                <a:solidFill>
                  <a:srgbClr val="E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retrieval first — most quality issues live there.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983480"/>
            <a:ext cx="10698480" cy="1143000"/>
          </a:xfrm>
          <a:prstGeom prst="roundRect">
            <a:avLst>
              <a:gd name="adj" fmla="val 6400"/>
            </a:avLst>
          </a:prstGeom>
          <a:solidFill>
            <a:srgbClr val="13314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1B28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05840" y="5230368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5396789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5138928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discussion:  </a:t>
            </a:r>
            <a:pPr indent="0" marL="0">
              <a:buNone/>
            </a:pPr>
            <a:r>
              <a:rPr lang="en-US" sz="14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any RAG, GraphRAG, Agent, MCP, CrewAI, LangGraph, ADK or A2A project? Bring a demo or a learning to share.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vs Graph RAG vs Hybrid</dc:title>
  <dc:subject>PptxGenJS Presentation</dc:subject>
  <dc:creator>AAA Learning Session</dc:creator>
  <cp:lastModifiedBy>AAA Learning Session</cp:lastModifiedBy>
  <cp:revision>1</cp:revision>
  <dcterms:created xsi:type="dcterms:W3CDTF">2026-06-28T21:02:48Z</dcterms:created>
  <dcterms:modified xsi:type="dcterms:W3CDTF">2026-06-28T21:02:48Z</dcterms:modified>
</cp:coreProperties>
</file>